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 /><Relationship Id="rId2" Type="http://schemas.openxmlformats.org/officeDocument/2006/relationships/officeDocument" Target="ppt/presentation.xml" /><Relationship Id="rId1" Type="http://schemas.microsoft.com/office/2011/relationships/webextensiontaskpanes" Target="ppt/webextensions/taskpanes.xml" /><Relationship Id="rId5" Type="http://schemas.openxmlformats.org/officeDocument/2006/relationships/extended-properties" Target="docProps/app.xml" /><Relationship Id="rId4"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35"/>
  </p:notesMasterIdLst>
  <p:sldIdLst>
    <p:sldId id="278" r:id="rId2"/>
    <p:sldId id="277" r:id="rId3"/>
    <p:sldId id="308" r:id="rId4"/>
    <p:sldId id="295" r:id="rId5"/>
    <p:sldId id="309" r:id="rId6"/>
    <p:sldId id="303" r:id="rId7"/>
    <p:sldId id="310" r:id="rId8"/>
    <p:sldId id="311" r:id="rId9"/>
    <p:sldId id="312" r:id="rId10"/>
    <p:sldId id="313" r:id="rId11"/>
    <p:sldId id="264" r:id="rId12"/>
    <p:sldId id="314" r:id="rId13"/>
    <p:sldId id="274" r:id="rId14"/>
    <p:sldId id="294" r:id="rId15"/>
    <p:sldId id="286" r:id="rId16"/>
    <p:sldId id="288" r:id="rId17"/>
    <p:sldId id="290" r:id="rId18"/>
    <p:sldId id="292" r:id="rId19"/>
    <p:sldId id="318" r:id="rId20"/>
    <p:sldId id="319" r:id="rId21"/>
    <p:sldId id="299" r:id="rId22"/>
    <p:sldId id="300" r:id="rId23"/>
    <p:sldId id="301" r:id="rId24"/>
    <p:sldId id="302" r:id="rId25"/>
    <p:sldId id="320" r:id="rId26"/>
    <p:sldId id="321" r:id="rId27"/>
    <p:sldId id="322" r:id="rId28"/>
    <p:sldId id="323" r:id="rId29"/>
    <p:sldId id="324" r:id="rId30"/>
    <p:sldId id="325" r:id="rId31"/>
    <p:sldId id="315" r:id="rId32"/>
    <p:sldId id="316" r:id="rId33"/>
    <p:sldId id="31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3777" autoAdjust="0"/>
  </p:normalViewPr>
  <p:slideViewPr>
    <p:cSldViewPr snapToGrid="0">
      <p:cViewPr varScale="1">
        <p:scale>
          <a:sx n="115" d="100"/>
          <a:sy n="115" d="100"/>
        </p:scale>
        <p:origin x="43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tableStyles" Target="tableStyles.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63A28F-F436-4918-BA96-0D0E02A2CE30}" type="datetimeFigureOut">
              <a:rPr lang="en-US" smtClean="0"/>
              <a:t>7/27/2025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EA20B2-CA88-4ECD-91FB-2919B7BFA22F}" type="slidenum">
              <a:rPr lang="en-US" smtClean="0"/>
              <a:t>‹#›</a:t>
            </a:fld>
            <a:endParaRPr lang="en-US"/>
          </a:p>
        </p:txBody>
      </p:sp>
    </p:spTree>
    <p:extLst>
      <p:ext uri="{BB962C8B-B14F-4D97-AF65-F5344CB8AC3E}">
        <p14:creationId xmlns:p14="http://schemas.microsoft.com/office/powerpoint/2010/main" val="2781705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061D4-6918-8672-5C00-70E0C6B398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B704F1-C1E9-5D56-3756-3EEEAD585A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4F06F0-8EDB-9B7A-3745-BB57D7BBA5A3}"/>
              </a:ext>
            </a:extLst>
          </p:cNvPr>
          <p:cNvSpPr>
            <a:spLocks noGrp="1"/>
          </p:cNvSpPr>
          <p:nvPr>
            <p:ph type="dt" sz="half" idx="10"/>
          </p:nvPr>
        </p:nvSpPr>
        <p:spPr/>
        <p:txBody>
          <a:bodyPr/>
          <a:lstStyle/>
          <a:p>
            <a:fld id="{EFFB130F-2ACB-DE46-8962-1CC2ADBFC135}" type="datetimeFigureOut">
              <a:rPr lang="en-US" smtClean="0"/>
              <a:t>7/27/2025</a:t>
            </a:fld>
            <a:endParaRPr lang="en-US"/>
          </a:p>
        </p:txBody>
      </p:sp>
      <p:sp>
        <p:nvSpPr>
          <p:cNvPr id="5" name="Footer Placeholder 4">
            <a:extLst>
              <a:ext uri="{FF2B5EF4-FFF2-40B4-BE49-F238E27FC236}">
                <a16:creationId xmlns:a16="http://schemas.microsoft.com/office/drawing/2014/main" id="{F22A17DF-CF2C-A901-227F-B620F3A84F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35C69A-5D1D-DA11-5F4E-213F62DD210B}"/>
              </a:ext>
            </a:extLst>
          </p:cNvPr>
          <p:cNvSpPr>
            <a:spLocks noGrp="1"/>
          </p:cNvSpPr>
          <p:nvPr>
            <p:ph type="sldNum" sz="quarter" idx="12"/>
          </p:nvPr>
        </p:nvSpPr>
        <p:spPr/>
        <p:txBody>
          <a:bodyPr/>
          <a:lstStyle/>
          <a:p>
            <a:fld id="{923EE0D6-F6F2-DD41-81DD-2BD51812ED34}" type="slidenum">
              <a:rPr lang="en-US" smtClean="0"/>
              <a:t>‹#›</a:t>
            </a:fld>
            <a:endParaRPr lang="en-US"/>
          </a:p>
        </p:txBody>
      </p:sp>
    </p:spTree>
    <p:extLst>
      <p:ext uri="{BB962C8B-B14F-4D97-AF65-F5344CB8AC3E}">
        <p14:creationId xmlns:p14="http://schemas.microsoft.com/office/powerpoint/2010/main" val="3346798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F8584-1484-1C5D-87D2-5D5DAE56E1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392456-95EB-9E09-19E4-7ADB37116D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B0279E-835D-12CD-4A1D-F2FF952B4BEE}"/>
              </a:ext>
            </a:extLst>
          </p:cNvPr>
          <p:cNvSpPr>
            <a:spLocks noGrp="1"/>
          </p:cNvSpPr>
          <p:nvPr>
            <p:ph type="dt" sz="half" idx="10"/>
          </p:nvPr>
        </p:nvSpPr>
        <p:spPr/>
        <p:txBody>
          <a:bodyPr/>
          <a:lstStyle/>
          <a:p>
            <a:fld id="{EFFB130F-2ACB-DE46-8962-1CC2ADBFC135}" type="datetimeFigureOut">
              <a:rPr lang="en-US" smtClean="0"/>
              <a:t>7/27/2025</a:t>
            </a:fld>
            <a:endParaRPr lang="en-US"/>
          </a:p>
        </p:txBody>
      </p:sp>
      <p:sp>
        <p:nvSpPr>
          <p:cNvPr id="5" name="Footer Placeholder 4">
            <a:extLst>
              <a:ext uri="{FF2B5EF4-FFF2-40B4-BE49-F238E27FC236}">
                <a16:creationId xmlns:a16="http://schemas.microsoft.com/office/drawing/2014/main" id="{07536CAB-CF45-E752-8115-C771888760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804565-8EFC-A5EA-39BC-94A77F67B916}"/>
              </a:ext>
            </a:extLst>
          </p:cNvPr>
          <p:cNvSpPr>
            <a:spLocks noGrp="1"/>
          </p:cNvSpPr>
          <p:nvPr>
            <p:ph type="sldNum" sz="quarter" idx="12"/>
          </p:nvPr>
        </p:nvSpPr>
        <p:spPr/>
        <p:txBody>
          <a:bodyPr/>
          <a:lstStyle/>
          <a:p>
            <a:fld id="{923EE0D6-F6F2-DD41-81DD-2BD51812ED34}" type="slidenum">
              <a:rPr lang="en-US" smtClean="0"/>
              <a:t>‹#›</a:t>
            </a:fld>
            <a:endParaRPr lang="en-US"/>
          </a:p>
        </p:txBody>
      </p:sp>
    </p:spTree>
    <p:extLst>
      <p:ext uri="{BB962C8B-B14F-4D97-AF65-F5344CB8AC3E}">
        <p14:creationId xmlns:p14="http://schemas.microsoft.com/office/powerpoint/2010/main" val="2775750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7D8F4-3C01-DDDE-5C3E-8770B8CF47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F2A8D1F-E7A0-7D20-E000-14E4050F1E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4CC18C-3FEB-F5D3-F3E3-EF236925F9DB}"/>
              </a:ext>
            </a:extLst>
          </p:cNvPr>
          <p:cNvSpPr>
            <a:spLocks noGrp="1"/>
          </p:cNvSpPr>
          <p:nvPr>
            <p:ph type="dt" sz="half" idx="10"/>
          </p:nvPr>
        </p:nvSpPr>
        <p:spPr/>
        <p:txBody>
          <a:bodyPr/>
          <a:lstStyle/>
          <a:p>
            <a:fld id="{EFFB130F-2ACB-DE46-8962-1CC2ADBFC135}" type="datetimeFigureOut">
              <a:rPr lang="en-US" smtClean="0"/>
              <a:t>7/27/2025</a:t>
            </a:fld>
            <a:endParaRPr lang="en-US"/>
          </a:p>
        </p:txBody>
      </p:sp>
      <p:sp>
        <p:nvSpPr>
          <p:cNvPr id="5" name="Footer Placeholder 4">
            <a:extLst>
              <a:ext uri="{FF2B5EF4-FFF2-40B4-BE49-F238E27FC236}">
                <a16:creationId xmlns:a16="http://schemas.microsoft.com/office/drawing/2014/main" id="{7C81A53D-E5C0-9566-DEBD-5EE67EBDE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1E7A22-3204-0481-B23C-0ECA3613CAF8}"/>
              </a:ext>
            </a:extLst>
          </p:cNvPr>
          <p:cNvSpPr>
            <a:spLocks noGrp="1"/>
          </p:cNvSpPr>
          <p:nvPr>
            <p:ph type="sldNum" sz="quarter" idx="12"/>
          </p:nvPr>
        </p:nvSpPr>
        <p:spPr/>
        <p:txBody>
          <a:bodyPr/>
          <a:lstStyle/>
          <a:p>
            <a:fld id="{923EE0D6-F6F2-DD41-81DD-2BD51812ED34}" type="slidenum">
              <a:rPr lang="en-US" smtClean="0"/>
              <a:t>‹#›</a:t>
            </a:fld>
            <a:endParaRPr lang="en-US"/>
          </a:p>
        </p:txBody>
      </p:sp>
    </p:spTree>
    <p:extLst>
      <p:ext uri="{BB962C8B-B14F-4D97-AF65-F5344CB8AC3E}">
        <p14:creationId xmlns:p14="http://schemas.microsoft.com/office/powerpoint/2010/main" val="3716839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727D5-C67C-F567-9F00-69FB0D1392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E5729D-C6C3-4A4E-0F25-A610B887BC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00BE4C1-716D-1A2D-2619-E59BC21C02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D83409-EEC0-8B9B-95B1-DFCB3253E776}"/>
              </a:ext>
            </a:extLst>
          </p:cNvPr>
          <p:cNvSpPr>
            <a:spLocks noGrp="1"/>
          </p:cNvSpPr>
          <p:nvPr>
            <p:ph type="dt" sz="half" idx="10"/>
          </p:nvPr>
        </p:nvSpPr>
        <p:spPr/>
        <p:txBody>
          <a:bodyPr/>
          <a:lstStyle/>
          <a:p>
            <a:fld id="{EFFB130F-2ACB-DE46-8962-1CC2ADBFC135}" type="datetimeFigureOut">
              <a:rPr lang="en-US" smtClean="0"/>
              <a:t>7/27/2025</a:t>
            </a:fld>
            <a:endParaRPr lang="en-US"/>
          </a:p>
        </p:txBody>
      </p:sp>
      <p:sp>
        <p:nvSpPr>
          <p:cNvPr id="6" name="Footer Placeholder 5">
            <a:extLst>
              <a:ext uri="{FF2B5EF4-FFF2-40B4-BE49-F238E27FC236}">
                <a16:creationId xmlns:a16="http://schemas.microsoft.com/office/drawing/2014/main" id="{9833E4E5-3569-2A6D-4DDC-0CAE0D10AA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D405EC-38E1-1E83-6C58-BA05BEEFE1DB}"/>
              </a:ext>
            </a:extLst>
          </p:cNvPr>
          <p:cNvSpPr>
            <a:spLocks noGrp="1"/>
          </p:cNvSpPr>
          <p:nvPr>
            <p:ph type="sldNum" sz="quarter" idx="12"/>
          </p:nvPr>
        </p:nvSpPr>
        <p:spPr/>
        <p:txBody>
          <a:bodyPr/>
          <a:lstStyle/>
          <a:p>
            <a:fld id="{923EE0D6-F6F2-DD41-81DD-2BD51812ED34}" type="slidenum">
              <a:rPr lang="en-US" smtClean="0"/>
              <a:t>‹#›</a:t>
            </a:fld>
            <a:endParaRPr lang="en-US"/>
          </a:p>
        </p:txBody>
      </p:sp>
    </p:spTree>
    <p:extLst>
      <p:ext uri="{BB962C8B-B14F-4D97-AF65-F5344CB8AC3E}">
        <p14:creationId xmlns:p14="http://schemas.microsoft.com/office/powerpoint/2010/main" val="1582090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35C9B-82B3-13AF-7808-5051BCFC0F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32FB42-BF9B-D6BE-39CC-BBBC401289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4FEF86-3F8C-FFA2-93BE-AAC3FF8534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BCAAE8-F4A5-0A58-9C72-3BC409D64C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80384A-1B87-256C-17D5-FAAB9FB42C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1E2D64-FFFB-84CF-626E-9E68156399B6}"/>
              </a:ext>
            </a:extLst>
          </p:cNvPr>
          <p:cNvSpPr>
            <a:spLocks noGrp="1"/>
          </p:cNvSpPr>
          <p:nvPr>
            <p:ph type="dt" sz="half" idx="10"/>
          </p:nvPr>
        </p:nvSpPr>
        <p:spPr/>
        <p:txBody>
          <a:bodyPr/>
          <a:lstStyle/>
          <a:p>
            <a:fld id="{EFFB130F-2ACB-DE46-8962-1CC2ADBFC135}" type="datetimeFigureOut">
              <a:rPr lang="en-US" smtClean="0"/>
              <a:t>7/27/2025</a:t>
            </a:fld>
            <a:endParaRPr lang="en-US"/>
          </a:p>
        </p:txBody>
      </p:sp>
      <p:sp>
        <p:nvSpPr>
          <p:cNvPr id="8" name="Footer Placeholder 7">
            <a:extLst>
              <a:ext uri="{FF2B5EF4-FFF2-40B4-BE49-F238E27FC236}">
                <a16:creationId xmlns:a16="http://schemas.microsoft.com/office/drawing/2014/main" id="{AC96BD3B-8EA5-57EE-FE21-0B0A758793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97715E-1C4D-116E-6BA9-4771D8D27101}"/>
              </a:ext>
            </a:extLst>
          </p:cNvPr>
          <p:cNvSpPr>
            <a:spLocks noGrp="1"/>
          </p:cNvSpPr>
          <p:nvPr>
            <p:ph type="sldNum" sz="quarter" idx="12"/>
          </p:nvPr>
        </p:nvSpPr>
        <p:spPr/>
        <p:txBody>
          <a:bodyPr/>
          <a:lstStyle/>
          <a:p>
            <a:fld id="{923EE0D6-F6F2-DD41-81DD-2BD51812ED34}" type="slidenum">
              <a:rPr lang="en-US" smtClean="0"/>
              <a:t>‹#›</a:t>
            </a:fld>
            <a:endParaRPr lang="en-US"/>
          </a:p>
        </p:txBody>
      </p:sp>
    </p:spTree>
    <p:extLst>
      <p:ext uri="{BB962C8B-B14F-4D97-AF65-F5344CB8AC3E}">
        <p14:creationId xmlns:p14="http://schemas.microsoft.com/office/powerpoint/2010/main" val="1167367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D6C7D-74E7-1883-8921-151A397025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B74731-1900-ECB0-F9FB-16581873765B}"/>
              </a:ext>
            </a:extLst>
          </p:cNvPr>
          <p:cNvSpPr>
            <a:spLocks noGrp="1"/>
          </p:cNvSpPr>
          <p:nvPr>
            <p:ph type="dt" sz="half" idx="10"/>
          </p:nvPr>
        </p:nvSpPr>
        <p:spPr/>
        <p:txBody>
          <a:bodyPr/>
          <a:lstStyle/>
          <a:p>
            <a:fld id="{EFFB130F-2ACB-DE46-8962-1CC2ADBFC135}" type="datetimeFigureOut">
              <a:rPr lang="en-US" smtClean="0"/>
              <a:t>7/27/2025</a:t>
            </a:fld>
            <a:endParaRPr lang="en-US"/>
          </a:p>
        </p:txBody>
      </p:sp>
      <p:sp>
        <p:nvSpPr>
          <p:cNvPr id="4" name="Footer Placeholder 3">
            <a:extLst>
              <a:ext uri="{FF2B5EF4-FFF2-40B4-BE49-F238E27FC236}">
                <a16:creationId xmlns:a16="http://schemas.microsoft.com/office/drawing/2014/main" id="{94ADFF79-F3C2-E1D6-6952-D5681FDA15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6CC849-E1E8-EDE7-6A58-A56F50D94F48}"/>
              </a:ext>
            </a:extLst>
          </p:cNvPr>
          <p:cNvSpPr>
            <a:spLocks noGrp="1"/>
          </p:cNvSpPr>
          <p:nvPr>
            <p:ph type="sldNum" sz="quarter" idx="12"/>
          </p:nvPr>
        </p:nvSpPr>
        <p:spPr/>
        <p:txBody>
          <a:bodyPr/>
          <a:lstStyle/>
          <a:p>
            <a:fld id="{923EE0D6-F6F2-DD41-81DD-2BD51812ED34}" type="slidenum">
              <a:rPr lang="en-US" smtClean="0"/>
              <a:t>‹#›</a:t>
            </a:fld>
            <a:endParaRPr lang="en-US"/>
          </a:p>
        </p:txBody>
      </p:sp>
    </p:spTree>
    <p:extLst>
      <p:ext uri="{BB962C8B-B14F-4D97-AF65-F5344CB8AC3E}">
        <p14:creationId xmlns:p14="http://schemas.microsoft.com/office/powerpoint/2010/main" val="1220840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6BE74C-ED59-C979-6FB4-A65EFC233CEE}"/>
              </a:ext>
            </a:extLst>
          </p:cNvPr>
          <p:cNvSpPr>
            <a:spLocks noGrp="1"/>
          </p:cNvSpPr>
          <p:nvPr>
            <p:ph type="dt" sz="half" idx="10"/>
          </p:nvPr>
        </p:nvSpPr>
        <p:spPr/>
        <p:txBody>
          <a:bodyPr/>
          <a:lstStyle/>
          <a:p>
            <a:fld id="{EFFB130F-2ACB-DE46-8962-1CC2ADBFC135}" type="datetimeFigureOut">
              <a:rPr lang="en-US" smtClean="0"/>
              <a:t>7/27/2025</a:t>
            </a:fld>
            <a:endParaRPr lang="en-US"/>
          </a:p>
        </p:txBody>
      </p:sp>
      <p:sp>
        <p:nvSpPr>
          <p:cNvPr id="3" name="Footer Placeholder 2">
            <a:extLst>
              <a:ext uri="{FF2B5EF4-FFF2-40B4-BE49-F238E27FC236}">
                <a16:creationId xmlns:a16="http://schemas.microsoft.com/office/drawing/2014/main" id="{A790E380-9BEB-6C9F-C7C2-9B2F1528C5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71335E-D8ED-4356-BF49-A35EE9E27977}"/>
              </a:ext>
            </a:extLst>
          </p:cNvPr>
          <p:cNvSpPr>
            <a:spLocks noGrp="1"/>
          </p:cNvSpPr>
          <p:nvPr>
            <p:ph type="sldNum" sz="quarter" idx="12"/>
          </p:nvPr>
        </p:nvSpPr>
        <p:spPr/>
        <p:txBody>
          <a:bodyPr/>
          <a:lstStyle/>
          <a:p>
            <a:fld id="{923EE0D6-F6F2-DD41-81DD-2BD51812ED34}" type="slidenum">
              <a:rPr lang="en-US" smtClean="0"/>
              <a:t>‹#›</a:t>
            </a:fld>
            <a:endParaRPr lang="en-US"/>
          </a:p>
        </p:txBody>
      </p:sp>
    </p:spTree>
    <p:extLst>
      <p:ext uri="{BB962C8B-B14F-4D97-AF65-F5344CB8AC3E}">
        <p14:creationId xmlns:p14="http://schemas.microsoft.com/office/powerpoint/2010/main" val="626437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89FBD-6E4F-8D6F-85FF-23722252C4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FA55AF-70EC-1D89-AB42-AF899F72C4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A62550-BB0B-630C-3D34-6BF3320D1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C84195-CF7B-E33E-0257-B99866A2BD7C}"/>
              </a:ext>
            </a:extLst>
          </p:cNvPr>
          <p:cNvSpPr>
            <a:spLocks noGrp="1"/>
          </p:cNvSpPr>
          <p:nvPr>
            <p:ph type="dt" sz="half" idx="10"/>
          </p:nvPr>
        </p:nvSpPr>
        <p:spPr/>
        <p:txBody>
          <a:bodyPr/>
          <a:lstStyle/>
          <a:p>
            <a:fld id="{EFFB130F-2ACB-DE46-8962-1CC2ADBFC135}" type="datetimeFigureOut">
              <a:rPr lang="en-US" smtClean="0"/>
              <a:t>7/27/2025</a:t>
            </a:fld>
            <a:endParaRPr lang="en-US"/>
          </a:p>
        </p:txBody>
      </p:sp>
      <p:sp>
        <p:nvSpPr>
          <p:cNvPr id="6" name="Footer Placeholder 5">
            <a:extLst>
              <a:ext uri="{FF2B5EF4-FFF2-40B4-BE49-F238E27FC236}">
                <a16:creationId xmlns:a16="http://schemas.microsoft.com/office/drawing/2014/main" id="{88097F00-11F2-F18B-D3CD-749BF4A269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E66678-520D-5E8D-0A2E-8ED2338B793E}"/>
              </a:ext>
            </a:extLst>
          </p:cNvPr>
          <p:cNvSpPr>
            <a:spLocks noGrp="1"/>
          </p:cNvSpPr>
          <p:nvPr>
            <p:ph type="sldNum" sz="quarter" idx="12"/>
          </p:nvPr>
        </p:nvSpPr>
        <p:spPr/>
        <p:txBody>
          <a:bodyPr/>
          <a:lstStyle/>
          <a:p>
            <a:fld id="{923EE0D6-F6F2-DD41-81DD-2BD51812ED34}" type="slidenum">
              <a:rPr lang="en-US" smtClean="0"/>
              <a:t>‹#›</a:t>
            </a:fld>
            <a:endParaRPr lang="en-US"/>
          </a:p>
        </p:txBody>
      </p:sp>
    </p:spTree>
    <p:extLst>
      <p:ext uri="{BB962C8B-B14F-4D97-AF65-F5344CB8AC3E}">
        <p14:creationId xmlns:p14="http://schemas.microsoft.com/office/powerpoint/2010/main" val="1694606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0F320-9A1B-CE6F-3090-6C8D7802D5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66018B-8D41-A2C7-1DDD-A2BCBAAEAB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DCEEC8-5DA1-869E-2406-8EAE10FFC7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D1662-72FA-5977-5493-88181D1CE97F}"/>
              </a:ext>
            </a:extLst>
          </p:cNvPr>
          <p:cNvSpPr>
            <a:spLocks noGrp="1"/>
          </p:cNvSpPr>
          <p:nvPr>
            <p:ph type="dt" sz="half" idx="10"/>
          </p:nvPr>
        </p:nvSpPr>
        <p:spPr/>
        <p:txBody>
          <a:bodyPr/>
          <a:lstStyle/>
          <a:p>
            <a:fld id="{EFFB130F-2ACB-DE46-8962-1CC2ADBFC135}" type="datetimeFigureOut">
              <a:rPr lang="en-US" smtClean="0"/>
              <a:t>7/27/2025</a:t>
            </a:fld>
            <a:endParaRPr lang="en-US"/>
          </a:p>
        </p:txBody>
      </p:sp>
      <p:sp>
        <p:nvSpPr>
          <p:cNvPr id="6" name="Footer Placeholder 5">
            <a:extLst>
              <a:ext uri="{FF2B5EF4-FFF2-40B4-BE49-F238E27FC236}">
                <a16:creationId xmlns:a16="http://schemas.microsoft.com/office/drawing/2014/main" id="{06C8C440-DC1D-0D7E-8AA1-41729877F7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E78C2E-D92C-CF3D-A321-C66D925317B7}"/>
              </a:ext>
            </a:extLst>
          </p:cNvPr>
          <p:cNvSpPr>
            <a:spLocks noGrp="1"/>
          </p:cNvSpPr>
          <p:nvPr>
            <p:ph type="sldNum" sz="quarter" idx="12"/>
          </p:nvPr>
        </p:nvSpPr>
        <p:spPr/>
        <p:txBody>
          <a:bodyPr/>
          <a:lstStyle/>
          <a:p>
            <a:fld id="{923EE0D6-F6F2-DD41-81DD-2BD51812ED34}" type="slidenum">
              <a:rPr lang="en-US" smtClean="0"/>
              <a:t>‹#›</a:t>
            </a:fld>
            <a:endParaRPr lang="en-US"/>
          </a:p>
        </p:txBody>
      </p:sp>
    </p:spTree>
    <p:extLst>
      <p:ext uri="{BB962C8B-B14F-4D97-AF65-F5344CB8AC3E}">
        <p14:creationId xmlns:p14="http://schemas.microsoft.com/office/powerpoint/2010/main" val="852197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3B283-19C9-A4C8-7345-5DCE1FE513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9379790-97DF-200B-79B7-BFBD09E7F7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90EE60-8E38-294F-4454-FDB9BE7AF007}"/>
              </a:ext>
            </a:extLst>
          </p:cNvPr>
          <p:cNvSpPr>
            <a:spLocks noGrp="1"/>
          </p:cNvSpPr>
          <p:nvPr>
            <p:ph type="dt" sz="half" idx="10"/>
          </p:nvPr>
        </p:nvSpPr>
        <p:spPr/>
        <p:txBody>
          <a:bodyPr/>
          <a:lstStyle/>
          <a:p>
            <a:fld id="{EFFB130F-2ACB-DE46-8962-1CC2ADBFC135}" type="datetimeFigureOut">
              <a:rPr lang="en-US" smtClean="0"/>
              <a:t>7/27/2025</a:t>
            </a:fld>
            <a:endParaRPr lang="en-US"/>
          </a:p>
        </p:txBody>
      </p:sp>
      <p:sp>
        <p:nvSpPr>
          <p:cNvPr id="5" name="Footer Placeholder 4">
            <a:extLst>
              <a:ext uri="{FF2B5EF4-FFF2-40B4-BE49-F238E27FC236}">
                <a16:creationId xmlns:a16="http://schemas.microsoft.com/office/drawing/2014/main" id="{E0DDC2C0-8D7A-879E-FDF1-09F4C29ADD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4F8E35-3B18-9148-1974-2CC2F7381B64}"/>
              </a:ext>
            </a:extLst>
          </p:cNvPr>
          <p:cNvSpPr>
            <a:spLocks noGrp="1"/>
          </p:cNvSpPr>
          <p:nvPr>
            <p:ph type="sldNum" sz="quarter" idx="12"/>
          </p:nvPr>
        </p:nvSpPr>
        <p:spPr/>
        <p:txBody>
          <a:bodyPr/>
          <a:lstStyle/>
          <a:p>
            <a:fld id="{923EE0D6-F6F2-DD41-81DD-2BD51812ED34}" type="slidenum">
              <a:rPr lang="en-US" smtClean="0"/>
              <a:t>‹#›</a:t>
            </a:fld>
            <a:endParaRPr lang="en-US"/>
          </a:p>
        </p:txBody>
      </p:sp>
    </p:spTree>
    <p:extLst>
      <p:ext uri="{BB962C8B-B14F-4D97-AF65-F5344CB8AC3E}">
        <p14:creationId xmlns:p14="http://schemas.microsoft.com/office/powerpoint/2010/main" val="3527257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F4FBA5-C8BF-795A-04F5-6FE0DBAC31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A7631AD-CB8D-0D4A-1474-5D16BB7492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88C055-F088-817F-BBD9-BFC040F6259B}"/>
              </a:ext>
            </a:extLst>
          </p:cNvPr>
          <p:cNvSpPr>
            <a:spLocks noGrp="1"/>
          </p:cNvSpPr>
          <p:nvPr>
            <p:ph type="dt" sz="half" idx="10"/>
          </p:nvPr>
        </p:nvSpPr>
        <p:spPr/>
        <p:txBody>
          <a:bodyPr/>
          <a:lstStyle/>
          <a:p>
            <a:fld id="{EFFB130F-2ACB-DE46-8962-1CC2ADBFC135}" type="datetimeFigureOut">
              <a:rPr lang="en-US" smtClean="0"/>
              <a:t>7/27/2025</a:t>
            </a:fld>
            <a:endParaRPr lang="en-US"/>
          </a:p>
        </p:txBody>
      </p:sp>
      <p:sp>
        <p:nvSpPr>
          <p:cNvPr id="5" name="Footer Placeholder 4">
            <a:extLst>
              <a:ext uri="{FF2B5EF4-FFF2-40B4-BE49-F238E27FC236}">
                <a16:creationId xmlns:a16="http://schemas.microsoft.com/office/drawing/2014/main" id="{F36D4E39-30BE-A6F7-5BF4-0AFD8F4846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593E54-4100-467D-997B-408AB3E5F4AA}"/>
              </a:ext>
            </a:extLst>
          </p:cNvPr>
          <p:cNvSpPr>
            <a:spLocks noGrp="1"/>
          </p:cNvSpPr>
          <p:nvPr>
            <p:ph type="sldNum" sz="quarter" idx="12"/>
          </p:nvPr>
        </p:nvSpPr>
        <p:spPr/>
        <p:txBody>
          <a:bodyPr/>
          <a:lstStyle/>
          <a:p>
            <a:fld id="{923EE0D6-F6F2-DD41-81DD-2BD51812ED34}" type="slidenum">
              <a:rPr lang="en-US" smtClean="0"/>
              <a:t>‹#›</a:t>
            </a:fld>
            <a:endParaRPr lang="en-US"/>
          </a:p>
        </p:txBody>
      </p:sp>
    </p:spTree>
    <p:extLst>
      <p:ext uri="{BB962C8B-B14F-4D97-AF65-F5344CB8AC3E}">
        <p14:creationId xmlns:p14="http://schemas.microsoft.com/office/powerpoint/2010/main" val="3003187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A1E5A3-A39B-4DC9-D2F7-F3D5CC6962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125A2F-34B4-15E6-4000-B6B61C618F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088914-6F04-35C6-58FD-8FA1EAF5BA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FB130F-2ACB-DE46-8962-1CC2ADBFC135}" type="datetimeFigureOut">
              <a:rPr lang="en-US" smtClean="0"/>
              <a:t>7/27/2025</a:t>
            </a:fld>
            <a:endParaRPr lang="en-US"/>
          </a:p>
        </p:txBody>
      </p:sp>
      <p:sp>
        <p:nvSpPr>
          <p:cNvPr id="5" name="Footer Placeholder 4">
            <a:extLst>
              <a:ext uri="{FF2B5EF4-FFF2-40B4-BE49-F238E27FC236}">
                <a16:creationId xmlns:a16="http://schemas.microsoft.com/office/drawing/2014/main" id="{34DADCAD-30CE-898C-9244-9CFE729274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2DA16A-3D9F-DFB4-79B2-C2B30E3BEC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3EE0D6-F6F2-DD41-81DD-2BD51812ED34}" type="slidenum">
              <a:rPr lang="en-US" smtClean="0"/>
              <a:t>‹#›</a:t>
            </a:fld>
            <a:endParaRPr lang="en-US"/>
          </a:p>
        </p:txBody>
      </p:sp>
    </p:spTree>
    <p:extLst>
      <p:ext uri="{BB962C8B-B14F-4D97-AF65-F5344CB8AC3E}">
        <p14:creationId xmlns:p14="http://schemas.microsoft.com/office/powerpoint/2010/main" val="129102314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8" Type="http://schemas.openxmlformats.org/officeDocument/2006/relationships/image" Target="../media/image6.png" /><Relationship Id="rId3" Type="http://schemas.microsoft.com/office/2007/relationships/hdphoto" Target="../media/hdphoto1.wdp" /><Relationship Id="rId7" Type="http://schemas.openxmlformats.org/officeDocument/2006/relationships/image" Target="../media/image5.png" /><Relationship Id="rId2" Type="http://schemas.openxmlformats.org/officeDocument/2006/relationships/image" Target="../media/image2.png" /><Relationship Id="rId1" Type="http://schemas.openxmlformats.org/officeDocument/2006/relationships/slideLayout" Target="../slideLayouts/slideLayout6.xml" /><Relationship Id="rId6" Type="http://schemas.microsoft.com/office/2007/relationships/hdphoto" Target="../media/hdphoto2.wdp" /><Relationship Id="rId5" Type="http://schemas.openxmlformats.org/officeDocument/2006/relationships/image" Target="../media/image4.png" /><Relationship Id="rId10" Type="http://schemas.openxmlformats.org/officeDocument/2006/relationships/image" Target="../media/image8.png" /><Relationship Id="rId4" Type="http://schemas.openxmlformats.org/officeDocument/2006/relationships/image" Target="../media/image3.png" /><Relationship Id="rId9" Type="http://schemas.openxmlformats.org/officeDocument/2006/relationships/image" Target="../media/image7.png" /></Relationships>
</file>

<file path=ppt/slides/_rels/slide3.xml.rels><?xml version="1.0" encoding="UTF-8" standalone="yes"?>
<Relationships xmlns="http://schemas.openxmlformats.org/package/2006/relationships"><Relationship Id="rId3" Type="http://schemas.microsoft.com/office/2007/relationships/hdphoto" Target="../media/hdphoto3.wdp" /><Relationship Id="rId2" Type="http://schemas.openxmlformats.org/officeDocument/2006/relationships/image" Target="../media/image9.png" /><Relationship Id="rId1" Type="http://schemas.openxmlformats.org/officeDocument/2006/relationships/slideLayout" Target="../slideLayouts/slideLayout2.xml" /><Relationship Id="rId4" Type="http://schemas.openxmlformats.org/officeDocument/2006/relationships/image" Target="../media/image10.png"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15.png" /><Relationship Id="rId7" Type="http://schemas.openxmlformats.org/officeDocument/2006/relationships/image" Target="../media/image19.png" /><Relationship Id="rId2" Type="http://schemas.openxmlformats.org/officeDocument/2006/relationships/image" Target="../media/image11.png" /><Relationship Id="rId1" Type="http://schemas.openxmlformats.org/officeDocument/2006/relationships/slideLayout" Target="../slideLayouts/slideLayout2.xml" /><Relationship Id="rId6" Type="http://schemas.openxmlformats.org/officeDocument/2006/relationships/image" Target="../media/image13.png" /><Relationship Id="rId5" Type="http://schemas.openxmlformats.org/officeDocument/2006/relationships/image" Target="../media/image17.png" /><Relationship Id="rId4" Type="http://schemas.openxmlformats.org/officeDocument/2006/relationships/image" Target="../media/image12.png" /></Relationships>
</file>

<file path=ppt/slides/_rels/slide6.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image" Target="../media/image6.png" /><Relationship Id="rId1" Type="http://schemas.openxmlformats.org/officeDocument/2006/relationships/slideLayout" Target="../slideLayouts/slideLayout2.xml" /><Relationship Id="rId5" Type="http://schemas.openxmlformats.org/officeDocument/2006/relationships/image" Target="../media/image18.png" /><Relationship Id="rId4" Type="http://schemas.openxmlformats.org/officeDocument/2006/relationships/image" Target="../media/image16.png"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21.emf" /><Relationship Id="rId2" Type="http://schemas.openxmlformats.org/officeDocument/2006/relationships/image" Target="../media/image20.png" /><Relationship Id="rId1" Type="http://schemas.openxmlformats.org/officeDocument/2006/relationships/slideLayout" Target="../slideLayouts/slideLayout2.xml" /><Relationship Id="rId5" Type="http://schemas.openxmlformats.org/officeDocument/2006/relationships/image" Target="../media/image23.emf" /><Relationship Id="rId4" Type="http://schemas.openxmlformats.org/officeDocument/2006/relationships/image" Target="../media/image22.emf" /></Relationships>
</file>

<file path=ppt/slides/_rels/slide10.xml.rels><?xml version="1.0" encoding="UTF-8" standalone="yes"?>
<Relationships xmlns="http://schemas.openxmlformats.org/package/2006/relationships"><Relationship Id="rId3" Type="http://schemas.openxmlformats.org/officeDocument/2006/relationships/image" Target="../media/image25.emf" /><Relationship Id="rId2" Type="http://schemas.openxmlformats.org/officeDocument/2006/relationships/image" Target="../media/image24.emf" /><Relationship Id="rId1" Type="http://schemas.openxmlformats.org/officeDocument/2006/relationships/slideLayout" Target="../slideLayouts/slideLayout2.xml" /><Relationship Id="rId4" Type="http://schemas.openxmlformats.org/officeDocument/2006/relationships/image" Target="../media/image26.emf" /></Relationships>
</file>

<file path=ppt/slides/_rels/slide11.xml.rels><?xml version="1.0" encoding="UTF-8" standalone="yes"?>
<Relationships xmlns="http://schemas.openxmlformats.org/package/2006/relationships"><Relationship Id="rId2" Type="http://schemas.openxmlformats.org/officeDocument/2006/relationships/image" Target="../media/image27.emf"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2" Type="http://schemas.openxmlformats.org/officeDocument/2006/relationships/image" Target="../media/image28.emf"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29.emf"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30.emf"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31.emf"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32.emf"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33.emf"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image" Target="../media/image34.emf"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3" Type="http://schemas.openxmlformats.org/officeDocument/2006/relationships/image" Target="../media/image35.png" /><Relationship Id="rId2" Type="http://schemas.openxmlformats.org/officeDocument/2006/relationships/image" Target="../media/image6.png" /><Relationship Id="rId1" Type="http://schemas.openxmlformats.org/officeDocument/2006/relationships/slideLayout" Target="../slideLayouts/slideLayout2.xml" /><Relationship Id="rId4" Type="http://schemas.openxmlformats.org/officeDocument/2006/relationships/image" Target="../media/image36.png" /></Relationships>
</file>

<file path=ppt/slides/_rels/slide22.xml.rels><?xml version="1.0" encoding="UTF-8" standalone="yes"?>
<Relationships xmlns="http://schemas.openxmlformats.org/package/2006/relationships"><Relationship Id="rId3" Type="http://schemas.openxmlformats.org/officeDocument/2006/relationships/image" Target="../media/image38.png" /><Relationship Id="rId2" Type="http://schemas.openxmlformats.org/officeDocument/2006/relationships/image" Target="../media/image37.png"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3" Type="http://schemas.openxmlformats.org/officeDocument/2006/relationships/image" Target="../media/image40.png" /><Relationship Id="rId2" Type="http://schemas.openxmlformats.org/officeDocument/2006/relationships/image" Target="../media/image39.png"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3" Type="http://schemas.openxmlformats.org/officeDocument/2006/relationships/image" Target="../media/image42.png" /><Relationship Id="rId2" Type="http://schemas.openxmlformats.org/officeDocument/2006/relationships/image" Target="../media/image41.pn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43.emf"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image" Target="../media/image44.emf"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image" Target="../media/image45.emf"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image" Target="../media/image46.emf"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image" Target="../media/image47.emf"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image" Target="../media/image48.emf"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3" Type="http://schemas.openxmlformats.org/officeDocument/2006/relationships/image" Target="../media/image50.emf" /><Relationship Id="rId2" Type="http://schemas.openxmlformats.org/officeDocument/2006/relationships/image" Target="../media/image49.png"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73666-F778-B14D-B623-614A5501FBE0}"/>
              </a:ext>
            </a:extLst>
          </p:cNvPr>
          <p:cNvSpPr>
            <a:spLocks noGrp="1"/>
          </p:cNvSpPr>
          <p:nvPr>
            <p:ph type="title"/>
          </p:nvPr>
        </p:nvSpPr>
        <p:spPr>
          <a:xfrm>
            <a:off x="0" y="0"/>
            <a:ext cx="12192000" cy="1210962"/>
          </a:xfrm>
        </p:spPr>
        <p:txBody>
          <a:bodyPr>
            <a:normAutofit/>
          </a:bodyPr>
          <a:lstStyle/>
          <a:p>
            <a:pPr algn="ctr"/>
            <a:r>
              <a:rPr lang="en-US" sz="3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Evaluating the Effect of Uncertainty in Pressure Boundary Condition on </a:t>
            </a:r>
            <a:r>
              <a:rPr lang="en-US" sz="3200" b="1" dirty="0">
                <a:effectLst/>
                <a:latin typeface="Times New Roman" panose="02020603050405020304" pitchFamily="18" charset="0"/>
                <a:ea typeface="Calibri" panose="020F0502020204030204" pitchFamily="34" charset="0"/>
              </a:rPr>
              <a:t>Patient-Specific Modeling of Coronary Hemodynamics </a:t>
            </a:r>
            <a:endParaRPr lang="en-US" sz="4800" dirty="0"/>
          </a:p>
        </p:txBody>
      </p:sp>
      <p:pic>
        <p:nvPicPr>
          <p:cNvPr id="2049" name="image1.jpeg">
            <a:extLst>
              <a:ext uri="{FF2B5EF4-FFF2-40B4-BE49-F238E27FC236}">
                <a16:creationId xmlns:a16="http://schemas.microsoft.com/office/drawing/2014/main" id="{6BA1A5AE-E2B2-C9C5-17C0-1146051EEF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7887" y="1626560"/>
            <a:ext cx="2576226" cy="2578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4BF0DAC-4531-BDFD-BF1E-DA7F96C27E01}"/>
              </a:ext>
            </a:extLst>
          </p:cNvPr>
          <p:cNvSpPr txBox="1"/>
          <p:nvPr/>
        </p:nvSpPr>
        <p:spPr>
          <a:xfrm>
            <a:off x="718852" y="2341292"/>
            <a:ext cx="2576225" cy="1200329"/>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Presented</a:t>
            </a:r>
            <a:r>
              <a:rPr lang="en-US" sz="1800" i="1" dirty="0">
                <a:latin typeface="Times New Roman" panose="02020603050405020304" pitchFamily="18" charset="0"/>
                <a:cs typeface="Times New Roman" panose="02020603050405020304" pitchFamily="18" charset="0"/>
              </a:rPr>
              <a:t> by:</a:t>
            </a: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Mr. Nishanth Panda</a:t>
            </a:r>
            <a:br>
              <a:rPr lang="en-US" sz="1800" b="1"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Redg</a:t>
            </a:r>
            <a:r>
              <a:rPr lang="en-US" sz="1800" dirty="0">
                <a:latin typeface="Times New Roman" panose="02020603050405020304" pitchFamily="18" charset="0"/>
                <a:cs typeface="Times New Roman" panose="02020603050405020304" pitchFamily="18" charset="0"/>
              </a:rPr>
              <a:t>. No.: 2111100377)</a:t>
            </a:r>
          </a:p>
          <a:p>
            <a:r>
              <a:rPr lang="en-US" dirty="0">
                <a:latin typeface="Times New Roman" panose="02020603050405020304" pitchFamily="18" charset="0"/>
                <a:cs typeface="Times New Roman" panose="02020603050405020304" pitchFamily="18" charset="0"/>
              </a:rPr>
              <a:t>Semester: 8th</a:t>
            </a:r>
            <a:endParaRPr lang="en-US" dirty="0"/>
          </a:p>
        </p:txBody>
      </p:sp>
      <p:sp>
        <p:nvSpPr>
          <p:cNvPr id="10" name="TextBox 9">
            <a:extLst>
              <a:ext uri="{FF2B5EF4-FFF2-40B4-BE49-F238E27FC236}">
                <a16:creationId xmlns:a16="http://schemas.microsoft.com/office/drawing/2014/main" id="{9DB20575-59A5-407C-197A-3A5E9449ECCB}"/>
              </a:ext>
            </a:extLst>
          </p:cNvPr>
          <p:cNvSpPr txBox="1"/>
          <p:nvPr/>
        </p:nvSpPr>
        <p:spPr>
          <a:xfrm>
            <a:off x="8794864" y="2341292"/>
            <a:ext cx="3397135" cy="1200329"/>
          </a:xfrm>
          <a:prstGeom prst="rect">
            <a:avLst/>
          </a:prstGeom>
          <a:noFill/>
        </p:spPr>
        <p:txBody>
          <a:bodyPr wrap="square" rtlCol="0">
            <a:spAutoFit/>
          </a:bodyPr>
          <a:lstStyle/>
          <a:p>
            <a:pPr marL="0" marR="0">
              <a:spcAft>
                <a:spcPts val="800"/>
              </a:spcAft>
              <a:buNone/>
            </a:pPr>
            <a:r>
              <a:rPr lang="en-US" sz="1800" i="1" kern="100" dirty="0">
                <a:effectLst/>
                <a:latin typeface="Times New Roman" panose="02020603050405020304" pitchFamily="18" charset="0"/>
                <a:ea typeface="Calibri" panose="020F0502020204030204" pitchFamily="34" charset="0"/>
                <a:cs typeface="Times New Roman" panose="02020603050405020304" pitchFamily="18" charset="0"/>
              </a:rPr>
              <a:t>Under the Guidance of</a:t>
            </a:r>
            <a:br>
              <a:rPr lang="en-US" sz="1800" i="1"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Dr. Ranjan Kumar Pradhan</a:t>
            </a:r>
            <a:br>
              <a:rPr lang="en-US" b="1" kern="100" dirty="0">
                <a:latin typeface="Calibri" panose="020F0502020204030204" pitchFamily="34" charset="0"/>
                <a:ea typeface="Calibri" panose="020F0502020204030204" pitchFamily="34" charset="0"/>
                <a:cs typeface="Times New Roman" panose="02020603050405020304" pitchFamily="18" charset="0"/>
              </a:rPr>
            </a:br>
            <a:r>
              <a:rPr lang="en-US" dirty="0"/>
              <a:t>(Associate Prof. &amp; Head, Department of Biotechnology)</a:t>
            </a:r>
          </a:p>
        </p:txBody>
      </p:sp>
      <p:sp>
        <p:nvSpPr>
          <p:cNvPr id="11" name="TextBox 10">
            <a:extLst>
              <a:ext uri="{FF2B5EF4-FFF2-40B4-BE49-F238E27FC236}">
                <a16:creationId xmlns:a16="http://schemas.microsoft.com/office/drawing/2014/main" id="{3189C67E-8E00-C1F5-0496-3E2904C9097A}"/>
              </a:ext>
            </a:extLst>
          </p:cNvPr>
          <p:cNvSpPr txBox="1"/>
          <p:nvPr/>
        </p:nvSpPr>
        <p:spPr>
          <a:xfrm>
            <a:off x="1754777" y="4929647"/>
            <a:ext cx="8682446" cy="1785104"/>
          </a:xfrm>
          <a:prstGeom prst="rect">
            <a:avLst/>
          </a:prstGeom>
          <a:noFill/>
        </p:spPr>
        <p:txBody>
          <a:bodyPr wrap="square" rtlCol="0">
            <a:spAutoFit/>
          </a:bodyPr>
          <a:lstStyle/>
          <a:p>
            <a:pPr marL="0" marR="0" algn="ctr">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DEPARTMENT OF BIOTECHNOLOGY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ODISHA UNIVERSITY OF TECHNOLOGY AND RESEARCH</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(Formerly College of Engineering &amp; Technology, Bhubaneswar)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Techno Campus, Mahalaxmi Vihar, Ghatikia, Bhubaneswar-751003 Odisha, India</a:t>
            </a:r>
            <a:b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57159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4" y="22569"/>
            <a:ext cx="2804160" cy="307777"/>
          </a:xfrm>
        </p:spPr>
        <p:txBody>
          <a:bodyPr>
            <a:noAutofit/>
          </a:bodyPr>
          <a:lstStyle/>
          <a:p>
            <a:pPr algn="l"/>
            <a:r>
              <a:rPr lang="en-US" sz="2800" b="1" dirty="0">
                <a:latin typeface="Times New Roman" panose="02020603050405020304" pitchFamily="18" charset="0"/>
                <a:cs typeface="Times New Roman" panose="02020603050405020304" pitchFamily="18" charset="0"/>
              </a:rPr>
              <a:t>WORK FLOW :</a:t>
            </a:r>
            <a:endParaRPr sz="2800" b="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294" y="4366340"/>
            <a:ext cx="2331023" cy="307777"/>
          </a:xfrm>
          <a:prstGeom prst="rect">
            <a:avLst/>
          </a:prstGeom>
          <a:noFill/>
        </p:spPr>
        <p:txBody>
          <a:bodyPr wrap="none">
            <a:spAutoFit/>
          </a:bodyPr>
          <a:lstStyle/>
          <a:p>
            <a:pPr>
              <a:defRPr b="1"/>
            </a:pPr>
            <a:r>
              <a:rPr lang="en-US" sz="1400" dirty="0">
                <a:latin typeface="Times New Roman" panose="02020603050405020304" pitchFamily="18" charset="0"/>
                <a:cs typeface="Times New Roman" panose="02020603050405020304" pitchFamily="18" charset="0"/>
              </a:rPr>
              <a:t>2D Image Data - </a:t>
            </a:r>
            <a:r>
              <a:rPr sz="1400" dirty="0">
                <a:latin typeface="Times New Roman" panose="02020603050405020304" pitchFamily="18" charset="0"/>
                <a:cs typeface="Times New Roman" panose="02020603050405020304" pitchFamily="18" charset="0"/>
              </a:rPr>
              <a:t>CT</a:t>
            </a:r>
            <a:r>
              <a:rPr lang="en-US" sz="1400" dirty="0">
                <a:latin typeface="Times New Roman" panose="02020603050405020304" pitchFamily="18" charset="0"/>
                <a:cs typeface="Times New Roman" panose="02020603050405020304" pitchFamily="18" charset="0"/>
              </a:rPr>
              <a:t> Scan…</a:t>
            </a:r>
            <a:endParaRPr sz="14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6670270" y="1990511"/>
            <a:ext cx="2818087" cy="523220"/>
          </a:xfrm>
          <a:prstGeom prst="rect">
            <a:avLst/>
          </a:prstGeom>
          <a:noFill/>
        </p:spPr>
        <p:txBody>
          <a:bodyPr wrap="square">
            <a:spAutoFit/>
          </a:bodyPr>
          <a:lstStyle/>
          <a:p>
            <a:pPr algn="ctr">
              <a:defRPr b="1"/>
            </a:pPr>
            <a:r>
              <a:rPr lang="en-US" sz="1400" dirty="0">
                <a:latin typeface="Times New Roman" panose="02020603050405020304" pitchFamily="18" charset="0"/>
                <a:cs typeface="Times New Roman" panose="02020603050405020304" pitchFamily="18" charset="0"/>
              </a:rPr>
              <a:t>Reconstructed Coronary M</a:t>
            </a:r>
            <a:r>
              <a:rPr sz="1400" dirty="0">
                <a:latin typeface="Times New Roman" panose="02020603050405020304" pitchFamily="18" charset="0"/>
                <a:cs typeface="Times New Roman" panose="02020603050405020304" pitchFamily="18" charset="0"/>
              </a:rPr>
              <a:t>odel</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from ‘Sim Vascular’</a:t>
            </a:r>
            <a:endParaRPr sz="14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DF52FDA2-B074-919B-0ED4-6558020968B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484" b="86794" l="0" r="95357">
                        <a14:foregroundMark x1="34196" y1="58065" x2="34196" y2="58065"/>
                        <a14:foregroundMark x1="33393" y1="63710" x2="28750" y2="30343"/>
                        <a14:foregroundMark x1="34643" y1="60282" x2="32411" y2="29032"/>
                        <a14:foregroundMark x1="34196" y1="66230" x2="28571" y2="28931"/>
                        <a14:foregroundMark x1="28571" y1="28931" x2="42500" y2="18952"/>
                        <a14:foregroundMark x1="42500" y1="18952" x2="74821" y2="17843"/>
                        <a14:foregroundMark x1="74821" y1="17843" x2="81875" y2="36089"/>
                        <a14:foregroundMark x1="81875" y1="36089" x2="79018" y2="45766"/>
                        <a14:foregroundMark x1="78750" y1="51109" x2="74018" y2="20363"/>
                        <a14:foregroundMark x1="76786" y1="44960" x2="68393" y2="12500"/>
                        <a14:foregroundMark x1="73571" y1="44657" x2="71339" y2="28427"/>
                        <a14:foregroundMark x1="73839" y1="54738" x2="78304" y2="34073"/>
                        <a14:foregroundMark x1="81250" y1="55242" x2="80268" y2="25605"/>
                        <a14:foregroundMark x1="33929" y1="14718" x2="29732" y2="27016"/>
                        <a14:foregroundMark x1="42054" y1="17540" x2="38393" y2="28427"/>
                        <a14:foregroundMark x1="51518" y1="17843" x2="35000" y2="16935"/>
                        <a14:foregroundMark x1="35000" y1="16935" x2="57411" y2="13004"/>
                        <a14:foregroundMark x1="78036" y1="13004" x2="78036" y2="13004"/>
                        <a14:foregroundMark x1="90446" y1="15020" x2="92768" y2="68347"/>
                        <a14:foregroundMark x1="92768" y1="68347" x2="81339" y2="83569"/>
                        <a14:foregroundMark x1="81339" y1="83569" x2="17857" y2="83871"/>
                        <a14:foregroundMark x1="17857" y1="83871" x2="10536" y2="48891"/>
                        <a14:foregroundMark x1="10536" y1="48891" x2="13661" y2="10383"/>
                        <a14:foregroundMark x1="13661" y1="10383" x2="42946" y2="12399"/>
                        <a14:foregroundMark x1="42946" y1="12399" x2="67321" y2="10383"/>
                        <a14:foregroundMark x1="67321" y1="10383" x2="87589" y2="10484"/>
                        <a14:foregroundMark x1="87589" y1="10484" x2="90893" y2="13609"/>
                        <a14:foregroundMark x1="7143" y1="8871" x2="12768" y2="84375"/>
                        <a14:foregroundMark x1="12768" y1="84375" x2="83929" y2="88508"/>
                        <a14:foregroundMark x1="83929" y1="88508" x2="93393" y2="71976"/>
                        <a14:foregroundMark x1="93393" y1="71976" x2="91071" y2="17036"/>
                        <a14:foregroundMark x1="91071" y1="17036" x2="0" y2="11694"/>
                        <a14:foregroundMark x1="0" y1="11694" x2="0" y2="11694"/>
                        <a14:foregroundMark x1="6696" y1="9173" x2="88929" y2="9173"/>
                        <a14:foregroundMark x1="88929" y1="9173" x2="95893" y2="35786"/>
                        <a14:foregroundMark x1="95893" y1="35786" x2="95536" y2="86290"/>
                        <a14:foregroundMark x1="95536" y1="86290" x2="19107" y2="86895"/>
                        <a14:foregroundMark x1="19107" y1="86895" x2="7411" y2="63609"/>
                        <a14:foregroundMark x1="7411" y1="63609" x2="6429" y2="11694"/>
                        <a14:foregroundMark x1="33393" y1="67339" x2="30179" y2="60282"/>
                        <a14:foregroundMark x1="24286" y1="64214" x2="23036" y2="64214"/>
                        <a14:foregroundMark x1="30714" y1="78528" x2="41786" y2="66431"/>
                        <a14:foregroundMark x1="41786" y1="66431" x2="31429" y2="72077"/>
                        <a14:foregroundMark x1="24018" y1="40423" x2="28482" y2="21875"/>
                        <a14:foregroundMark x1="28482" y1="21875" x2="30179" y2="25907"/>
                        <a14:foregroundMark x1="28214" y1="39012" x2="27500" y2="42137"/>
                        <a14:foregroundMark x1="54732" y1="70161" x2="54196" y2="67843"/>
                        <a14:foregroundMark x1="60446" y1="69859" x2="63393" y2="73488"/>
                        <a14:foregroundMark x1="7857" y1="78528" x2="8393" y2="86089"/>
                        <a14:foregroundMark x1="22054" y1="86290" x2="6875" y2="86089"/>
                        <a14:foregroundMark x1="6875" y1="86089" x2="6875" y2="85484"/>
                        <a14:foregroundMark x1="93393" y1="9173" x2="93393" y2="26109"/>
                        <a14:foregroundMark x1="93393" y1="26109" x2="91964" y2="9274"/>
                        <a14:foregroundMark x1="91964" y1="9274" x2="94196" y2="65121"/>
                        <a14:foregroundMark x1="94196" y1="65121" x2="95357" y2="40726"/>
                        <a14:foregroundMark x1="95357" y1="40726" x2="93125" y2="41532"/>
                        <a14:foregroundMark x1="25000" y1="60585" x2="26964" y2="58972"/>
                        <a14:foregroundMark x1="94018" y1="31351" x2="94732" y2="11089"/>
                      </a14:backgroundRemoval>
                    </a14:imgEffect>
                  </a14:imgLayer>
                </a14:imgProps>
              </a:ext>
            </a:extLst>
          </a:blip>
          <a:srcRect l="7167" t="10526" r="5751" b="14221"/>
          <a:stretch/>
        </p:blipFill>
        <p:spPr>
          <a:xfrm>
            <a:off x="103888" y="2765201"/>
            <a:ext cx="2005828" cy="1535245"/>
          </a:xfrm>
          <a:prstGeom prst="rect">
            <a:avLst/>
          </a:prstGeom>
        </p:spPr>
      </p:pic>
      <p:sp>
        <p:nvSpPr>
          <p:cNvPr id="24" name="TextBox 23">
            <a:extLst>
              <a:ext uri="{FF2B5EF4-FFF2-40B4-BE49-F238E27FC236}">
                <a16:creationId xmlns:a16="http://schemas.microsoft.com/office/drawing/2014/main" id="{9194A46A-FD29-903E-F9CA-51F40FDF20E1}"/>
              </a:ext>
            </a:extLst>
          </p:cNvPr>
          <p:cNvSpPr txBox="1"/>
          <p:nvPr/>
        </p:nvSpPr>
        <p:spPr>
          <a:xfrm>
            <a:off x="11425819" y="4089342"/>
            <a:ext cx="810970" cy="584775"/>
          </a:xfrm>
          <a:prstGeom prst="rect">
            <a:avLst/>
          </a:prstGeom>
          <a:noFill/>
        </p:spPr>
        <p:txBody>
          <a:bodyPr wrap="square">
            <a:spAutoFit/>
          </a:bodyPr>
          <a:lstStyle/>
          <a:p>
            <a:pPr>
              <a:defRPr b="1"/>
            </a:pPr>
            <a:r>
              <a:rPr lang="en-US" sz="1600" dirty="0">
                <a:latin typeface="Times New Roman" panose="02020603050405020304" pitchFamily="18" charset="0"/>
                <a:cs typeface="Times New Roman" panose="02020603050405020304" pitchFamily="18" charset="0"/>
              </a:rPr>
              <a:t>Mesh</a:t>
            </a:r>
            <a:r>
              <a:rPr sz="1600" dirty="0">
                <a:latin typeface="Times New Roman" panose="02020603050405020304" pitchFamily="18" charset="0"/>
                <a:cs typeface="Times New Roman" panose="02020603050405020304" pitchFamily="18" charset="0"/>
              </a:rPr>
              <a:t> model</a:t>
            </a:r>
          </a:p>
        </p:txBody>
      </p:sp>
      <p:sp>
        <p:nvSpPr>
          <p:cNvPr id="33" name="TextBox 32">
            <a:extLst>
              <a:ext uri="{FF2B5EF4-FFF2-40B4-BE49-F238E27FC236}">
                <a16:creationId xmlns:a16="http://schemas.microsoft.com/office/drawing/2014/main" id="{349C7F55-A916-9F73-7DE1-7BB3369B2B26}"/>
              </a:ext>
            </a:extLst>
          </p:cNvPr>
          <p:cNvSpPr txBox="1"/>
          <p:nvPr/>
        </p:nvSpPr>
        <p:spPr>
          <a:xfrm>
            <a:off x="2454267" y="6211669"/>
            <a:ext cx="2458628" cy="646331"/>
          </a:xfrm>
          <a:prstGeom prst="rect">
            <a:avLst/>
          </a:prstGeom>
          <a:noFill/>
        </p:spPr>
        <p:txBody>
          <a:bodyPr wrap="square">
            <a:spAutoFit/>
          </a:bodyPr>
          <a:lstStyle/>
          <a:p>
            <a:pPr>
              <a:defRPr b="1"/>
            </a:pPr>
            <a:r>
              <a:rPr lang="en-US" dirty="0"/>
              <a:t>Hemodynamic Flow Analysis</a:t>
            </a:r>
            <a:endParaRPr dirty="0"/>
          </a:p>
        </p:txBody>
      </p:sp>
      <p:cxnSp>
        <p:nvCxnSpPr>
          <p:cNvPr id="3" name="Connector: Curved 2">
            <a:extLst>
              <a:ext uri="{FF2B5EF4-FFF2-40B4-BE49-F238E27FC236}">
                <a16:creationId xmlns:a16="http://schemas.microsoft.com/office/drawing/2014/main" id="{5475AE6F-D439-2907-7839-8B5111B86F6E}"/>
              </a:ext>
            </a:extLst>
          </p:cNvPr>
          <p:cNvCxnSpPr>
            <a:cxnSpLocks/>
            <a:stCxn id="7" idx="3"/>
            <a:endCxn id="8" idx="0"/>
          </p:cNvCxnSpPr>
          <p:nvPr/>
        </p:nvCxnSpPr>
        <p:spPr>
          <a:xfrm>
            <a:off x="9064083" y="1027381"/>
            <a:ext cx="2295712" cy="1326543"/>
          </a:xfrm>
          <a:prstGeom prst="curved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53E88BC5-5A64-8862-4409-4CF1C100B2EB}"/>
              </a:ext>
            </a:extLst>
          </p:cNvPr>
          <p:cNvPicPr>
            <a:picLocks noChangeAspect="1"/>
          </p:cNvPicPr>
          <p:nvPr/>
        </p:nvPicPr>
        <p:blipFill>
          <a:blip r:embed="rId4"/>
          <a:stretch>
            <a:fillRect/>
          </a:stretch>
        </p:blipFill>
        <p:spPr>
          <a:xfrm>
            <a:off x="6966924" y="4530728"/>
            <a:ext cx="3115360" cy="2107489"/>
          </a:xfrm>
          <a:prstGeom prst="rect">
            <a:avLst/>
          </a:prstGeom>
        </p:spPr>
      </p:pic>
      <p:pic>
        <p:nvPicPr>
          <p:cNvPr id="7" name="Picture 6">
            <a:extLst>
              <a:ext uri="{FF2B5EF4-FFF2-40B4-BE49-F238E27FC236}">
                <a16:creationId xmlns:a16="http://schemas.microsoft.com/office/drawing/2014/main" id="{4646C1AF-7F36-F0E8-E4D7-4B0E85B31571}"/>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5727" b="97687" l="9924" r="95929">
                        <a14:foregroundMark x1="28499" y1="17511" x2="29771" y2="26872"/>
                        <a14:foregroundMark x1="29771" y1="26432" x2="29135" y2="20815"/>
                        <a14:foregroundMark x1="28212" y1="18527" x2="27990" y2="16630"/>
                        <a14:foregroundMark x1="29135" y1="26432" x2="28360" y2="19794"/>
                        <a14:foregroundMark x1="30280" y1="8921" x2="30280" y2="8921"/>
                        <a14:foregroundMark x1="30280" y1="8921" x2="30280" y2="8921"/>
                        <a14:foregroundMark x1="14885" y1="55837" x2="17303" y2="63326"/>
                        <a14:foregroundMark x1="17303" y1="63326" x2="22137" y2="68943"/>
                        <a14:foregroundMark x1="22137" y1="68943" x2="22137" y2="69053"/>
                        <a14:foregroundMark x1="27357" y1="69824" x2="28652" y2="69984"/>
                        <a14:foregroundMark x1="22010" y1="69163" x2="27357" y2="69824"/>
                        <a14:foregroundMark x1="89075" y1="46611" x2="91730" y2="49559"/>
                        <a14:foregroundMark x1="87111" y1="44431" x2="88150" y2="45585"/>
                        <a14:foregroundMark x1="85878" y1="43062" x2="86338" y2="43573"/>
                        <a14:foregroundMark x1="91730" y1="49559" x2="89313" y2="47137"/>
                        <a14:foregroundMark x1="94529" y1="53855" x2="95929" y2="54405"/>
                        <a14:foregroundMark x1="90967" y1="66300" x2="90840" y2="66740"/>
                        <a14:foregroundMark x1="90840" y1="64427" x2="90840" y2="63767"/>
                        <a14:foregroundMark x1="90840" y1="65859" x2="90840" y2="63381"/>
                        <a14:foregroundMark x1="71628" y1="88326" x2="71628" y2="88326"/>
                        <a14:foregroundMark x1="71628" y1="88326" x2="71628" y2="88326"/>
                        <a14:foregroundMark x1="71756" y1="92181" x2="71756" y2="92181"/>
                        <a14:foregroundMark x1="69975" y1="93722" x2="69975" y2="93722"/>
                        <a14:foregroundMark x1="69975" y1="96476" x2="69975" y2="96476"/>
                        <a14:foregroundMark x1="71247" y1="97357" x2="71247" y2="97357"/>
                        <a14:foregroundMark x1="71247" y1="97357" x2="71247" y2="97357"/>
                        <a14:foregroundMark x1="72010" y1="97687" x2="72010" y2="97687"/>
                        <a14:foregroundMark x1="72010" y1="97687" x2="72010" y2="97687"/>
                        <a14:foregroundMark x1="69720" y1="96916" x2="69720" y2="96916"/>
                        <a14:foregroundMark x1="69593" y1="95485" x2="69593" y2="95485"/>
                        <a14:foregroundMark x1="36260" y1="37004" x2="36768" y2="41079"/>
                        <a14:foregroundMark x1="28774" y1="34643" x2="20339" y2="35801"/>
                        <a14:foregroundMark x1="21883" y1="37665" x2="29644" y2="34251"/>
                        <a14:foregroundMark x1="29644" y1="34251" x2="31043" y2="34031"/>
                        <a14:foregroundMark x1="23076" y1="39688" x2="20483" y2="39427"/>
                        <a14:foregroundMark x1="25954" y1="39978" x2="23747" y2="39756"/>
                        <a14:foregroundMark x1="16285" y1="55727" x2="15776" y2="52093"/>
                        <a14:foregroundMark x1="16285" y1="54405" x2="16285" y2="52643"/>
                        <a14:foregroundMark x1="54326" y1="30396" x2="59160" y2="28744"/>
                        <a14:foregroundMark x1="53944" y1="31498" x2="58906" y2="30066"/>
                        <a14:foregroundMark x1="67303" y1="37996" x2="68048" y2="39268"/>
                        <a14:foregroundMark x1="71121" y1="47519" x2="70229" y2="50220"/>
                        <a14:foregroundMark x1="71417" y1="46623" x2="71140" y2="47461"/>
                        <a14:foregroundMark x1="70102" y1="41300" x2="71120" y2="42291"/>
                        <a14:foregroundMark x1="17176" y1="63326" x2="21501" y2="68612"/>
                        <a14:foregroundMark x1="22646" y1="69714" x2="26336" y2="69714"/>
                        <a14:foregroundMark x1="33211" y1="70215" x2="29262" y2="69383"/>
                        <a14:foregroundMark x1="34711" y1="70531" x2="33246" y2="70222"/>
                        <a14:foregroundMark x1="29262" y1="69383" x2="28626" y2="69714"/>
                        <a14:foregroundMark x1="71999" y1="32760" x2="74173" y2="33921"/>
                        <a14:foregroundMark x1="68193" y1="30727" x2="70425" y2="31919"/>
                        <a14:foregroundMark x1="72519" y1="32819" x2="70611" y2="31608"/>
                        <a14:foregroundMark x1="85751" y1="42952" x2="83206" y2="41189"/>
                        <a14:foregroundMark x1="90331" y1="66300" x2="90331" y2="63436"/>
                        <a14:foregroundMark x1="90967" y1="65419" x2="90967" y2="63987"/>
                        <a14:foregroundMark x1="90967" y1="65749" x2="90712" y2="63987"/>
                        <a14:foregroundMark x1="90967" y1="64648" x2="90967" y2="64648"/>
                        <a14:foregroundMark x1="90967" y1="64648" x2="90967" y2="64648"/>
                        <a14:foregroundMark x1="90967" y1="65198" x2="90967" y2="65198"/>
                        <a14:foregroundMark x1="90967" y1="64978" x2="90967" y2="64978"/>
                        <a14:foregroundMark x1="90967" y1="64978" x2="90967" y2="64978"/>
                        <a14:foregroundMark x1="90967" y1="64978" x2="90967" y2="64978"/>
                        <a14:foregroundMark x1="90967" y1="64427" x2="90967" y2="64427"/>
                        <a14:foregroundMark x1="90967" y1="64427" x2="90967" y2="64427"/>
                        <a14:foregroundMark x1="90967" y1="64427" x2="90967" y2="64427"/>
                        <a14:foregroundMark x1="91094" y1="64427" x2="91094" y2="64427"/>
                        <a14:foregroundMark x1="91094" y1="65088" x2="91094" y2="65088"/>
                        <a14:foregroundMark x1="91094" y1="65088" x2="91094" y2="65088"/>
                        <a14:foregroundMark x1="90967" y1="64317" x2="90967" y2="64317"/>
                        <a14:foregroundMark x1="90967" y1="64317" x2="90967" y2="64317"/>
                        <a14:foregroundMark x1="90967" y1="64317" x2="90967" y2="64317"/>
                        <a14:foregroundMark x1="90967" y1="64317" x2="90967" y2="64317"/>
                        <a14:foregroundMark x1="90967" y1="64868" x2="90967" y2="64868"/>
                        <a14:foregroundMark x1="91094" y1="64648" x2="91094" y2="64648"/>
                        <a14:foregroundMark x1="91094" y1="64648" x2="91094" y2="64648"/>
                        <a14:foregroundMark x1="91094" y1="64978" x2="90712" y2="64097"/>
                        <a14:foregroundMark x1="94949" y1="54405" x2="95674" y2="55286"/>
                        <a14:foregroundMark x1="88683" y1="46795" x2="94949" y2="54405"/>
                        <a14:foregroundMark x1="71501" y1="46476" x2="71262" y2="46145"/>
                        <a14:foregroundMark x1="70067" y1="37943" x2="74046" y2="38546"/>
                        <a14:backgroundMark x1="83588" y1="46586" x2="89122" y2="50547"/>
                        <a14:backgroundMark x1="81807" y1="59692" x2="81807" y2="60463"/>
                        <a14:backgroundMark x1="81807" y1="66520" x2="75700" y2="52533"/>
                        <a14:backgroundMark x1="88677" y1="69383" x2="88677" y2="66520"/>
                        <a14:backgroundMark x1="65522" y1="61784" x2="49237" y2="51322"/>
                        <a14:backgroundMark x1="61705" y1="47137" x2="62214" y2="33811"/>
                        <a14:backgroundMark x1="44784" y1="58260" x2="26972" y2="47137"/>
                        <a14:backgroundMark x1="29771" y1="43833" x2="29771" y2="37004"/>
                        <a14:backgroundMark x1="36514" y1="61233" x2="20992" y2="52643"/>
                        <a14:backgroundMark x1="27481" y1="45815" x2="28626" y2="43062"/>
                        <a14:backgroundMark x1="28244" y1="49670" x2="34224" y2="40198"/>
                        <a14:backgroundMark x1="30025" y1="48238" x2="28117" y2="42731"/>
                        <a14:backgroundMark x1="31043" y1="48348" x2="30662" y2="48458"/>
                        <a14:backgroundMark x1="30662" y1="48458" x2="27481" y2="42621"/>
                        <a14:backgroundMark x1="37023" y1="64427" x2="44402" y2="50661"/>
                        <a14:backgroundMark x1="37532" y1="62555" x2="30280" y2="48568"/>
                        <a14:backgroundMark x1="43766" y1="66189" x2="35751" y2="65198"/>
                        <a14:backgroundMark x1="39949" y1="67621" x2="39949" y2="67621"/>
                        <a14:backgroundMark x1="40331" y1="67621" x2="40331" y2="67621"/>
                        <a14:backgroundMark x1="40458" y1="67621" x2="40458" y2="67621"/>
                        <a14:backgroundMark x1="40585" y1="67841" x2="40585" y2="67841"/>
                        <a14:backgroundMark x1="40712" y1="67952" x2="40585" y2="68282"/>
                        <a14:backgroundMark x1="38804" y1="64978" x2="37786" y2="62775"/>
                        <a14:backgroundMark x1="40840" y1="68722" x2="39949" y2="65529"/>
                        <a14:backgroundMark x1="39695" y1="67731" x2="40458" y2="66300"/>
                        <a14:backgroundMark x1="40840" y1="68062" x2="39313" y2="65198"/>
                        <a14:backgroundMark x1="35115" y1="73238" x2="35115" y2="73238"/>
                        <a14:backgroundMark x1="34478" y1="72907" x2="33519" y2="71699"/>
                        <a14:backgroundMark x1="44402" y1="72026" x2="57252" y2="67621"/>
                        <a14:backgroundMark x1="53817" y1="67841" x2="53817" y2="67401"/>
                        <a14:backgroundMark x1="55725" y1="67291" x2="51654" y2="67291"/>
                        <a14:backgroundMark x1="20865" y1="63106" x2="21120" y2="62335"/>
                        <a14:backgroundMark x1="28117" y1="35683" x2="28802" y2="35527"/>
                        <a14:backgroundMark x1="17303" y1="49339" x2="17303" y2="49339"/>
                        <a14:backgroundMark x1="17303" y1="49119" x2="17303" y2="49119"/>
                        <a14:backgroundMark x1="17303" y1="48018" x2="17303" y2="48018"/>
                        <a14:backgroundMark x1="17557" y1="47357" x2="17557" y2="47357"/>
                        <a14:backgroundMark x1="17684" y1="47137" x2="17684" y2="47137"/>
                        <a14:backgroundMark x1="17684" y1="47137" x2="17684" y2="46586"/>
                        <a14:backgroundMark x1="69934" y1="43036" x2="70356" y2="43833"/>
                        <a14:backgroundMark x1="68957" y1="41189" x2="69287" y2="41812"/>
                        <a14:backgroundMark x1="69847" y1="41740" x2="68193" y2="40419"/>
                        <a14:backgroundMark x1="24555" y1="41079" x2="23791" y2="40859"/>
                        <a14:backgroundMark x1="20102" y1="35573" x2="19593" y2="35793"/>
                        <a14:backgroundMark x1="20229" y1="35793" x2="20229" y2="35793"/>
                        <a14:backgroundMark x1="31934" y1="5837" x2="32570" y2="5837"/>
                        <a14:backgroundMark x1="27990" y1="18833" x2="27735" y2="17291"/>
                        <a14:backgroundMark x1="29008" y1="26652" x2="27863" y2="16850"/>
                        <a14:backgroundMark x1="69466" y1="97247" x2="69466" y2="97247"/>
                        <a14:backgroundMark x1="31934" y1="72357" x2="35496" y2="71916"/>
                        <a14:backgroundMark x1="32316" y1="72467" x2="30025" y2="70815"/>
                        <a14:backgroundMark x1="31298" y1="71696" x2="41349" y2="72247"/>
                        <a14:backgroundMark x1="34097" y1="71366" x2="34351" y2="71035"/>
                        <a14:backgroundMark x1="33079" y1="71916" x2="35369" y2="70485"/>
                        <a14:backgroundMark x1="34097" y1="72247" x2="33461" y2="70815"/>
                        <a14:backgroundMark x1="41476" y1="72026" x2="45420" y2="71035"/>
                        <a14:backgroundMark x1="29389" y1="70264" x2="29389" y2="70264"/>
                        <a14:backgroundMark x1="66539" y1="31938" x2="67303" y2="32489"/>
                        <a14:backgroundMark x1="71116" y1="32571" x2="70611" y2="32269"/>
                        <a14:backgroundMark x1="77099" y1="41410" x2="76972" y2="40969"/>
                        <a14:backgroundMark x1="85878" y1="43943" x2="86896" y2="44604"/>
                        <a14:backgroundMark x1="96183" y1="54405" x2="96183" y2="54405"/>
                        <a14:backgroundMark x1="95674" y1="55286" x2="95674" y2="55286"/>
                        <a14:backgroundMark x1="87659" y1="45815" x2="88422" y2="46916"/>
                        <a14:backgroundMark x1="70992" y1="43943" x2="70738" y2="45705"/>
                        <a14:backgroundMark x1="70992" y1="45595" x2="70992" y2="46145"/>
                        <a14:backgroundMark x1="70738" y1="46476" x2="70738" y2="46366"/>
                        <a14:backgroundMark x1="70865" y1="39427" x2="68321" y2="37996"/>
                      </a14:backgroundRemoval>
                    </a14:imgEffect>
                  </a14:imgLayer>
                </a14:imgProps>
              </a:ext>
            </a:extLst>
          </a:blip>
          <a:stretch>
            <a:fillRect/>
          </a:stretch>
        </p:blipFill>
        <p:spPr>
          <a:xfrm>
            <a:off x="7019603" y="-26486"/>
            <a:ext cx="2044480" cy="2107733"/>
          </a:xfrm>
          <a:prstGeom prst="rect">
            <a:avLst/>
          </a:prstGeom>
        </p:spPr>
      </p:pic>
      <p:pic>
        <p:nvPicPr>
          <p:cNvPr id="8" name="Picture 7">
            <a:extLst>
              <a:ext uri="{FF2B5EF4-FFF2-40B4-BE49-F238E27FC236}">
                <a16:creationId xmlns:a16="http://schemas.microsoft.com/office/drawing/2014/main" id="{65083C4B-2BDB-DC10-9E60-10CFF90A63D0}"/>
              </a:ext>
            </a:extLst>
          </p:cNvPr>
          <p:cNvPicPr>
            <a:picLocks noChangeAspect="1"/>
          </p:cNvPicPr>
          <p:nvPr/>
        </p:nvPicPr>
        <p:blipFill>
          <a:blip r:embed="rId7"/>
          <a:stretch>
            <a:fillRect/>
          </a:stretch>
        </p:blipFill>
        <p:spPr>
          <a:xfrm>
            <a:off x="10337555" y="2353924"/>
            <a:ext cx="2044480" cy="2211250"/>
          </a:xfrm>
          <a:prstGeom prst="rect">
            <a:avLst/>
          </a:prstGeom>
        </p:spPr>
      </p:pic>
      <p:pic>
        <p:nvPicPr>
          <p:cNvPr id="11" name="Picture 10">
            <a:extLst>
              <a:ext uri="{FF2B5EF4-FFF2-40B4-BE49-F238E27FC236}">
                <a16:creationId xmlns:a16="http://schemas.microsoft.com/office/drawing/2014/main" id="{506A6BB0-4DA8-F833-67FA-1D809632317C}"/>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26710" t="7878" r="26273"/>
          <a:stretch/>
        </p:blipFill>
        <p:spPr bwMode="auto">
          <a:xfrm>
            <a:off x="3574853" y="4350952"/>
            <a:ext cx="2257734" cy="2542192"/>
          </a:xfrm>
          <a:prstGeom prst="rect">
            <a:avLst/>
          </a:prstGeom>
          <a:ln>
            <a:noFill/>
          </a:ln>
          <a:extLst>
            <a:ext uri="{53640926-AAD7-44D8-BBD7-CCE9431645EC}">
              <a14:shadowObscured xmlns:a14="http://schemas.microsoft.com/office/drawing/2010/main"/>
            </a:ext>
          </a:extLst>
        </p:spPr>
      </p:pic>
      <p:cxnSp>
        <p:nvCxnSpPr>
          <p:cNvPr id="15" name="Connector: Curved 14">
            <a:extLst>
              <a:ext uri="{FF2B5EF4-FFF2-40B4-BE49-F238E27FC236}">
                <a16:creationId xmlns:a16="http://schemas.microsoft.com/office/drawing/2014/main" id="{CDFB102B-CAA7-1990-1C92-402BA0FFF9BD}"/>
              </a:ext>
            </a:extLst>
          </p:cNvPr>
          <p:cNvCxnSpPr>
            <a:cxnSpLocks/>
            <a:stCxn id="8" idx="2"/>
            <a:endCxn id="12" idx="3"/>
          </p:cNvCxnSpPr>
          <p:nvPr/>
        </p:nvCxnSpPr>
        <p:spPr>
          <a:xfrm rot="5400000">
            <a:off x="10211391" y="4436068"/>
            <a:ext cx="1019299" cy="1277511"/>
          </a:xfrm>
          <a:prstGeom prst="curved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95A6D3C-9752-9F5E-7F1C-73A0AACC2629}"/>
              </a:ext>
            </a:extLst>
          </p:cNvPr>
          <p:cNvCxnSpPr>
            <a:cxnSpLocks/>
            <a:stCxn id="12" idx="1"/>
            <a:endCxn id="11" idx="3"/>
          </p:cNvCxnSpPr>
          <p:nvPr/>
        </p:nvCxnSpPr>
        <p:spPr>
          <a:xfrm flipH="1">
            <a:off x="5832587" y="5584473"/>
            <a:ext cx="1134337" cy="3757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nvGrpSpPr>
          <p:cNvPr id="46" name="Group 45">
            <a:extLst>
              <a:ext uri="{FF2B5EF4-FFF2-40B4-BE49-F238E27FC236}">
                <a16:creationId xmlns:a16="http://schemas.microsoft.com/office/drawing/2014/main" id="{AB12FA24-F26D-8297-FA2A-DF59EBC3BB1B}"/>
              </a:ext>
            </a:extLst>
          </p:cNvPr>
          <p:cNvGrpSpPr/>
          <p:nvPr/>
        </p:nvGrpSpPr>
        <p:grpSpPr>
          <a:xfrm>
            <a:off x="2923465" y="101627"/>
            <a:ext cx="2924547" cy="1955543"/>
            <a:chOff x="2450541" y="33325"/>
            <a:chExt cx="2924547" cy="1955543"/>
          </a:xfrm>
        </p:grpSpPr>
        <p:pic>
          <p:nvPicPr>
            <p:cNvPr id="23" name="Picture 22">
              <a:extLst>
                <a:ext uri="{FF2B5EF4-FFF2-40B4-BE49-F238E27FC236}">
                  <a16:creationId xmlns:a16="http://schemas.microsoft.com/office/drawing/2014/main" id="{247550D9-1ABC-77F1-B60F-9149518D9A55}"/>
                </a:ext>
              </a:extLst>
            </p:cNvPr>
            <p:cNvPicPr>
              <a:picLocks noChangeAspect="1"/>
            </p:cNvPicPr>
            <p:nvPr/>
          </p:nvPicPr>
          <p:blipFill>
            <a:blip r:embed="rId9"/>
            <a:srcRect l="13270" r="6844"/>
            <a:stretch/>
          </p:blipFill>
          <p:spPr>
            <a:xfrm>
              <a:off x="2450541" y="33325"/>
              <a:ext cx="1359313" cy="1955543"/>
            </a:xfrm>
            <a:prstGeom prst="rect">
              <a:avLst/>
            </a:prstGeom>
          </p:spPr>
        </p:pic>
        <p:pic>
          <p:nvPicPr>
            <p:cNvPr id="26" name="Picture 25">
              <a:extLst>
                <a:ext uri="{FF2B5EF4-FFF2-40B4-BE49-F238E27FC236}">
                  <a16:creationId xmlns:a16="http://schemas.microsoft.com/office/drawing/2014/main" id="{08E91C1E-B7F5-5543-064A-6D8CB30F1941}"/>
                </a:ext>
              </a:extLst>
            </p:cNvPr>
            <p:cNvPicPr>
              <a:picLocks noChangeAspect="1"/>
            </p:cNvPicPr>
            <p:nvPr/>
          </p:nvPicPr>
          <p:blipFill>
            <a:blip r:embed="rId10"/>
            <a:srcRect l="7029"/>
            <a:stretch/>
          </p:blipFill>
          <p:spPr>
            <a:xfrm>
              <a:off x="3958181" y="41367"/>
              <a:ext cx="1416907" cy="1947497"/>
            </a:xfrm>
            <a:prstGeom prst="rect">
              <a:avLst/>
            </a:prstGeom>
          </p:spPr>
        </p:pic>
      </p:grpSp>
      <p:cxnSp>
        <p:nvCxnSpPr>
          <p:cNvPr id="32" name="Connector: Curved 31">
            <a:extLst>
              <a:ext uri="{FF2B5EF4-FFF2-40B4-BE49-F238E27FC236}">
                <a16:creationId xmlns:a16="http://schemas.microsoft.com/office/drawing/2014/main" id="{EC475571-E4AE-BF18-B7AA-F89B15B780D6}"/>
              </a:ext>
            </a:extLst>
          </p:cNvPr>
          <p:cNvCxnSpPr>
            <a:cxnSpLocks/>
            <a:stCxn id="14" idx="0"/>
            <a:endCxn id="23" idx="1"/>
          </p:cNvCxnSpPr>
          <p:nvPr/>
        </p:nvCxnSpPr>
        <p:spPr>
          <a:xfrm rot="5400000" flipH="1" flipV="1">
            <a:off x="1172232" y="1013969"/>
            <a:ext cx="1685802" cy="1816663"/>
          </a:xfrm>
          <a:prstGeom prst="curved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DC0A7B41-1020-14FE-89D5-2ED83E061FB8}"/>
              </a:ext>
            </a:extLst>
          </p:cNvPr>
          <p:cNvCxnSpPr>
            <a:cxnSpLocks/>
          </p:cNvCxnSpPr>
          <p:nvPr/>
        </p:nvCxnSpPr>
        <p:spPr>
          <a:xfrm flipV="1">
            <a:off x="5920374" y="1079398"/>
            <a:ext cx="1349909" cy="2210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C4A98C60-968D-B6E3-218A-7A4FEDB4B680}"/>
              </a:ext>
            </a:extLst>
          </p:cNvPr>
          <p:cNvSpPr txBox="1"/>
          <p:nvPr/>
        </p:nvSpPr>
        <p:spPr>
          <a:xfrm>
            <a:off x="2694716" y="2092314"/>
            <a:ext cx="3382046" cy="523220"/>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Creating the Paths and Segmentations of the Coronary Arterial Tree.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433FB-976D-FD97-4EA2-C86CB65AFEFC}"/>
              </a:ext>
            </a:extLst>
          </p:cNvPr>
          <p:cNvSpPr>
            <a:spLocks noGrp="1"/>
          </p:cNvSpPr>
          <p:nvPr>
            <p:ph type="title"/>
          </p:nvPr>
        </p:nvSpPr>
        <p:spPr>
          <a:xfrm>
            <a:off x="0" y="18256"/>
            <a:ext cx="12192000" cy="662781"/>
          </a:xfrm>
        </p:spPr>
        <p:txBody>
          <a:bodyPr>
            <a:normAutofit fontScale="90000"/>
          </a:bodyPr>
          <a:lstStyle/>
          <a:p>
            <a:r>
              <a:rPr lang="en-US" sz="4400" b="1" dirty="0">
                <a:latin typeface="Times New Roman" panose="02020603050405020304" pitchFamily="18" charset="0"/>
                <a:cs typeface="Times New Roman" panose="02020603050405020304" pitchFamily="18" charset="0"/>
              </a:rPr>
              <a:t>3-Dimensional Coronary Arterial Tree Model</a:t>
            </a:r>
            <a:endParaRPr lang="en-US" dirty="0"/>
          </a:p>
        </p:txBody>
      </p:sp>
      <p:pic>
        <p:nvPicPr>
          <p:cNvPr id="4" name="Content Placeholder 3">
            <a:extLst>
              <a:ext uri="{FF2B5EF4-FFF2-40B4-BE49-F238E27FC236}">
                <a16:creationId xmlns:a16="http://schemas.microsoft.com/office/drawing/2014/main" id="{6C70C6BC-F59D-CBFE-FF89-C4E2C29A337B}"/>
              </a:ext>
            </a:extLst>
          </p:cNvPr>
          <p:cNvPicPr>
            <a:picLocks noGrp="1" noChangeAspect="1"/>
          </p:cNvPicPr>
          <p:nvPr>
            <p:ph idx="1"/>
          </p:nvPr>
        </p:nvPicPr>
        <p:blipFill rotWithShape="1">
          <a:blip r:embed="rId2">
            <a:duotone>
              <a:prstClr val="black"/>
              <a:srgbClr val="FFC000">
                <a:tint val="45000"/>
                <a:satMod val="400000"/>
              </a:srgbClr>
            </a:duotone>
            <a:extLst>
              <a:ext uri="{BEBA8EAE-BF5A-486C-A8C5-ECC9F3942E4B}">
                <a14:imgProps xmlns:a14="http://schemas.microsoft.com/office/drawing/2010/main">
                  <a14:imgLayer r:embed="rId3">
                    <a14:imgEffect>
                      <a14:backgroundRemoval t="5000" b="97551" l="9927" r="95402">
                        <a14:foregroundMark x1="35977" y1="9768" x2="36364" y2="5000"/>
                        <a14:foregroundMark x1="35005" y1="21735" x2="35047" y2="21217"/>
                        <a14:foregroundMark x1="22989" y1="46633" x2="25914" y2="50918"/>
                        <a14:foregroundMark x1="21630" y1="57449" x2="28109" y2="75102"/>
                        <a14:foregroundMark x1="27168" y1="71224" x2="25287" y2="67653"/>
                        <a14:foregroundMark x1="26123" y1="70000" x2="25392" y2="68061"/>
                        <a14:foregroundMark x1="25392" y1="68061" x2="24347" y2="66633"/>
                        <a14:foregroundMark x1="22257" y1="58265" x2="21317" y2="57857"/>
                        <a14:foregroundMark x1="22884" y1="60306" x2="22257" y2="57347"/>
                        <a14:foregroundMark x1="21630" y1="59286" x2="21317" y2="56837"/>
                        <a14:foregroundMark x1="50261" y1="89490" x2="48171" y2="97653"/>
                        <a14:foregroundMark x1="52826" y1="96273" x2="54023" y2="95918"/>
                        <a14:foregroundMark x1="48171" y1="97653" x2="49498" y2="97260"/>
                        <a14:foregroundMark x1="73145" y1="48163" x2="72414" y2="48061"/>
                        <a14:foregroundMark x1="68652" y1="36020" x2="69642" y2="36745"/>
                        <a14:foregroundMark x1="74805" y1="42225" x2="74504" y2="42959"/>
                        <a14:foregroundMark x1="73563" y1="37245" x2="74022" y2="37518"/>
                        <a14:foregroundMark x1="83188" y1="47567" x2="83386" y2="48061"/>
                        <a14:foregroundMark x1="78450" y1="35725" x2="80343" y2="40455"/>
                        <a14:foregroundMark x1="23720" y1="44694" x2="23720" y2="44694"/>
                        <a14:foregroundMark x1="23720" y1="37857" x2="23720" y2="37857"/>
                        <a14:foregroundMark x1="24660" y1="37449" x2="24660" y2="37449"/>
                        <a14:foregroundMark x1="51411" y1="57857" x2="53918" y2="57041"/>
                        <a14:foregroundMark x1="63240" y1="30714" x2="64577" y2="31122"/>
                        <a14:foregroundMark x1="57889" y1="29082" x2="58352" y2="29223"/>
                        <a14:foregroundMark x1="75344" y1="40612" x2="75316" y2="40266"/>
                        <a14:foregroundMark x1="75444" y1="41837" x2="75344" y2="40612"/>
                        <a14:foregroundMark x1="75967" y1="40918" x2="75967" y2="40612"/>
                        <a14:foregroundMark x1="39698" y1="57089" x2="41797" y2="57041"/>
                        <a14:foregroundMark x1="32811" y1="57245" x2="36030" y2="57172"/>
                        <a14:foregroundMark x1="41797" y1="57041" x2="44096" y2="57449"/>
                        <a14:foregroundMark x1="40125" y1="56939" x2="46917" y2="58776"/>
                        <a14:foregroundMark x1="47335" y1="58878" x2="49207" y2="59682"/>
                        <a14:foregroundMark x1="51620" y1="58571" x2="51620" y2="58571"/>
                        <a14:foregroundMark x1="50206" y1="92758" x2="50157" y2="92857"/>
                        <a14:foregroundMark x1="48798" y1="95612" x2="49766" y2="93649"/>
                        <a14:foregroundMark x1="36782" y1="56429" x2="38662" y2="56429"/>
                        <a14:foregroundMark x1="39498" y1="56429" x2="36259" y2="56735"/>
                        <a14:foregroundMark x1="41066" y1="57245" x2="38245" y2="56837"/>
                        <a14:foregroundMark x1="39080" y1="56939" x2="33438" y2="56735"/>
                        <a14:foregroundMark x1="40752" y1="57449" x2="32079" y2="57347"/>
                        <a14:foregroundMark x1="38349" y1="57449" x2="33333" y2="57755"/>
                        <a14:foregroundMark x1="95402" y1="12755" x2="95402" y2="12755"/>
                        <a14:foregroundMark x1="35385" y1="21211" x2="35423" y2="21633"/>
                        <a14:foregroundMark x1="35846" y1="21203" x2="36050" y2="22653"/>
                        <a14:foregroundMark x1="36050" y1="22653" x2="35183" y2="21214"/>
                        <a14:foregroundMark x1="36259" y1="10102" x2="35016" y2="9663"/>
                        <a14:foregroundMark x1="35214" y1="9184" x2="35214" y2="21429"/>
                        <a14:foregroundMark x1="35214" y1="21939" x2="35214" y2="21939"/>
                        <a14:foregroundMark x1="81505" y1="41224" x2="83490" y2="45612"/>
                        <a14:foregroundMark x1="54650" y1="69388" x2="54023" y2="71939"/>
                        <a14:foregroundMark x1="73772" y1="38571" x2="75235" y2="39184"/>
                        <a14:foregroundMark x1="73981" y1="49184" x2="78997" y2="61837"/>
                        <a14:foregroundMark x1="78997" y1="62041" x2="73772" y2="48878"/>
                        <a14:foregroundMark x1="74295" y1="51020" x2="80355" y2="64286"/>
                        <a14:foregroundMark x1="80355" y1="64490" x2="75340" y2="53469"/>
                        <a14:foregroundMark x1="77116" y1="57551" x2="80146" y2="63980"/>
                        <a14:foregroundMark x1="76594" y1="57653" x2="78997" y2="62857"/>
                        <a14:foregroundMark x1="76385" y1="57245" x2="80251" y2="64490"/>
                        <a14:foregroundMark x1="78788" y1="61939" x2="80146" y2="64184"/>
                        <a14:foregroundMark x1="78997" y1="62857" x2="79937" y2="64898"/>
                        <a14:foregroundMark x1="80146" y1="63878" x2="74399" y2="51020"/>
                        <a14:foregroundMark x1="75862" y1="54592" x2="73250" y2="49388"/>
                        <a14:backgroundMark x1="34796" y1="41429" x2="40439" y2="43776"/>
                        <a14:backgroundMark x1="61442" y1="30204" x2="61442" y2="30204"/>
                        <a14:backgroundMark x1="60502" y1="30408" x2="60502" y2="30408"/>
                        <a14:backgroundMark x1="60502" y1="30408" x2="60502" y2="30408"/>
                        <a14:backgroundMark x1="59770" y1="30000" x2="59770" y2="30000"/>
                        <a14:backgroundMark x1="59770" y1="30000" x2="59770" y2="30000"/>
                        <a14:backgroundMark x1="60920" y1="30000" x2="60920" y2="30000"/>
                        <a14:backgroundMark x1="60920" y1="30000" x2="60920" y2="30000"/>
                        <a14:backgroundMark x1="62069" y1="30408" x2="60920" y2="30000"/>
                        <a14:backgroundMark x1="62487" y1="30714" x2="62487" y2="30714"/>
                        <a14:backgroundMark x1="62173" y1="30714" x2="62173" y2="30714"/>
                        <a14:backgroundMark x1="62173" y1="30714" x2="63323" y2="30918"/>
                        <a14:backgroundMark x1="62069" y1="29898" x2="62173" y2="30306"/>
                        <a14:backgroundMark x1="60188" y1="30204" x2="60711" y2="29694"/>
                        <a14:backgroundMark x1="59561" y1="29694" x2="60502" y2="29796"/>
                        <a14:backgroundMark x1="60188" y1="29796" x2="58725" y2="29796"/>
                        <a14:backgroundMark x1="60606" y1="30000" x2="62591" y2="30816"/>
                        <a14:backgroundMark x1="69592" y1="38265" x2="73459" y2="41633"/>
                        <a14:backgroundMark x1="68757" y1="37755" x2="72956" y2="39500"/>
                        <a14:backgroundMark x1="76276" y1="40642" x2="79833" y2="47959"/>
                        <a14:backgroundMark x1="79833" y1="47959" x2="80773" y2="53571"/>
                        <a14:backgroundMark x1="77743" y1="39796" x2="80938" y2="44266"/>
                        <a14:backgroundMark x1="82550" y1="46735" x2="82219" y2="46129"/>
                        <a14:backgroundMark x1="76489" y1="26531" x2="76280" y2="32653"/>
                        <a14:backgroundMark x1="78788" y1="34490" x2="75026" y2="26429"/>
                        <a14:backgroundMark x1="74399" y1="25714" x2="77011" y2="32041"/>
                        <a14:backgroundMark x1="74504" y1="25510" x2="74922" y2="27857"/>
                        <a14:backgroundMark x1="73563" y1="24388" x2="74504" y2="26224"/>
                        <a14:backgroundMark x1="76071" y1="32959" x2="79206" y2="35000"/>
                        <a14:backgroundMark x1="49739" y1="59796" x2="50157" y2="59490"/>
                        <a14:backgroundMark x1="51097" y1="59184" x2="49216" y2="59694"/>
                        <a14:backgroundMark x1="51620" y1="94184" x2="50888" y2="96531"/>
                        <a14:backgroundMark x1="50888" y1="96531" x2="50052" y2="97245"/>
                        <a14:backgroundMark x1="49948" y1="96633" x2="49216" y2="96939"/>
                        <a14:backgroundMark x1="33020" y1="6735" x2="33333" y2="11020"/>
                        <a14:backgroundMark x1="82298" y1="46097" x2="82968" y2="47653"/>
                        <a14:backgroundMark x1="79937" y1="40612" x2="80395" y2="41675"/>
                        <a14:backgroundMark x1="55035" y1="72172" x2="54545" y2="73265"/>
                        <a14:backgroundMark x1="74295" y1="40612" x2="74295" y2="40612"/>
                        <a14:backgroundMark x1="74504" y1="41020" x2="74179" y2="40386"/>
                        <a14:backgroundMark x1="74922" y1="41224" x2="74429" y2="40101"/>
                        <a14:backgroundMark x1="74395" y1="37862" x2="74086" y2="37653"/>
                        <a14:backgroundMark x1="80355" y1="41224" x2="79519" y2="39898"/>
                        <a14:backgroundMark x1="83072" y1="48673" x2="82863" y2="46735"/>
                      </a14:backgroundRemoval>
                    </a14:imgEffect>
                  </a14:imgLayer>
                </a14:imgProps>
              </a:ext>
            </a:extLst>
          </a:blip>
          <a:srcRect l="17124" t="3136" r="10903"/>
          <a:stretch/>
        </p:blipFill>
        <p:spPr bwMode="auto">
          <a:xfrm>
            <a:off x="511180" y="939596"/>
            <a:ext cx="2750839" cy="3440815"/>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DC7F215B-3621-C2FB-4F07-5C0A6EFF6C42}"/>
              </a:ext>
            </a:extLst>
          </p:cNvPr>
          <p:cNvSpPr txBox="1"/>
          <p:nvPr/>
        </p:nvSpPr>
        <p:spPr>
          <a:xfrm>
            <a:off x="4305025" y="1397675"/>
            <a:ext cx="7045235" cy="2031325"/>
          </a:xfrm>
          <a:prstGeom prst="rect">
            <a:avLst/>
          </a:prstGeom>
          <a:noFill/>
        </p:spPr>
        <p:txBody>
          <a:bodyPr wrap="square" rtlCol="0">
            <a:spAutoFit/>
          </a:bodyPr>
          <a:lstStyle/>
          <a:p>
            <a:pPr marL="285750" indent="-285750">
              <a:buFont typeface="Wingdings" panose="05000000000000000000" pitchFamily="2" charset="2"/>
              <a:buChar char="ü"/>
            </a:pPr>
            <a:r>
              <a:rPr lang="en-US" dirty="0"/>
              <a:t>This Coronary Arterial Tree model was extracted and the 3-D model was reconstructed by creating the paths and segmentation in a </a:t>
            </a:r>
            <a:r>
              <a:rPr lang="en-US" b="1" dirty="0"/>
              <a:t>SIMVASCULAR</a:t>
            </a:r>
            <a:r>
              <a:rPr lang="en-US" dirty="0"/>
              <a:t> Software (designed by Stanford University).</a:t>
            </a:r>
          </a:p>
          <a:p>
            <a:pPr marL="285750" indent="-285750">
              <a:buFont typeface="Wingdings" panose="05000000000000000000" pitchFamily="2" charset="2"/>
              <a:buChar char="ü"/>
            </a:pPr>
            <a:r>
              <a:rPr lang="en-US" dirty="0"/>
              <a:t>Simvascular is the only fully open-source software package providing a complete pipeline from medical image data segmentation to patient specific blood flow simulation and analysis.</a:t>
            </a:r>
          </a:p>
          <a:p>
            <a:pPr marL="285750" indent="-285750">
              <a:buFont typeface="Wingdings" panose="05000000000000000000" pitchFamily="2" charset="2"/>
              <a:buChar char="ü"/>
            </a:pPr>
            <a:r>
              <a:rPr lang="en-US" dirty="0"/>
              <a:t>SIMVASCULAR Software capabilities: </a:t>
            </a:r>
          </a:p>
        </p:txBody>
      </p:sp>
      <p:sp>
        <p:nvSpPr>
          <p:cNvPr id="6" name="TextBox 5">
            <a:extLst>
              <a:ext uri="{FF2B5EF4-FFF2-40B4-BE49-F238E27FC236}">
                <a16:creationId xmlns:a16="http://schemas.microsoft.com/office/drawing/2014/main" id="{4EC2CF3D-8BF9-DE54-AACC-47007474363F}"/>
              </a:ext>
            </a:extLst>
          </p:cNvPr>
          <p:cNvSpPr txBox="1"/>
          <p:nvPr/>
        </p:nvSpPr>
        <p:spPr>
          <a:xfrm>
            <a:off x="304800" y="4415246"/>
            <a:ext cx="3413761" cy="662781"/>
          </a:xfrm>
          <a:prstGeom prst="rect">
            <a:avLst/>
          </a:prstGeom>
          <a:noFill/>
        </p:spPr>
        <p:txBody>
          <a:bodyPr wrap="square" rtlCol="0">
            <a:spAutoFit/>
          </a:bodyPr>
          <a:lstStyle/>
          <a:p>
            <a:r>
              <a:rPr lang="en-US" sz="1800" dirty="0">
                <a:effectLst/>
                <a:latin typeface="Times New Roman" panose="02020603050405020304" pitchFamily="18" charset="0"/>
                <a:ea typeface="Calibri" panose="020F0502020204030204" pitchFamily="34" charset="0"/>
              </a:rPr>
              <a:t>Fig. Solid Model representation of a Human Coronary Artery Tree</a:t>
            </a:r>
            <a:endParaRPr lang="en-US" dirty="0"/>
          </a:p>
        </p:txBody>
      </p:sp>
      <p:grpSp>
        <p:nvGrpSpPr>
          <p:cNvPr id="11" name="Group 10">
            <a:extLst>
              <a:ext uri="{FF2B5EF4-FFF2-40B4-BE49-F238E27FC236}">
                <a16:creationId xmlns:a16="http://schemas.microsoft.com/office/drawing/2014/main" id="{B03C792D-A23A-049D-5BD6-7E57C0741146}"/>
              </a:ext>
            </a:extLst>
          </p:cNvPr>
          <p:cNvGrpSpPr/>
          <p:nvPr/>
        </p:nvGrpSpPr>
        <p:grpSpPr>
          <a:xfrm>
            <a:off x="4476206" y="3561805"/>
            <a:ext cx="7611292" cy="2554545"/>
            <a:chOff x="4444362" y="2963142"/>
            <a:chExt cx="7582175" cy="2089626"/>
          </a:xfrm>
        </p:grpSpPr>
        <p:sp>
          <p:nvSpPr>
            <p:cNvPr id="7" name="TextBox 6">
              <a:extLst>
                <a:ext uri="{FF2B5EF4-FFF2-40B4-BE49-F238E27FC236}">
                  <a16:creationId xmlns:a16="http://schemas.microsoft.com/office/drawing/2014/main" id="{F68F0011-3960-4008-EB11-7FB369AA7586}"/>
                </a:ext>
              </a:extLst>
            </p:cNvPr>
            <p:cNvSpPr txBox="1"/>
            <p:nvPr/>
          </p:nvSpPr>
          <p:spPr>
            <a:xfrm>
              <a:off x="4444362" y="2963142"/>
              <a:ext cx="3730258" cy="2089626"/>
            </a:xfrm>
            <a:prstGeom prst="rect">
              <a:avLst/>
            </a:prstGeom>
            <a:noFill/>
          </p:spPr>
          <p:txBody>
            <a:bodyPr wrap="square" numCol="1" rtlCol="0">
              <a:spAutoFit/>
            </a:bodyPr>
            <a:lstStyle/>
            <a:p>
              <a:pPr marL="285750" indent="-285750">
                <a:buFont typeface="Wingdings" panose="05000000000000000000" pitchFamily="2" charset="2"/>
                <a:buChar char="ü"/>
              </a:pPr>
              <a:r>
                <a:rPr lang="en-US" sz="1600" dirty="0"/>
                <a:t>Model construction:</a:t>
              </a:r>
            </a:p>
            <a:p>
              <a:pPr marL="742950" lvl="1" indent="-285750">
                <a:buFont typeface="Arial" panose="020B0604020202020204" pitchFamily="34" charset="0"/>
                <a:buChar char="•"/>
              </a:pPr>
              <a:r>
                <a:rPr lang="en-US" sz="1600" dirty="0"/>
                <a:t> Manual path identification and segmentation</a:t>
              </a:r>
            </a:p>
            <a:p>
              <a:pPr marL="742950" lvl="1" indent="-285750">
                <a:buFont typeface="Arial" panose="020B0604020202020204" pitchFamily="34" charset="0"/>
                <a:buChar char="•"/>
              </a:pPr>
              <a:r>
                <a:rPr lang="en-US" sz="1600" dirty="0"/>
                <a:t> Automatic segmentation using ML</a:t>
              </a:r>
            </a:p>
            <a:p>
              <a:pPr marL="742950" lvl="1" indent="-285750">
                <a:buFont typeface="Arial" panose="020B0604020202020204" pitchFamily="34" charset="0"/>
                <a:buChar char="•"/>
              </a:pPr>
              <a:r>
                <a:rPr lang="en-US" sz="1600" dirty="0"/>
                <a:t> Automatic surface model generation</a:t>
              </a:r>
            </a:p>
            <a:p>
              <a:pPr marL="742950" lvl="1" indent="-285750">
                <a:buFont typeface="Arial" panose="020B0604020202020204" pitchFamily="34" charset="0"/>
                <a:buChar char="•"/>
              </a:pPr>
              <a:r>
                <a:rPr lang="en-US" sz="1600" dirty="0"/>
                <a:t> Meshing with advanced options (e.g., boundary layer, local refinement)</a:t>
              </a:r>
            </a:p>
          </p:txBody>
        </p:sp>
        <p:sp>
          <p:nvSpPr>
            <p:cNvPr id="8" name="TextBox 7">
              <a:extLst>
                <a:ext uri="{FF2B5EF4-FFF2-40B4-BE49-F238E27FC236}">
                  <a16:creationId xmlns:a16="http://schemas.microsoft.com/office/drawing/2014/main" id="{6752B2D1-1F9F-4F21-4179-E9B0B672C142}"/>
                </a:ext>
              </a:extLst>
            </p:cNvPr>
            <p:cNvSpPr txBox="1"/>
            <p:nvPr/>
          </p:nvSpPr>
          <p:spPr>
            <a:xfrm>
              <a:off x="8177348" y="2974078"/>
              <a:ext cx="3849189" cy="1888216"/>
            </a:xfrm>
            <a:prstGeom prst="rect">
              <a:avLst/>
            </a:prstGeom>
            <a:noFill/>
          </p:spPr>
          <p:txBody>
            <a:bodyPr wrap="square" rtlCol="0">
              <a:spAutoFit/>
            </a:bodyPr>
            <a:lstStyle/>
            <a:p>
              <a:pPr marL="285750" indent="-285750">
                <a:buFont typeface="Wingdings" panose="05000000000000000000" pitchFamily="2" charset="2"/>
                <a:buChar char="ü"/>
              </a:pPr>
              <a:r>
                <a:rPr lang="en-US" sz="1600" dirty="0"/>
                <a:t>High performance finite element solver for 3D simulations of vascular hemodynamics:</a:t>
              </a:r>
            </a:p>
            <a:p>
              <a:pPr marL="742950" lvl="1" indent="-285750">
                <a:buFont typeface="Arial" panose="020B0604020202020204" pitchFamily="34" charset="0"/>
                <a:buChar char="•"/>
              </a:pPr>
              <a:r>
                <a:rPr lang="en-US" sz="1600" dirty="0"/>
                <a:t> FSI (Fluid-structure interaction)</a:t>
              </a:r>
            </a:p>
            <a:p>
              <a:pPr marL="742950" lvl="1" indent="-285750">
                <a:buFont typeface="Arial" panose="020B0604020202020204" pitchFamily="34" charset="0"/>
                <a:buChar char="•"/>
              </a:pPr>
              <a:r>
                <a:rPr lang="en-US" sz="1600" dirty="0"/>
                <a:t> CMM (Coupled momentum method)</a:t>
              </a:r>
            </a:p>
            <a:p>
              <a:pPr marL="742950" lvl="1" indent="-285750">
                <a:buFont typeface="Arial" panose="020B0604020202020204" pitchFamily="34" charset="0"/>
                <a:buChar char="•"/>
              </a:pPr>
              <a:r>
                <a:rPr lang="en-US" sz="1600" dirty="0"/>
                <a:t> ALE (Arbitrary </a:t>
              </a:r>
              <a:r>
                <a:rPr lang="en-US" sz="1600" dirty="0" err="1"/>
                <a:t>Lagrangian</a:t>
              </a:r>
              <a:r>
                <a:rPr lang="en-US" sz="1600" dirty="0"/>
                <a:t> Method)</a:t>
              </a:r>
            </a:p>
            <a:p>
              <a:pPr marL="742950" lvl="1" indent="-285750">
                <a:buFont typeface="Arial" panose="020B0604020202020204" pitchFamily="34" charset="0"/>
                <a:buChar char="•"/>
              </a:pPr>
              <a:r>
                <a:rPr lang="en-US" sz="1600" dirty="0"/>
                <a:t> Navier-Stokes equations with fixed arterial wall</a:t>
              </a:r>
            </a:p>
          </p:txBody>
        </p:sp>
      </p:grpSp>
      <p:pic>
        <p:nvPicPr>
          <p:cNvPr id="10" name="Picture 9">
            <a:extLst>
              <a:ext uri="{FF2B5EF4-FFF2-40B4-BE49-F238E27FC236}">
                <a16:creationId xmlns:a16="http://schemas.microsoft.com/office/drawing/2014/main" id="{BCF88279-1CBD-ACD5-E63A-36F23B92F25A}"/>
              </a:ext>
            </a:extLst>
          </p:cNvPr>
          <p:cNvPicPr>
            <a:picLocks noChangeAspect="1"/>
          </p:cNvPicPr>
          <p:nvPr/>
        </p:nvPicPr>
        <p:blipFill>
          <a:blip r:embed="rId4"/>
          <a:srcRect t="10803"/>
          <a:stretch/>
        </p:blipFill>
        <p:spPr>
          <a:xfrm>
            <a:off x="719623" y="5627149"/>
            <a:ext cx="2333951" cy="662782"/>
          </a:xfrm>
          <a:prstGeom prst="rect">
            <a:avLst/>
          </a:prstGeom>
        </p:spPr>
      </p:pic>
    </p:spTree>
    <p:extLst>
      <p:ext uri="{BB962C8B-B14F-4D97-AF65-F5344CB8AC3E}">
        <p14:creationId xmlns:p14="http://schemas.microsoft.com/office/powerpoint/2010/main" val="1644761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8942" y="929338"/>
            <a:ext cx="8039612" cy="572494"/>
          </a:xfrm>
        </p:spPr>
        <p:txBody>
          <a:bodyPr>
            <a:noAutofit/>
          </a:bodyPr>
          <a:lstStyle/>
          <a:p>
            <a:r>
              <a:rPr sz="2800" b="1" dirty="0">
                <a:latin typeface="Times New Roman" panose="02020603050405020304" pitchFamily="18" charset="0"/>
                <a:cs typeface="Times New Roman" panose="02020603050405020304" pitchFamily="18" charset="0"/>
              </a:rPr>
              <a:t>1. Continuity Equation (Mass Conservation)</a:t>
            </a:r>
          </a:p>
        </p:txBody>
      </p:sp>
      <p:sp>
        <p:nvSpPr>
          <p:cNvPr id="3" name="Content Placeholder 2"/>
          <p:cNvSpPr>
            <a:spLocks noGrp="1"/>
          </p:cNvSpPr>
          <p:nvPr>
            <p:ph idx="1"/>
          </p:nvPr>
        </p:nvSpPr>
        <p:spPr>
          <a:xfrm>
            <a:off x="1326373" y="1619768"/>
            <a:ext cx="8336944" cy="1323730"/>
          </a:xfrm>
        </p:spPr>
        <p:txBody>
          <a:bodyPr>
            <a:normAutofit/>
          </a:bodyPr>
          <a:lstStyle/>
          <a:p>
            <a:r>
              <a:rPr sz="2000" dirty="0"/>
              <a:t>For incompressible flow:</a:t>
            </a:r>
          </a:p>
          <a:p>
            <a:pPr marL="0" indent="0">
              <a:buNone/>
            </a:pPr>
            <a:r>
              <a:rPr lang="en-US" dirty="0"/>
              <a:t>      </a:t>
            </a:r>
            <a:r>
              <a:rPr dirty="0"/>
              <a:t>∇ · v = 0</a:t>
            </a:r>
            <a:endParaRPr sz="2000" dirty="0"/>
          </a:p>
          <a:p>
            <a:r>
              <a:rPr sz="2000" dirty="0"/>
              <a:t>This ensures mass conservation across the domain.</a:t>
            </a:r>
          </a:p>
        </p:txBody>
      </p:sp>
      <p:grpSp>
        <p:nvGrpSpPr>
          <p:cNvPr id="6" name="Group 5">
            <a:extLst>
              <a:ext uri="{FF2B5EF4-FFF2-40B4-BE49-F238E27FC236}">
                <a16:creationId xmlns:a16="http://schemas.microsoft.com/office/drawing/2014/main" id="{2999383D-54D9-F6CD-0913-4C5A9F1C575A}"/>
              </a:ext>
            </a:extLst>
          </p:cNvPr>
          <p:cNvGrpSpPr/>
          <p:nvPr/>
        </p:nvGrpSpPr>
        <p:grpSpPr>
          <a:xfrm>
            <a:off x="1198942" y="3012552"/>
            <a:ext cx="10072700" cy="3711385"/>
            <a:chOff x="1782416" y="2783497"/>
            <a:chExt cx="10072700" cy="3711385"/>
          </a:xfrm>
        </p:grpSpPr>
        <p:sp>
          <p:nvSpPr>
            <p:cNvPr id="4" name="Content Placeholder 2">
              <a:extLst>
                <a:ext uri="{FF2B5EF4-FFF2-40B4-BE49-F238E27FC236}">
                  <a16:creationId xmlns:a16="http://schemas.microsoft.com/office/drawing/2014/main" id="{111E680E-70B4-964D-C4C8-B438EB5746FC}"/>
                </a:ext>
              </a:extLst>
            </p:cNvPr>
            <p:cNvSpPr txBox="1">
              <a:spLocks/>
            </p:cNvSpPr>
            <p:nvPr/>
          </p:nvSpPr>
          <p:spPr>
            <a:xfrm>
              <a:off x="1909847" y="3546936"/>
              <a:ext cx="6945464" cy="294794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l-GR" dirty="0"/>
                <a:t>ρ (</a:t>
              </a:r>
              <a:r>
                <a:rPr lang="en-US" dirty="0"/>
                <a:t>dv/dt + (v · ∇)v) = -∇p + </a:t>
              </a:r>
              <a:r>
                <a:rPr lang="el-GR" dirty="0"/>
                <a:t>μ∇²</a:t>
              </a:r>
              <a:r>
                <a:rPr lang="en-US" dirty="0"/>
                <a:t>v + f</a:t>
              </a:r>
              <a:br>
                <a:rPr lang="en-US" sz="2400" dirty="0"/>
              </a:br>
              <a:endParaRPr lang="en-US" sz="2000" dirty="0"/>
            </a:p>
            <a:p>
              <a:r>
                <a:rPr lang="en-US" sz="2000" dirty="0"/>
                <a:t>Where:</a:t>
              </a:r>
            </a:p>
            <a:p>
              <a:r>
                <a:rPr lang="el-GR" sz="2000" dirty="0"/>
                <a:t>ρ = </a:t>
              </a:r>
              <a:r>
                <a:rPr lang="en-US" sz="2000" dirty="0"/>
                <a:t>blood density (approx. 1060 kg/m³)</a:t>
              </a:r>
            </a:p>
            <a:p>
              <a:r>
                <a:rPr lang="en-US" sz="2000" dirty="0"/>
                <a:t>p = pressure</a:t>
              </a:r>
            </a:p>
            <a:p>
              <a:r>
                <a:rPr lang="el-GR" sz="2000" dirty="0"/>
                <a:t>μ = </a:t>
              </a:r>
              <a:r>
                <a:rPr lang="en-US" sz="2000" dirty="0"/>
                <a:t>dynamic viscosity (approx. 0.0035 </a:t>
              </a:r>
              <a:r>
                <a:rPr lang="en-US" sz="2000" dirty="0" err="1"/>
                <a:t>Pa·s</a:t>
              </a:r>
              <a:r>
                <a:rPr lang="en-US" sz="2000" dirty="0"/>
                <a:t>)</a:t>
              </a:r>
            </a:p>
            <a:p>
              <a:r>
                <a:rPr lang="en-US" sz="2000" dirty="0"/>
                <a:t>f = body force (e.g., gravity, usually neglected)</a:t>
              </a:r>
            </a:p>
          </p:txBody>
        </p:sp>
        <p:sp>
          <p:nvSpPr>
            <p:cNvPr id="5" name="Title 1">
              <a:extLst>
                <a:ext uri="{FF2B5EF4-FFF2-40B4-BE49-F238E27FC236}">
                  <a16:creationId xmlns:a16="http://schemas.microsoft.com/office/drawing/2014/main" id="{B8CF8CE3-2D86-1EC5-2CBD-4B571FC11063}"/>
                </a:ext>
              </a:extLst>
            </p:cNvPr>
            <p:cNvSpPr txBox="1">
              <a:spLocks/>
            </p:cNvSpPr>
            <p:nvPr/>
          </p:nvSpPr>
          <p:spPr>
            <a:xfrm>
              <a:off x="1782416" y="2783497"/>
              <a:ext cx="10072700" cy="645503"/>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800" b="1" dirty="0">
                  <a:latin typeface="Times New Roman" panose="02020603050405020304" pitchFamily="18" charset="0"/>
                  <a:cs typeface="Times New Roman" panose="02020603050405020304" pitchFamily="18" charset="0"/>
                </a:rPr>
                <a:t>2. Navier-Stokes Equations (Momentum Conservation)</a:t>
              </a:r>
            </a:p>
          </p:txBody>
        </p:sp>
      </p:grpSp>
      <p:sp>
        <p:nvSpPr>
          <p:cNvPr id="7" name="TextBox 6">
            <a:extLst>
              <a:ext uri="{FF2B5EF4-FFF2-40B4-BE49-F238E27FC236}">
                <a16:creationId xmlns:a16="http://schemas.microsoft.com/office/drawing/2014/main" id="{22E8186F-9ADC-1769-E540-CC65E43A0A15}"/>
              </a:ext>
            </a:extLst>
          </p:cNvPr>
          <p:cNvSpPr txBox="1"/>
          <p:nvPr/>
        </p:nvSpPr>
        <p:spPr>
          <a:xfrm>
            <a:off x="357051" y="209006"/>
            <a:ext cx="11486606"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Governing Solver Equations: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A10A72-403B-CC7D-7629-7BE531D83F7C}"/>
              </a:ext>
            </a:extLst>
          </p:cNvPr>
          <p:cNvSpPr txBox="1"/>
          <p:nvPr/>
        </p:nvSpPr>
        <p:spPr>
          <a:xfrm>
            <a:off x="0" y="0"/>
            <a:ext cx="865043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Different types of Windkessel Model:</a:t>
            </a:r>
          </a:p>
        </p:txBody>
      </p:sp>
      <p:grpSp>
        <p:nvGrpSpPr>
          <p:cNvPr id="16" name="Group 15">
            <a:extLst>
              <a:ext uri="{FF2B5EF4-FFF2-40B4-BE49-F238E27FC236}">
                <a16:creationId xmlns:a16="http://schemas.microsoft.com/office/drawing/2014/main" id="{67AB4163-E4FF-68BF-F903-FCF39D83406F}"/>
              </a:ext>
            </a:extLst>
          </p:cNvPr>
          <p:cNvGrpSpPr/>
          <p:nvPr/>
        </p:nvGrpSpPr>
        <p:grpSpPr>
          <a:xfrm>
            <a:off x="96370" y="461665"/>
            <a:ext cx="3705499" cy="6129703"/>
            <a:chOff x="134981" y="466614"/>
            <a:chExt cx="3405052" cy="6186309"/>
          </a:xfrm>
        </p:grpSpPr>
        <p:sp>
          <p:nvSpPr>
            <p:cNvPr id="5" name="TextBox 4">
              <a:extLst>
                <a:ext uri="{FF2B5EF4-FFF2-40B4-BE49-F238E27FC236}">
                  <a16:creationId xmlns:a16="http://schemas.microsoft.com/office/drawing/2014/main" id="{A4699A9F-9360-42A0-773F-3C8B15A2D01E}"/>
                </a:ext>
              </a:extLst>
            </p:cNvPr>
            <p:cNvSpPr txBox="1"/>
            <p:nvPr/>
          </p:nvSpPr>
          <p:spPr>
            <a:xfrm>
              <a:off x="152398" y="466614"/>
              <a:ext cx="3387635" cy="6186309"/>
            </a:xfrm>
            <a:prstGeom prst="rect">
              <a:avLst/>
            </a:prstGeom>
            <a:noFill/>
          </p:spPr>
          <p:txBody>
            <a:bodyPr wrap="square" rtlCol="0">
              <a:spAutoFit/>
            </a:bodyPr>
            <a:lstStyle/>
            <a:p>
              <a:r>
                <a:rPr lang="en-US" b="1" dirty="0"/>
                <a:t>2-Element Windkessel Model: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sz="1200" dirty="0"/>
                <a:t>Frank's original two-element model comprised:</a:t>
              </a:r>
            </a:p>
            <a:p>
              <a:r>
                <a:rPr lang="en-US" sz="1200" dirty="0"/>
                <a:t>Compliance (C): representing the elastic storage capacity of large arteries, and</a:t>
              </a:r>
            </a:p>
            <a:p>
              <a:r>
                <a:rPr lang="en-US" sz="1200" dirty="0"/>
                <a:t>Resistance (R): accounting for peripheral vascular resistance.</a:t>
              </a:r>
            </a:p>
            <a:p>
              <a:endParaRPr lang="en-US" sz="1200" dirty="0"/>
            </a:p>
            <a:p>
              <a:r>
                <a:rPr lang="en-US" sz="1200" dirty="0"/>
                <a:t>Governing Equation: </a:t>
              </a:r>
            </a:p>
            <a:p>
              <a:endParaRPr lang="en-US" sz="1200" dirty="0"/>
            </a:p>
            <a:p>
              <a:endParaRPr lang="en-US" sz="1200" dirty="0"/>
            </a:p>
            <a:p>
              <a:endParaRPr lang="en-US" sz="1200" dirty="0"/>
            </a:p>
            <a:p>
              <a:endParaRPr lang="en-US" sz="1200" dirty="0"/>
            </a:p>
            <a:p>
              <a:r>
                <a:rPr lang="en-US" sz="1200" dirty="0"/>
                <a:t>were, </a:t>
              </a:r>
            </a:p>
            <a:p>
              <a:endParaRPr lang="en-US" sz="1200" dirty="0"/>
            </a:p>
            <a:p>
              <a:r>
                <a:rPr lang="en-US" sz="1200" dirty="0"/>
                <a:t>P(t) is the pressure, </a:t>
              </a:r>
            </a:p>
            <a:p>
              <a:r>
                <a:rPr lang="en-US" sz="1200" dirty="0"/>
                <a:t>Q(t) is flow rate, </a:t>
              </a:r>
            </a:p>
            <a:p>
              <a:r>
                <a:rPr lang="en-US" sz="1200" dirty="0"/>
                <a:t>R is the peripheral resistance,</a:t>
              </a:r>
            </a:p>
            <a:p>
              <a:r>
                <a:rPr lang="en-US" sz="1200" dirty="0"/>
                <a:t>C is the compliance and </a:t>
              </a:r>
            </a:p>
            <a:p>
              <a:r>
                <a:rPr lang="en-US" sz="1200" dirty="0" err="1"/>
                <a:t>dP</a:t>
              </a:r>
              <a:r>
                <a:rPr lang="en-US" sz="1200" dirty="0"/>
                <a:t>(t)/dt is the time derivative of pressure.</a:t>
              </a:r>
            </a:p>
          </p:txBody>
        </p:sp>
        <p:pic>
          <p:nvPicPr>
            <p:cNvPr id="3076" name="Picture 4" descr="undefined">
              <a:extLst>
                <a:ext uri="{FF2B5EF4-FFF2-40B4-BE49-F238E27FC236}">
                  <a16:creationId xmlns:a16="http://schemas.microsoft.com/office/drawing/2014/main" id="{60F6E4E2-4C95-6D7E-8F5A-570ACB4D08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981" y="925309"/>
              <a:ext cx="3092717" cy="2290510"/>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TextBox 13">
            <a:extLst>
              <a:ext uri="{FF2B5EF4-FFF2-40B4-BE49-F238E27FC236}">
                <a16:creationId xmlns:a16="http://schemas.microsoft.com/office/drawing/2014/main" id="{F6799F75-F1FA-0A30-012E-59B2ADC21F25}"/>
              </a:ext>
            </a:extLst>
          </p:cNvPr>
          <p:cNvSpPr txBox="1"/>
          <p:nvPr/>
        </p:nvSpPr>
        <p:spPr>
          <a:xfrm>
            <a:off x="1022258" y="830082"/>
            <a:ext cx="470261" cy="300082"/>
          </a:xfrm>
          <a:prstGeom prst="rect">
            <a:avLst/>
          </a:prstGeom>
          <a:solidFill>
            <a:schemeClr val="bg1"/>
          </a:solidFill>
        </p:spPr>
        <p:txBody>
          <a:bodyPr wrap="square" rtlCol="0">
            <a:spAutoFit/>
          </a:bodyPr>
          <a:lstStyle/>
          <a:p>
            <a:r>
              <a:rPr lang="en-US" sz="1350" b="1" dirty="0"/>
              <a:t>I(t)</a:t>
            </a:r>
          </a:p>
        </p:txBody>
      </p:sp>
      <mc:AlternateContent xmlns:mc="http://schemas.openxmlformats.org/markup-compatibility/2006" xmlns:a14="http://schemas.microsoft.com/office/drawing/2010/main">
        <mc:Choice Requires="a14">
          <p:sp>
            <p:nvSpPr>
              <p:cNvPr id="15" name="TextBox 2">
                <a:extLst>
                  <a:ext uri="{FF2B5EF4-FFF2-40B4-BE49-F238E27FC236}">
                    <a16:creationId xmlns:a16="http://schemas.microsoft.com/office/drawing/2014/main" id="{1D6C9DA3-11AD-2263-4AB7-DDA18C4E7503}"/>
                  </a:ext>
                </a:extLst>
              </p:cNvPr>
              <p:cNvSpPr txBox="1"/>
              <p:nvPr/>
            </p:nvSpPr>
            <p:spPr>
              <a:xfrm>
                <a:off x="483324" y="4603421"/>
                <a:ext cx="2255521" cy="650949"/>
              </a:xfrm>
              <a:prstGeom prst="rect">
                <a:avLst/>
              </a:prstGeom>
              <a:noFill/>
            </p:spPr>
            <p:txBody>
              <a:bodyPr wrap="square" lIns="0" tIns="0" rIns="0" bIns="0" rtlCol="0">
                <a:noAutofit/>
              </a:bodyPr>
              <a:lstStyle/>
              <a:p>
                <a:pPr marL="0" marR="0">
                  <a:lnSpc>
                    <a:spcPct val="115000"/>
                  </a:lnSpc>
                  <a:spcAft>
                    <a:spcPts val="800"/>
                  </a:spcAft>
                </a:pPr>
                <a14:m>
                  <m:oMathPara xmlns:m="http://schemas.openxmlformats.org/officeDocument/2006/math">
                    <m:oMathParaPr>
                      <m:jc m:val="centerGroup"/>
                    </m:oMathParaPr>
                    <m:oMath xmlns:m="http://schemas.openxmlformats.org/officeDocument/2006/math">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𝐼</m:t>
                      </m:r>
                      <m:d>
                        <m:d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𝑡</m:t>
                          </m:r>
                        </m:e>
                      </m:d>
                      <m:r>
                        <a:rPr lang="en-US" sz="1400" kern="12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𝑅</m:t>
                          </m:r>
                        </m:den>
                      </m:f>
                      <m:r>
                        <a:rPr lang="en-US" sz="1400" kern="1200">
                          <a:effectLst/>
                          <a:latin typeface="Cambria Math" panose="02040503050406030204" pitchFamily="18" charset="0"/>
                          <a:ea typeface="Calibri" panose="020F0502020204030204" pitchFamily="34" charset="0"/>
                          <a:cs typeface="Times New Roman" panose="02020603050405020304" pitchFamily="18" charset="0"/>
                        </a:rPr>
                        <m:t>+</m:t>
                      </m:r>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𝐶</m:t>
                      </m:r>
                      <m:f>
                        <m:f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ⅆ</m:t>
                          </m:r>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ⅆ</m:t>
                          </m:r>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𝑡</m:t>
                          </m:r>
                        </m:den>
                      </m:f>
                    </m:oMath>
                  </m:oMathPara>
                </a14:m>
                <a:endParaRPr lang="en-US" sz="105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5" name="TextBox 2">
                <a:extLst>
                  <a:ext uri="{FF2B5EF4-FFF2-40B4-BE49-F238E27FC236}">
                    <a16:creationId xmlns:a16="http://schemas.microsoft.com/office/drawing/2014/main" id="{1D6C9DA3-11AD-2263-4AB7-DDA18C4E7503}"/>
                  </a:ext>
                </a:extLst>
              </p:cNvPr>
              <p:cNvSpPr txBox="1">
                <a:spLocks noRot="1" noChangeAspect="1" noMove="1" noResize="1" noEditPoints="1" noAdjustHandles="1" noChangeArrowheads="1" noChangeShapeType="1" noTextEdit="1"/>
              </p:cNvSpPr>
              <p:nvPr/>
            </p:nvSpPr>
            <p:spPr>
              <a:xfrm>
                <a:off x="483324" y="4603421"/>
                <a:ext cx="2255521" cy="650949"/>
              </a:xfrm>
              <a:prstGeom prst="rect">
                <a:avLst/>
              </a:prstGeom>
              <a:blipFill>
                <a:blip r:embed="rId3"/>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7A9F6A30-390C-5535-1BFB-2CB175D41E2C}"/>
              </a:ext>
            </a:extLst>
          </p:cNvPr>
          <p:cNvSpPr txBox="1"/>
          <p:nvPr/>
        </p:nvSpPr>
        <p:spPr>
          <a:xfrm>
            <a:off x="3905735" y="462591"/>
            <a:ext cx="3914186" cy="6370975"/>
          </a:xfrm>
          <a:prstGeom prst="rect">
            <a:avLst/>
          </a:prstGeom>
          <a:noFill/>
        </p:spPr>
        <p:txBody>
          <a:bodyPr wrap="square" rtlCol="0">
            <a:spAutoFit/>
          </a:bodyPr>
          <a:lstStyle/>
          <a:p>
            <a:r>
              <a:rPr lang="en-US" b="1" dirty="0"/>
              <a:t>3-Element Windkessel Model: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sz="1200" dirty="0"/>
              <a:t>Westerhof et al. (1969) introduced the three-element Windkessel model. This model introduced a Characteristic Impedance (R1) component, capturing the inertial and elastic behavior of the proximal aorta and large arteries immediately downstream of the heart.</a:t>
            </a:r>
            <a:br>
              <a:rPr lang="en-US" sz="1200" dirty="0"/>
            </a:br>
            <a:endParaRPr lang="en-US" sz="1200" dirty="0"/>
          </a:p>
          <a:p>
            <a:r>
              <a:rPr lang="en-US" sz="1200" dirty="0"/>
              <a:t>Governing Equation: </a:t>
            </a:r>
          </a:p>
          <a:p>
            <a:endParaRPr lang="en-US" sz="1200" dirty="0"/>
          </a:p>
          <a:p>
            <a:endParaRPr lang="en-US" sz="1200" dirty="0"/>
          </a:p>
          <a:p>
            <a:endParaRPr lang="en-US" sz="1200" dirty="0"/>
          </a:p>
          <a:p>
            <a:endParaRPr lang="en-US" sz="1200" dirty="0"/>
          </a:p>
          <a:p>
            <a:r>
              <a:rPr lang="en-US" sz="1200" dirty="0"/>
              <a:t>were, </a:t>
            </a:r>
          </a:p>
          <a:p>
            <a:r>
              <a:rPr lang="en-US" sz="1200" dirty="0"/>
              <a:t>P(t) is the pressure, </a:t>
            </a:r>
          </a:p>
          <a:p>
            <a:r>
              <a:rPr lang="en-US" sz="1200" dirty="0"/>
              <a:t>Q(t) is flow rate, </a:t>
            </a:r>
          </a:p>
          <a:p>
            <a:r>
              <a:rPr lang="en-US" sz="1200" dirty="0"/>
              <a:t>R1 is the Characteristic Impedance</a:t>
            </a:r>
          </a:p>
          <a:p>
            <a:r>
              <a:rPr lang="en-US" sz="1200" dirty="0"/>
              <a:t>R2 is the peripheral resistance,</a:t>
            </a:r>
          </a:p>
          <a:p>
            <a:r>
              <a:rPr lang="en-US" sz="1200" dirty="0"/>
              <a:t>C is the compliance and </a:t>
            </a:r>
          </a:p>
          <a:p>
            <a:r>
              <a:rPr lang="en-US" sz="1200" dirty="0" err="1"/>
              <a:t>dP</a:t>
            </a:r>
            <a:r>
              <a:rPr lang="en-US" sz="1200" dirty="0"/>
              <a:t>(t)/dt is the time derivative of pressure.</a:t>
            </a:r>
          </a:p>
        </p:txBody>
      </p:sp>
      <p:sp>
        <p:nvSpPr>
          <p:cNvPr id="21" name="TextBox 20">
            <a:extLst>
              <a:ext uri="{FF2B5EF4-FFF2-40B4-BE49-F238E27FC236}">
                <a16:creationId xmlns:a16="http://schemas.microsoft.com/office/drawing/2014/main" id="{FEE384EE-5010-F41F-2B59-BB6D3C2CC3DD}"/>
              </a:ext>
            </a:extLst>
          </p:cNvPr>
          <p:cNvSpPr txBox="1"/>
          <p:nvPr/>
        </p:nvSpPr>
        <p:spPr>
          <a:xfrm>
            <a:off x="7892533" y="436355"/>
            <a:ext cx="4299467" cy="6278642"/>
          </a:xfrm>
          <a:prstGeom prst="rect">
            <a:avLst/>
          </a:prstGeom>
          <a:noFill/>
        </p:spPr>
        <p:txBody>
          <a:bodyPr wrap="square" rtlCol="0">
            <a:spAutoFit/>
          </a:bodyPr>
          <a:lstStyle/>
          <a:p>
            <a:r>
              <a:rPr lang="en-US" b="1" dirty="0"/>
              <a:t>4-Element Windkessel Model: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sz="1200" dirty="0"/>
              <a:t>Four-element models and distributed models have also been proposed to capture viscoelastic effects (</a:t>
            </a:r>
            <a:r>
              <a:rPr lang="en-US" sz="1200" dirty="0" err="1"/>
              <a:t>Stergiopulos</a:t>
            </a:r>
            <a:r>
              <a:rPr lang="en-US" sz="1200" dirty="0"/>
              <a:t> et al., 1992). It is an advanced lumped-parameter model used to represent the hemodynamic behavior of the arterial system, particularly under pulsatile flow conditions. An additional element called inertance (L) is introduced, which accounts for the inertia of the moving blood mass, especially in large arteries like the aorta.</a:t>
            </a:r>
          </a:p>
          <a:p>
            <a:endParaRPr lang="en-US" sz="1200" dirty="0"/>
          </a:p>
          <a:p>
            <a:r>
              <a:rPr lang="en-US" sz="1200" dirty="0"/>
              <a:t>Governing Equation: </a:t>
            </a:r>
            <a:br>
              <a:rPr lang="en-US" sz="1200" dirty="0"/>
            </a:br>
            <a:endParaRPr lang="en-US" sz="1200" dirty="0"/>
          </a:p>
          <a:p>
            <a:endParaRPr lang="en-US" sz="1200" dirty="0"/>
          </a:p>
          <a:p>
            <a:endParaRPr lang="en-US" sz="1200" dirty="0"/>
          </a:p>
          <a:p>
            <a:r>
              <a:rPr lang="en-US" sz="1200" dirty="0"/>
              <a:t>were, </a:t>
            </a:r>
          </a:p>
          <a:p>
            <a:r>
              <a:rPr lang="en-US" sz="1200" dirty="0"/>
              <a:t>P(t) is the pressure, </a:t>
            </a:r>
          </a:p>
          <a:p>
            <a:r>
              <a:rPr lang="en-US" sz="1200" dirty="0"/>
              <a:t>Q(t) is flow rate, </a:t>
            </a:r>
          </a:p>
          <a:p>
            <a:r>
              <a:rPr lang="en-US" sz="1200" dirty="0"/>
              <a:t>R1 is the Characteristic Impedance,</a:t>
            </a:r>
          </a:p>
          <a:p>
            <a:r>
              <a:rPr lang="en-US" sz="1200" dirty="0"/>
              <a:t>R2 is the peripheral resistance,</a:t>
            </a:r>
          </a:p>
          <a:p>
            <a:r>
              <a:rPr lang="en-US" sz="1200" dirty="0"/>
              <a:t>L is the inductance</a:t>
            </a:r>
          </a:p>
          <a:p>
            <a:r>
              <a:rPr lang="en-US" sz="1200" dirty="0"/>
              <a:t>C is the compliance and </a:t>
            </a:r>
          </a:p>
          <a:p>
            <a:r>
              <a:rPr lang="en-US" sz="1200" dirty="0" err="1"/>
              <a:t>dP</a:t>
            </a:r>
            <a:r>
              <a:rPr lang="en-US" sz="1200" dirty="0"/>
              <a:t>(t)/dt is the time derivative of pressure.</a:t>
            </a:r>
          </a:p>
        </p:txBody>
      </p:sp>
      <p:pic>
        <p:nvPicPr>
          <p:cNvPr id="23" name="Picture 2" descr="undefined">
            <a:extLst>
              <a:ext uri="{FF2B5EF4-FFF2-40B4-BE49-F238E27FC236}">
                <a16:creationId xmlns:a16="http://schemas.microsoft.com/office/drawing/2014/main" id="{A8E60D6C-EC7D-485B-3258-D3C8E3F4E630}"/>
              </a:ext>
            </a:extLst>
          </p:cNvPr>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l="3894" t="1" b="3367"/>
          <a:stretch/>
        </p:blipFill>
        <p:spPr bwMode="auto">
          <a:xfrm>
            <a:off x="4077229" y="910640"/>
            <a:ext cx="2974648" cy="2215181"/>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1AEF6D7E-FC38-A443-2E73-23C56D54F3B6}"/>
              </a:ext>
            </a:extLst>
          </p:cNvPr>
          <p:cNvSpPr txBox="1"/>
          <p:nvPr/>
        </p:nvSpPr>
        <p:spPr>
          <a:xfrm>
            <a:off x="4519949" y="820291"/>
            <a:ext cx="470261" cy="300082"/>
          </a:xfrm>
          <a:prstGeom prst="rect">
            <a:avLst/>
          </a:prstGeom>
          <a:solidFill>
            <a:schemeClr val="bg1"/>
          </a:solidFill>
        </p:spPr>
        <p:txBody>
          <a:bodyPr wrap="square" rtlCol="0">
            <a:spAutoFit/>
          </a:bodyPr>
          <a:lstStyle/>
          <a:p>
            <a:r>
              <a:rPr lang="en-US" sz="1350" b="1" dirty="0"/>
              <a:t>I(t)</a:t>
            </a:r>
          </a:p>
        </p:txBody>
      </p:sp>
      <p:grpSp>
        <p:nvGrpSpPr>
          <p:cNvPr id="27" name="Group 26">
            <a:extLst>
              <a:ext uri="{FF2B5EF4-FFF2-40B4-BE49-F238E27FC236}">
                <a16:creationId xmlns:a16="http://schemas.microsoft.com/office/drawing/2014/main" id="{448906AE-7C21-C498-79D1-B17FF138DBEA}"/>
              </a:ext>
            </a:extLst>
          </p:cNvPr>
          <p:cNvGrpSpPr/>
          <p:nvPr/>
        </p:nvGrpSpPr>
        <p:grpSpPr>
          <a:xfrm>
            <a:off x="4992828" y="773288"/>
            <a:ext cx="1808566" cy="1421644"/>
            <a:chOff x="4992828" y="773288"/>
            <a:chExt cx="1808566" cy="1421644"/>
          </a:xfrm>
        </p:grpSpPr>
        <p:sp>
          <p:nvSpPr>
            <p:cNvPr id="25" name="TextBox 24">
              <a:extLst>
                <a:ext uri="{FF2B5EF4-FFF2-40B4-BE49-F238E27FC236}">
                  <a16:creationId xmlns:a16="http://schemas.microsoft.com/office/drawing/2014/main" id="{37970D77-61D4-12D3-1783-2736BAF4F0D1}"/>
                </a:ext>
              </a:extLst>
            </p:cNvPr>
            <p:cNvSpPr txBox="1"/>
            <p:nvPr/>
          </p:nvSpPr>
          <p:spPr>
            <a:xfrm>
              <a:off x="4992828" y="773288"/>
              <a:ext cx="369006" cy="300083"/>
            </a:xfrm>
            <a:prstGeom prst="rect">
              <a:avLst/>
            </a:prstGeom>
            <a:solidFill>
              <a:schemeClr val="bg1"/>
            </a:solidFill>
          </p:spPr>
          <p:txBody>
            <a:bodyPr wrap="square" rtlCol="0">
              <a:spAutoFit/>
            </a:bodyPr>
            <a:lstStyle/>
            <a:p>
              <a:pPr algn="ctr"/>
              <a:r>
                <a:rPr lang="en-US" sz="1350" b="1" dirty="0"/>
                <a:t>R1</a:t>
              </a:r>
            </a:p>
          </p:txBody>
        </p:sp>
        <p:sp>
          <p:nvSpPr>
            <p:cNvPr id="26" name="TextBox 25">
              <a:extLst>
                <a:ext uri="{FF2B5EF4-FFF2-40B4-BE49-F238E27FC236}">
                  <a16:creationId xmlns:a16="http://schemas.microsoft.com/office/drawing/2014/main" id="{94ABE764-C2EA-1A01-F6B2-51DA26B12F14}"/>
                </a:ext>
              </a:extLst>
            </p:cNvPr>
            <p:cNvSpPr txBox="1"/>
            <p:nvPr/>
          </p:nvSpPr>
          <p:spPr>
            <a:xfrm>
              <a:off x="6417111" y="1887155"/>
              <a:ext cx="384283" cy="307777"/>
            </a:xfrm>
            <a:prstGeom prst="rect">
              <a:avLst/>
            </a:prstGeom>
            <a:solidFill>
              <a:schemeClr val="bg1"/>
            </a:solidFill>
          </p:spPr>
          <p:txBody>
            <a:bodyPr wrap="square" rtlCol="0">
              <a:spAutoFit/>
            </a:bodyPr>
            <a:lstStyle/>
            <a:p>
              <a:pPr algn="ctr"/>
              <a:r>
                <a:rPr lang="en-US" sz="1350" b="1" dirty="0"/>
                <a:t>R2</a:t>
              </a:r>
            </a:p>
          </p:txBody>
        </p:sp>
      </p:grpSp>
      <mc:AlternateContent xmlns:mc="http://schemas.openxmlformats.org/markup-compatibility/2006" xmlns:a14="http://schemas.microsoft.com/office/drawing/2010/main">
        <mc:Choice Requires="a14">
          <p:sp>
            <p:nvSpPr>
              <p:cNvPr id="28" name="TextBox 6">
                <a:extLst>
                  <a:ext uri="{FF2B5EF4-FFF2-40B4-BE49-F238E27FC236}">
                    <a16:creationId xmlns:a16="http://schemas.microsoft.com/office/drawing/2014/main" id="{65E8BB2D-9157-B3C1-D81B-4EBD2E2D4873}"/>
                  </a:ext>
                </a:extLst>
              </p:cNvPr>
              <p:cNvSpPr txBox="1"/>
              <p:nvPr/>
            </p:nvSpPr>
            <p:spPr>
              <a:xfrm>
                <a:off x="3890108" y="4563135"/>
                <a:ext cx="3686545" cy="731520"/>
              </a:xfrm>
              <a:prstGeom prst="rect">
                <a:avLst/>
              </a:prstGeom>
              <a:noFill/>
            </p:spPr>
            <p:txBody>
              <a:bodyPr wrap="square" lIns="0" tIns="0" rIns="0" bIns="0" rtlCol="0">
                <a:noAutofit/>
              </a:bodyPr>
              <a:lstStyle/>
              <a:p>
                <a:pPr marL="0" marR="0">
                  <a:lnSpc>
                    <a:spcPct val="115000"/>
                  </a:lnSpc>
                  <a:spcAft>
                    <a:spcPts val="800"/>
                  </a:spcAft>
                </a:pPr>
                <a14:m>
                  <m:oMathPara xmlns:m="http://schemas.openxmlformats.org/officeDocument/2006/math">
                    <m:oMathParaPr>
                      <m:jc m:val="centerGroup"/>
                    </m:oMathParaPr>
                    <m:oMath xmlns:m="http://schemas.openxmlformats.org/officeDocument/2006/math">
                      <m:d>
                        <m:d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1+</m:t>
                          </m:r>
                          <m:f>
                            <m:f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1</m:t>
                                  </m:r>
                                </m:sub>
                              </m:sSub>
                            </m:num>
                            <m:den>
                              <m:sSub>
                                <m:sSub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2</m:t>
                                  </m:r>
                                </m:sub>
                              </m:sSub>
                            </m:den>
                          </m:f>
                        </m:e>
                      </m:d>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𝐼</m:t>
                      </m:r>
                      <m:d>
                        <m:d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𝑡</m:t>
                          </m:r>
                        </m:e>
                      </m:d>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m:t>
                      </m:r>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𝐶</m:t>
                      </m:r>
                      <m:sSub>
                        <m:sSub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1</m:t>
                          </m:r>
                        </m:sub>
                      </m:sSub>
                      <m:f>
                        <m:f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ⅆ</m:t>
                          </m:r>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𝐼</m:t>
                          </m:r>
                          <m:d>
                            <m:d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ⅆ</m:t>
                          </m:r>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𝑡</m:t>
                          </m:r>
                        </m:den>
                      </m:f>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𝑡</m:t>
                              </m:r>
                            </m:e>
                          </m:d>
                        </m:num>
                        <m:den>
                          <m:sSub>
                            <m:sSub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2</m:t>
                              </m:r>
                            </m:sub>
                          </m:sSub>
                        </m:den>
                      </m:f>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m:t>
                      </m:r>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𝐶</m:t>
                      </m:r>
                      <m:f>
                        <m:f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ⅆ</m:t>
                          </m:r>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US" sz="1400" i="1" kern="12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ⅆ</m:t>
                          </m:r>
                          <m:r>
                            <a:rPr lang="en-US" sz="1400" i="1" kern="1200">
                              <a:effectLst/>
                              <a:latin typeface="Cambria Math" panose="02040503050406030204" pitchFamily="18" charset="0"/>
                              <a:ea typeface="Calibri" panose="020F0502020204030204" pitchFamily="34" charset="0"/>
                              <a:cs typeface="Times New Roman" panose="02020603050405020304" pitchFamily="18" charset="0"/>
                            </a:rPr>
                            <m:t>𝑡</m:t>
                          </m:r>
                        </m:den>
                      </m:f>
                    </m:oMath>
                  </m:oMathPara>
                </a14:m>
                <a:endParaRPr lang="en-US" sz="105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8" name="TextBox 6">
                <a:extLst>
                  <a:ext uri="{FF2B5EF4-FFF2-40B4-BE49-F238E27FC236}">
                    <a16:creationId xmlns:a16="http://schemas.microsoft.com/office/drawing/2014/main" id="{65E8BB2D-9157-B3C1-D81B-4EBD2E2D4873}"/>
                  </a:ext>
                </a:extLst>
              </p:cNvPr>
              <p:cNvSpPr txBox="1">
                <a:spLocks noRot="1" noChangeAspect="1" noMove="1" noResize="1" noEditPoints="1" noAdjustHandles="1" noChangeArrowheads="1" noChangeShapeType="1" noTextEdit="1"/>
              </p:cNvSpPr>
              <p:nvPr/>
            </p:nvSpPr>
            <p:spPr>
              <a:xfrm>
                <a:off x="3890108" y="4563135"/>
                <a:ext cx="3686545" cy="731520"/>
              </a:xfrm>
              <a:prstGeom prst="rect">
                <a:avLst/>
              </a:prstGeom>
              <a:blipFill>
                <a:blip r:embed="rId5"/>
                <a:stretch>
                  <a:fillRect/>
                </a:stretch>
              </a:blipFill>
            </p:spPr>
            <p:txBody>
              <a:bodyPr/>
              <a:lstStyle/>
              <a:p>
                <a:r>
                  <a:rPr lang="en-US">
                    <a:noFill/>
                  </a:rPr>
                  <a:t> </a:t>
                </a:r>
              </a:p>
            </p:txBody>
          </p:sp>
        </mc:Fallback>
      </mc:AlternateContent>
      <p:pic>
        <p:nvPicPr>
          <p:cNvPr id="30" name="Picture 29">
            <a:extLst>
              <a:ext uri="{FF2B5EF4-FFF2-40B4-BE49-F238E27FC236}">
                <a16:creationId xmlns:a16="http://schemas.microsoft.com/office/drawing/2014/main" id="{F9B06819-3C82-D748-96A5-2373900AE009}"/>
              </a:ext>
            </a:extLst>
          </p:cNvPr>
          <p:cNvPicPr>
            <a:picLocks noChangeAspect="1"/>
          </p:cNvPicPr>
          <p:nvPr/>
        </p:nvPicPr>
        <p:blipFill>
          <a:blip r:embed="rId6"/>
          <a:stretch>
            <a:fillRect/>
          </a:stretch>
        </p:blipFill>
        <p:spPr>
          <a:xfrm>
            <a:off x="8547125" y="841870"/>
            <a:ext cx="2761896" cy="2124946"/>
          </a:xfrm>
          <a:prstGeom prst="rect">
            <a:avLst/>
          </a:prstGeom>
        </p:spPr>
      </p:pic>
      <p:sp>
        <p:nvSpPr>
          <p:cNvPr id="31" name="TextBox 30">
            <a:extLst>
              <a:ext uri="{FF2B5EF4-FFF2-40B4-BE49-F238E27FC236}">
                <a16:creationId xmlns:a16="http://schemas.microsoft.com/office/drawing/2014/main" id="{8C7268AC-B59B-0FC7-EDF1-927F286A36F6}"/>
              </a:ext>
            </a:extLst>
          </p:cNvPr>
          <p:cNvSpPr txBox="1"/>
          <p:nvPr/>
        </p:nvSpPr>
        <p:spPr>
          <a:xfrm>
            <a:off x="8790393" y="969464"/>
            <a:ext cx="470261" cy="300082"/>
          </a:xfrm>
          <a:prstGeom prst="rect">
            <a:avLst/>
          </a:prstGeom>
          <a:solidFill>
            <a:schemeClr val="bg1"/>
          </a:solidFill>
        </p:spPr>
        <p:txBody>
          <a:bodyPr wrap="square" rtlCol="0">
            <a:spAutoFit/>
          </a:bodyPr>
          <a:lstStyle/>
          <a:p>
            <a:r>
              <a:rPr lang="en-US" sz="1350" b="1" dirty="0"/>
              <a:t>I(t)</a:t>
            </a:r>
          </a:p>
        </p:txBody>
      </p:sp>
      <p:sp>
        <p:nvSpPr>
          <p:cNvPr id="32" name="TextBox 31">
            <a:extLst>
              <a:ext uri="{FF2B5EF4-FFF2-40B4-BE49-F238E27FC236}">
                <a16:creationId xmlns:a16="http://schemas.microsoft.com/office/drawing/2014/main" id="{819CDE59-A204-F888-009C-366B2B9CDE45}"/>
              </a:ext>
            </a:extLst>
          </p:cNvPr>
          <p:cNvSpPr txBox="1"/>
          <p:nvPr/>
        </p:nvSpPr>
        <p:spPr>
          <a:xfrm>
            <a:off x="9480689" y="1466756"/>
            <a:ext cx="386122" cy="300082"/>
          </a:xfrm>
          <a:prstGeom prst="rect">
            <a:avLst/>
          </a:prstGeom>
          <a:solidFill>
            <a:schemeClr val="bg1"/>
          </a:solidFill>
        </p:spPr>
        <p:txBody>
          <a:bodyPr wrap="square" rtlCol="0">
            <a:spAutoFit/>
          </a:bodyPr>
          <a:lstStyle/>
          <a:p>
            <a:pPr algn="ctr"/>
            <a:r>
              <a:rPr lang="en-US" sz="1350" b="1" dirty="0"/>
              <a:t>R1</a:t>
            </a:r>
          </a:p>
        </p:txBody>
      </p:sp>
      <p:sp>
        <p:nvSpPr>
          <p:cNvPr id="33" name="TextBox 32">
            <a:extLst>
              <a:ext uri="{FF2B5EF4-FFF2-40B4-BE49-F238E27FC236}">
                <a16:creationId xmlns:a16="http://schemas.microsoft.com/office/drawing/2014/main" id="{1CC2706C-0764-F6E0-7D0B-A289A146788D}"/>
              </a:ext>
            </a:extLst>
          </p:cNvPr>
          <p:cNvSpPr txBox="1"/>
          <p:nvPr/>
        </p:nvSpPr>
        <p:spPr>
          <a:xfrm>
            <a:off x="10699916" y="1904343"/>
            <a:ext cx="384283" cy="307777"/>
          </a:xfrm>
          <a:prstGeom prst="rect">
            <a:avLst/>
          </a:prstGeom>
          <a:solidFill>
            <a:schemeClr val="bg1"/>
          </a:solidFill>
        </p:spPr>
        <p:txBody>
          <a:bodyPr wrap="square" rtlCol="0">
            <a:spAutoFit/>
          </a:bodyPr>
          <a:lstStyle/>
          <a:p>
            <a:pPr algn="ctr"/>
            <a:r>
              <a:rPr lang="en-US" sz="1350" b="1" dirty="0"/>
              <a:t>R2</a:t>
            </a:r>
          </a:p>
        </p:txBody>
      </p:sp>
      <mc:AlternateContent xmlns:mc="http://schemas.openxmlformats.org/markup-compatibility/2006" xmlns:a14="http://schemas.microsoft.com/office/drawing/2010/main">
        <mc:Choice Requires="a14">
          <p:sp>
            <p:nvSpPr>
              <p:cNvPr id="34" name="TextBox 8">
                <a:extLst>
                  <a:ext uri="{FF2B5EF4-FFF2-40B4-BE49-F238E27FC236}">
                    <a16:creationId xmlns:a16="http://schemas.microsoft.com/office/drawing/2014/main" id="{2F4674A6-CFF5-089E-E079-1325C36907E6}"/>
                  </a:ext>
                </a:extLst>
              </p:cNvPr>
              <p:cNvSpPr txBox="1"/>
              <p:nvPr/>
            </p:nvSpPr>
            <p:spPr>
              <a:xfrm>
                <a:off x="7939593" y="4563135"/>
                <a:ext cx="4137083" cy="564065"/>
              </a:xfrm>
              <a:prstGeom prst="rect">
                <a:avLst/>
              </a:prstGeom>
              <a:noFill/>
            </p:spPr>
            <p:txBody>
              <a:bodyPr wrap="square" lIns="0" tIns="0" rIns="0" bIns="0" rtlCol="0">
                <a:spAutoFit/>
              </a:bodyPr>
              <a:lstStyle/>
              <a:p>
                <a:pPr marL="0" marR="0">
                  <a:lnSpc>
                    <a:spcPct val="115000"/>
                  </a:lnSpc>
                  <a:spcAft>
                    <a:spcPts val="800"/>
                  </a:spcAft>
                </a:pPr>
                <a14:m>
                  <m:oMathPara xmlns:m="http://schemas.openxmlformats.org/officeDocument/2006/math">
                    <m:oMathParaPr>
                      <m:jc m:val="centerGroup"/>
                    </m:oMathParaPr>
                    <m:oMath xmlns:m="http://schemas.openxmlformats.org/officeDocument/2006/math">
                      <m:d>
                        <m:d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1</m:t>
                          </m:r>
                          <m:r>
                            <a:rPr lang="en-US" sz="1150" kern="12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150" kern="1200">
                                      <a:effectLst/>
                                      <a:latin typeface="Cambria Math" panose="02040503050406030204" pitchFamily="18" charset="0"/>
                                      <a:ea typeface="Calibri" panose="020F0502020204030204" pitchFamily="34" charset="0"/>
                                      <a:cs typeface="Times New Roman" panose="02020603050405020304" pitchFamily="18" charset="0"/>
                                    </a:rPr>
                                    <m:t>1</m:t>
                                  </m:r>
                                </m:sub>
                              </m:sSub>
                            </m:num>
                            <m:den>
                              <m:sSub>
                                <m:sSub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150" kern="1200">
                                      <a:effectLst/>
                                      <a:latin typeface="Cambria Math" panose="02040503050406030204" pitchFamily="18" charset="0"/>
                                      <a:ea typeface="Calibri" panose="020F0502020204030204" pitchFamily="34" charset="0"/>
                                      <a:cs typeface="Times New Roman" panose="02020603050405020304" pitchFamily="18" charset="0"/>
                                    </a:rPr>
                                    <m:t>2</m:t>
                                  </m:r>
                                </m:sub>
                              </m:sSub>
                            </m:den>
                          </m:f>
                        </m:e>
                      </m:d>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𝐼</m:t>
                      </m:r>
                      <m:d>
                        <m:d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𝑡</m:t>
                          </m:r>
                        </m:e>
                      </m:d>
                      <m:r>
                        <a:rPr lang="en-US" sz="1150" kern="1200">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150" kern="1200">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𝐶</m:t>
                          </m:r>
                          <m:r>
                            <a:rPr lang="en-US" sz="1150" kern="12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𝐿</m:t>
                              </m:r>
                            </m:num>
                            <m:den>
                              <m:sSub>
                                <m:sSub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150" kern="1200">
                                      <a:effectLst/>
                                      <a:latin typeface="Cambria Math" panose="02040503050406030204" pitchFamily="18" charset="0"/>
                                      <a:ea typeface="Calibri" panose="020F0502020204030204" pitchFamily="34" charset="0"/>
                                      <a:cs typeface="Times New Roman" panose="02020603050405020304" pitchFamily="18" charset="0"/>
                                    </a:rPr>
                                    <m:t>2</m:t>
                                  </m:r>
                                </m:sub>
                              </m:sSub>
                            </m:den>
                          </m:f>
                        </m:e>
                      </m:d>
                      <m:f>
                        <m:f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ⅆ</m:t>
                          </m:r>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𝐼</m:t>
                          </m:r>
                          <m:d>
                            <m:d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𝑡</m:t>
                              </m:r>
                            </m:e>
                          </m:d>
                        </m:num>
                        <m:den>
                          <m:sSub>
                            <m:sSub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150" kern="1200">
                                  <a:effectLst/>
                                  <a:latin typeface="Cambria Math" panose="02040503050406030204" pitchFamily="18" charset="0"/>
                                  <a:ea typeface="Calibri" panose="020F0502020204030204" pitchFamily="34" charset="0"/>
                                  <a:cs typeface="Times New Roman" panose="02020603050405020304" pitchFamily="18" charset="0"/>
                                </a:rPr>
                                <m:t>2</m:t>
                              </m:r>
                            </m:sub>
                          </m:sSub>
                        </m:den>
                      </m:f>
                      <m:r>
                        <a:rPr lang="en-US" sz="1150" kern="1200">
                          <a:effectLst/>
                          <a:latin typeface="Cambria Math" panose="02040503050406030204" pitchFamily="18" charset="0"/>
                          <a:ea typeface="Calibri" panose="020F0502020204030204" pitchFamily="34" charset="0"/>
                          <a:cs typeface="Times New Roman" panose="02020603050405020304" pitchFamily="18" charset="0"/>
                        </a:rPr>
                        <m:t>+</m:t>
                      </m:r>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𝐿𝐶</m:t>
                      </m:r>
                      <m:f>
                        <m:f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ⅆ</m:t>
                              </m:r>
                            </m:e>
                            <m:sup>
                              <m:r>
                                <a:rPr lang="en-US" sz="1150" kern="1200">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𝐼</m:t>
                          </m:r>
                          <m:d>
                            <m:d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ⅆ</m:t>
                          </m:r>
                          <m:sSup>
                            <m:sSup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𝑡</m:t>
                              </m:r>
                            </m:e>
                            <m:sup>
                              <m:r>
                                <a:rPr lang="en-US" sz="1150" kern="1200">
                                  <a:effectLst/>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150" kern="12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𝑡</m:t>
                              </m:r>
                            </m:e>
                          </m:d>
                        </m:num>
                        <m:den>
                          <m:sSub>
                            <m:sSub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150" kern="1200">
                                  <a:effectLst/>
                                  <a:latin typeface="Cambria Math" panose="02040503050406030204" pitchFamily="18" charset="0"/>
                                  <a:ea typeface="Calibri" panose="020F0502020204030204" pitchFamily="34" charset="0"/>
                                  <a:cs typeface="Times New Roman" panose="02020603050405020304" pitchFamily="18" charset="0"/>
                                </a:rPr>
                                <m:t>2</m:t>
                              </m:r>
                            </m:sub>
                          </m:sSub>
                        </m:den>
                      </m:f>
                      <m:r>
                        <a:rPr lang="en-US" sz="1150" kern="1200">
                          <a:effectLst/>
                          <a:latin typeface="Cambria Math" panose="02040503050406030204" pitchFamily="18" charset="0"/>
                          <a:ea typeface="Calibri" panose="020F0502020204030204" pitchFamily="34" charset="0"/>
                          <a:cs typeface="Times New Roman" panose="02020603050405020304" pitchFamily="18" charset="0"/>
                        </a:rPr>
                        <m:t>+</m:t>
                      </m:r>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𝐶</m:t>
                      </m:r>
                      <m:f>
                        <m:f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ⅆ</m:t>
                          </m:r>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US" sz="1150" i="1" kern="12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ⅆ</m:t>
                          </m:r>
                          <m:r>
                            <a:rPr lang="en-US" sz="1150" i="1" kern="1200">
                              <a:effectLst/>
                              <a:latin typeface="Cambria Math" panose="02040503050406030204" pitchFamily="18" charset="0"/>
                              <a:ea typeface="Calibri" panose="020F0502020204030204" pitchFamily="34" charset="0"/>
                              <a:cs typeface="Times New Roman" panose="02020603050405020304" pitchFamily="18" charset="0"/>
                            </a:rPr>
                            <m:t>𝑡</m:t>
                          </m:r>
                        </m:den>
                      </m:f>
                    </m:oMath>
                  </m:oMathPara>
                </a14:m>
                <a:endParaRPr lang="en-US" sz="115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4" name="TextBox 8">
                <a:extLst>
                  <a:ext uri="{FF2B5EF4-FFF2-40B4-BE49-F238E27FC236}">
                    <a16:creationId xmlns:a16="http://schemas.microsoft.com/office/drawing/2014/main" id="{2F4674A6-CFF5-089E-E079-1325C36907E6}"/>
                  </a:ext>
                </a:extLst>
              </p:cNvPr>
              <p:cNvSpPr txBox="1">
                <a:spLocks noRot="1" noChangeAspect="1" noMove="1" noResize="1" noEditPoints="1" noAdjustHandles="1" noChangeArrowheads="1" noChangeShapeType="1" noTextEdit="1"/>
              </p:cNvSpPr>
              <p:nvPr/>
            </p:nvSpPr>
            <p:spPr>
              <a:xfrm>
                <a:off x="7939593" y="4563135"/>
                <a:ext cx="4137083" cy="564065"/>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63642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FEA8928A-BBAE-9D9A-2ADE-483A061DED55}"/>
              </a:ext>
            </a:extLst>
          </p:cNvPr>
          <p:cNvGrpSpPr/>
          <p:nvPr/>
        </p:nvGrpSpPr>
        <p:grpSpPr>
          <a:xfrm>
            <a:off x="1999159" y="794622"/>
            <a:ext cx="8000655" cy="5745515"/>
            <a:chOff x="1596189" y="341777"/>
            <a:chExt cx="8000655" cy="6174446"/>
          </a:xfrm>
        </p:grpSpPr>
        <p:grpSp>
          <p:nvGrpSpPr>
            <p:cNvPr id="63" name="Group 62">
              <a:extLst>
                <a:ext uri="{FF2B5EF4-FFF2-40B4-BE49-F238E27FC236}">
                  <a16:creationId xmlns:a16="http://schemas.microsoft.com/office/drawing/2014/main" id="{4A8FE3D5-A21F-0F7D-3F91-A7565C440E26}"/>
                </a:ext>
              </a:extLst>
            </p:cNvPr>
            <p:cNvGrpSpPr/>
            <p:nvPr/>
          </p:nvGrpSpPr>
          <p:grpSpPr>
            <a:xfrm>
              <a:off x="1596189" y="341777"/>
              <a:ext cx="8000655" cy="6174446"/>
              <a:chOff x="1612231" y="341777"/>
              <a:chExt cx="8000655" cy="6174446"/>
            </a:xfrm>
          </p:grpSpPr>
          <p:grpSp>
            <p:nvGrpSpPr>
              <p:cNvPr id="21" name="Group 20">
                <a:extLst>
                  <a:ext uri="{FF2B5EF4-FFF2-40B4-BE49-F238E27FC236}">
                    <a16:creationId xmlns:a16="http://schemas.microsoft.com/office/drawing/2014/main" id="{4B929889-ECC6-E8B8-3FBA-45CD00F98EC7}"/>
                  </a:ext>
                </a:extLst>
              </p:cNvPr>
              <p:cNvGrpSpPr/>
              <p:nvPr/>
            </p:nvGrpSpPr>
            <p:grpSpPr>
              <a:xfrm>
                <a:off x="1612231" y="1166181"/>
                <a:ext cx="4391445" cy="5350042"/>
                <a:chOff x="617621" y="401053"/>
                <a:chExt cx="4391445" cy="5382126"/>
              </a:xfrm>
            </p:grpSpPr>
            <p:pic>
              <p:nvPicPr>
                <p:cNvPr id="5" name="Picture 4">
                  <a:extLst>
                    <a:ext uri="{FF2B5EF4-FFF2-40B4-BE49-F238E27FC236}">
                      <a16:creationId xmlns:a16="http://schemas.microsoft.com/office/drawing/2014/main" id="{1FA6FEEC-AE73-4FA5-B156-99F11700A2EE}"/>
                    </a:ext>
                  </a:extLst>
                </p:cNvPr>
                <p:cNvPicPr>
                  <a:picLocks noChangeAspect="1"/>
                </p:cNvPicPr>
                <p:nvPr/>
              </p:nvPicPr>
              <p:blipFill rotWithShape="1">
                <a:blip r:embed="rId2" cstate="print">
                  <a:duotone>
                    <a:schemeClr val="accent2">
                      <a:shade val="45000"/>
                      <a:satMod val="135000"/>
                    </a:schemeClr>
                    <a:prstClr val="white"/>
                  </a:duotone>
                  <a:extLst>
                    <a:ext uri="{28A0092B-C50C-407E-A947-70E740481C1C}">
                      <a14:useLocalDpi xmlns:a14="http://schemas.microsoft.com/office/drawing/2010/main" val="0"/>
                    </a:ext>
                  </a:extLst>
                </a:blip>
                <a:srcRect l="26710" t="7878" r="26273"/>
                <a:stretch/>
              </p:blipFill>
              <p:spPr bwMode="auto">
                <a:xfrm>
                  <a:off x="617621" y="678919"/>
                  <a:ext cx="4391445" cy="5104260"/>
                </a:xfrm>
                <a:prstGeom prst="rect">
                  <a:avLst/>
                </a:prstGeom>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2EA081EE-DB3E-0FB8-68C0-777D10FC78E7}"/>
                    </a:ext>
                  </a:extLst>
                </p:cNvPr>
                <p:cNvSpPr txBox="1"/>
                <p:nvPr/>
              </p:nvSpPr>
              <p:spPr>
                <a:xfrm>
                  <a:off x="1740079" y="401053"/>
                  <a:ext cx="301686" cy="369332"/>
                </a:xfrm>
                <a:prstGeom prst="rect">
                  <a:avLst/>
                </a:prstGeom>
                <a:noFill/>
              </p:spPr>
              <p:txBody>
                <a:bodyPr wrap="none" rtlCol="0">
                  <a:spAutoFit/>
                </a:bodyPr>
                <a:lstStyle/>
                <a:p>
                  <a:r>
                    <a:rPr lang="en-US" dirty="0"/>
                    <a:t>2</a:t>
                  </a:r>
                </a:p>
              </p:txBody>
            </p:sp>
            <p:sp>
              <p:nvSpPr>
                <p:cNvPr id="7" name="TextBox 6">
                  <a:extLst>
                    <a:ext uri="{FF2B5EF4-FFF2-40B4-BE49-F238E27FC236}">
                      <a16:creationId xmlns:a16="http://schemas.microsoft.com/office/drawing/2014/main" id="{7A61A414-784F-D895-E9D6-48CAAD452B61}"/>
                    </a:ext>
                  </a:extLst>
                </p:cNvPr>
                <p:cNvSpPr txBox="1"/>
                <p:nvPr/>
              </p:nvSpPr>
              <p:spPr>
                <a:xfrm>
                  <a:off x="2662500" y="2222195"/>
                  <a:ext cx="301686" cy="369332"/>
                </a:xfrm>
                <a:prstGeom prst="rect">
                  <a:avLst/>
                </a:prstGeom>
                <a:noFill/>
              </p:spPr>
              <p:txBody>
                <a:bodyPr wrap="none" rtlCol="0">
                  <a:spAutoFit/>
                </a:bodyPr>
                <a:lstStyle/>
                <a:p>
                  <a:r>
                    <a:rPr lang="en-US" dirty="0"/>
                    <a:t>1</a:t>
                  </a:r>
                </a:p>
              </p:txBody>
            </p:sp>
            <p:sp>
              <p:nvSpPr>
                <p:cNvPr id="8" name="TextBox 7">
                  <a:extLst>
                    <a:ext uri="{FF2B5EF4-FFF2-40B4-BE49-F238E27FC236}">
                      <a16:creationId xmlns:a16="http://schemas.microsoft.com/office/drawing/2014/main" id="{D5A3275F-90AB-A736-C6F9-97BC9E50973A}"/>
                    </a:ext>
                  </a:extLst>
                </p:cNvPr>
                <p:cNvSpPr txBox="1"/>
                <p:nvPr/>
              </p:nvSpPr>
              <p:spPr>
                <a:xfrm>
                  <a:off x="1435450" y="2831795"/>
                  <a:ext cx="301686" cy="369332"/>
                </a:xfrm>
                <a:prstGeom prst="rect">
                  <a:avLst/>
                </a:prstGeom>
                <a:noFill/>
              </p:spPr>
              <p:txBody>
                <a:bodyPr wrap="none" rtlCol="0">
                  <a:spAutoFit/>
                </a:bodyPr>
                <a:lstStyle/>
                <a:p>
                  <a:r>
                    <a:rPr lang="en-US" dirty="0"/>
                    <a:t>3</a:t>
                  </a:r>
                </a:p>
              </p:txBody>
            </p:sp>
            <p:sp>
              <p:nvSpPr>
                <p:cNvPr id="9" name="TextBox 8">
                  <a:extLst>
                    <a:ext uri="{FF2B5EF4-FFF2-40B4-BE49-F238E27FC236}">
                      <a16:creationId xmlns:a16="http://schemas.microsoft.com/office/drawing/2014/main" id="{D1FB1D4F-1BB5-3C6B-F08E-660049104260}"/>
                    </a:ext>
                  </a:extLst>
                </p:cNvPr>
                <p:cNvSpPr txBox="1"/>
                <p:nvPr/>
              </p:nvSpPr>
              <p:spPr>
                <a:xfrm>
                  <a:off x="2101026" y="4499811"/>
                  <a:ext cx="301686" cy="369332"/>
                </a:xfrm>
                <a:prstGeom prst="rect">
                  <a:avLst/>
                </a:prstGeom>
                <a:noFill/>
              </p:spPr>
              <p:txBody>
                <a:bodyPr wrap="none" rtlCol="0">
                  <a:spAutoFit/>
                </a:bodyPr>
                <a:lstStyle/>
                <a:p>
                  <a:r>
                    <a:rPr lang="en-US" dirty="0"/>
                    <a:t>4</a:t>
                  </a:r>
                </a:p>
              </p:txBody>
            </p:sp>
            <p:sp>
              <p:nvSpPr>
                <p:cNvPr id="10" name="TextBox 9">
                  <a:extLst>
                    <a:ext uri="{FF2B5EF4-FFF2-40B4-BE49-F238E27FC236}">
                      <a16:creationId xmlns:a16="http://schemas.microsoft.com/office/drawing/2014/main" id="{0936B7E4-D967-DC84-3FEB-408C3E4BE342}"/>
                    </a:ext>
                  </a:extLst>
                </p:cNvPr>
                <p:cNvSpPr txBox="1"/>
                <p:nvPr/>
              </p:nvSpPr>
              <p:spPr>
                <a:xfrm>
                  <a:off x="2977285" y="2887397"/>
                  <a:ext cx="301686" cy="369332"/>
                </a:xfrm>
                <a:prstGeom prst="rect">
                  <a:avLst/>
                </a:prstGeom>
                <a:noFill/>
              </p:spPr>
              <p:txBody>
                <a:bodyPr wrap="none" rtlCol="0">
                  <a:spAutoFit/>
                </a:bodyPr>
                <a:lstStyle/>
                <a:p>
                  <a:r>
                    <a:rPr lang="en-US" dirty="0"/>
                    <a:t>5</a:t>
                  </a:r>
                </a:p>
              </p:txBody>
            </p:sp>
            <p:sp>
              <p:nvSpPr>
                <p:cNvPr id="11" name="TextBox 10">
                  <a:extLst>
                    <a:ext uri="{FF2B5EF4-FFF2-40B4-BE49-F238E27FC236}">
                      <a16:creationId xmlns:a16="http://schemas.microsoft.com/office/drawing/2014/main" id="{764E0015-C1B2-10FB-A6DA-ECCC75E24762}"/>
                    </a:ext>
                  </a:extLst>
                </p:cNvPr>
                <p:cNvSpPr txBox="1"/>
                <p:nvPr/>
              </p:nvSpPr>
              <p:spPr>
                <a:xfrm>
                  <a:off x="3735274" y="4869143"/>
                  <a:ext cx="301686" cy="369332"/>
                </a:xfrm>
                <a:prstGeom prst="rect">
                  <a:avLst/>
                </a:prstGeom>
                <a:noFill/>
              </p:spPr>
              <p:txBody>
                <a:bodyPr wrap="none" rtlCol="0">
                  <a:spAutoFit/>
                </a:bodyPr>
                <a:lstStyle/>
                <a:p>
                  <a:r>
                    <a:rPr lang="en-US" dirty="0"/>
                    <a:t>6</a:t>
                  </a:r>
                </a:p>
              </p:txBody>
            </p:sp>
            <p:sp>
              <p:nvSpPr>
                <p:cNvPr id="12" name="TextBox 11">
                  <a:extLst>
                    <a:ext uri="{FF2B5EF4-FFF2-40B4-BE49-F238E27FC236}">
                      <a16:creationId xmlns:a16="http://schemas.microsoft.com/office/drawing/2014/main" id="{B457CFCD-D04B-73D3-6677-62E9D2C5B576}"/>
                    </a:ext>
                  </a:extLst>
                </p:cNvPr>
                <p:cNvSpPr txBox="1"/>
                <p:nvPr/>
              </p:nvSpPr>
              <p:spPr>
                <a:xfrm>
                  <a:off x="4217434" y="2759060"/>
                  <a:ext cx="301686" cy="369332"/>
                </a:xfrm>
                <a:prstGeom prst="rect">
                  <a:avLst/>
                </a:prstGeom>
                <a:noFill/>
              </p:spPr>
              <p:txBody>
                <a:bodyPr wrap="none" rtlCol="0">
                  <a:spAutoFit/>
                </a:bodyPr>
                <a:lstStyle/>
                <a:p>
                  <a:r>
                    <a:rPr lang="en-US" dirty="0"/>
                    <a:t>7</a:t>
                  </a:r>
                </a:p>
              </p:txBody>
            </p:sp>
            <p:sp>
              <p:nvSpPr>
                <p:cNvPr id="13" name="TextBox 12">
                  <a:extLst>
                    <a:ext uri="{FF2B5EF4-FFF2-40B4-BE49-F238E27FC236}">
                      <a16:creationId xmlns:a16="http://schemas.microsoft.com/office/drawing/2014/main" id="{0E6C6CBE-7DC2-EF22-3ACD-B58BA5E9DC13}"/>
                    </a:ext>
                  </a:extLst>
                </p:cNvPr>
                <p:cNvSpPr txBox="1"/>
                <p:nvPr/>
              </p:nvSpPr>
              <p:spPr>
                <a:xfrm>
                  <a:off x="4632737" y="3344597"/>
                  <a:ext cx="301686" cy="369332"/>
                </a:xfrm>
                <a:prstGeom prst="rect">
                  <a:avLst/>
                </a:prstGeom>
                <a:noFill/>
              </p:spPr>
              <p:txBody>
                <a:bodyPr wrap="none" rtlCol="0">
                  <a:spAutoFit/>
                </a:bodyPr>
                <a:lstStyle/>
                <a:p>
                  <a:r>
                    <a:rPr lang="en-US" dirty="0"/>
                    <a:t>8</a:t>
                  </a:r>
                </a:p>
              </p:txBody>
            </p:sp>
            <p:sp>
              <p:nvSpPr>
                <p:cNvPr id="14" name="TextBox 13">
                  <a:extLst>
                    <a:ext uri="{FF2B5EF4-FFF2-40B4-BE49-F238E27FC236}">
                      <a16:creationId xmlns:a16="http://schemas.microsoft.com/office/drawing/2014/main" id="{EAB58A9A-503D-E914-7FE3-494CEA72EC12}"/>
                    </a:ext>
                  </a:extLst>
                </p:cNvPr>
                <p:cNvSpPr txBox="1"/>
                <p:nvPr/>
              </p:nvSpPr>
              <p:spPr>
                <a:xfrm>
                  <a:off x="4405694" y="3681663"/>
                  <a:ext cx="301686" cy="369332"/>
                </a:xfrm>
                <a:prstGeom prst="rect">
                  <a:avLst/>
                </a:prstGeom>
                <a:noFill/>
              </p:spPr>
              <p:txBody>
                <a:bodyPr wrap="none" rtlCol="0">
                  <a:spAutoFit/>
                </a:bodyPr>
                <a:lstStyle/>
                <a:p>
                  <a:r>
                    <a:rPr lang="en-US" dirty="0"/>
                    <a:t>9</a:t>
                  </a:r>
                </a:p>
              </p:txBody>
            </p:sp>
            <p:sp>
              <p:nvSpPr>
                <p:cNvPr id="15" name="TextBox 14">
                  <a:extLst>
                    <a:ext uri="{FF2B5EF4-FFF2-40B4-BE49-F238E27FC236}">
                      <a16:creationId xmlns:a16="http://schemas.microsoft.com/office/drawing/2014/main" id="{333CB0EE-F8B8-3673-4393-2F41979BB509}"/>
                    </a:ext>
                  </a:extLst>
                </p:cNvPr>
                <p:cNvSpPr txBox="1"/>
                <p:nvPr/>
              </p:nvSpPr>
              <p:spPr>
                <a:xfrm>
                  <a:off x="4080881" y="3505018"/>
                  <a:ext cx="418704" cy="369332"/>
                </a:xfrm>
                <a:prstGeom prst="rect">
                  <a:avLst/>
                </a:prstGeom>
                <a:noFill/>
              </p:spPr>
              <p:txBody>
                <a:bodyPr wrap="none" rtlCol="0">
                  <a:spAutoFit/>
                </a:bodyPr>
                <a:lstStyle/>
                <a:p>
                  <a:r>
                    <a:rPr lang="en-US" dirty="0"/>
                    <a:t>10</a:t>
                  </a:r>
                </a:p>
              </p:txBody>
            </p:sp>
            <p:sp>
              <p:nvSpPr>
                <p:cNvPr id="16" name="TextBox 15">
                  <a:extLst>
                    <a:ext uri="{FF2B5EF4-FFF2-40B4-BE49-F238E27FC236}">
                      <a16:creationId xmlns:a16="http://schemas.microsoft.com/office/drawing/2014/main" id="{35D448CA-3CB0-D1EE-4E0D-D0B92A80BECB}"/>
                    </a:ext>
                  </a:extLst>
                </p:cNvPr>
                <p:cNvSpPr txBox="1"/>
                <p:nvPr/>
              </p:nvSpPr>
              <p:spPr>
                <a:xfrm>
                  <a:off x="3525922" y="2220033"/>
                  <a:ext cx="418704" cy="369332"/>
                </a:xfrm>
                <a:prstGeom prst="rect">
                  <a:avLst/>
                </a:prstGeom>
                <a:noFill/>
              </p:spPr>
              <p:txBody>
                <a:bodyPr wrap="none" rtlCol="0">
                  <a:spAutoFit/>
                </a:bodyPr>
                <a:lstStyle/>
                <a:p>
                  <a:r>
                    <a:rPr lang="en-US" dirty="0"/>
                    <a:t>11</a:t>
                  </a:r>
                </a:p>
              </p:txBody>
            </p:sp>
          </p:grpSp>
          <p:cxnSp>
            <p:nvCxnSpPr>
              <p:cNvPr id="24" name="Straight Connector 23">
                <a:extLst>
                  <a:ext uri="{FF2B5EF4-FFF2-40B4-BE49-F238E27FC236}">
                    <a16:creationId xmlns:a16="http://schemas.microsoft.com/office/drawing/2014/main" id="{A748EF78-19F8-581D-506C-1C0113528D5D}"/>
                  </a:ext>
                </a:extLst>
              </p:cNvPr>
              <p:cNvCxnSpPr/>
              <p:nvPr/>
            </p:nvCxnSpPr>
            <p:spPr>
              <a:xfrm flipV="1">
                <a:off x="2731746" y="1066079"/>
                <a:ext cx="64658" cy="467232"/>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208EC3BE-655C-A5C6-26F7-A412DC95EA41}"/>
                  </a:ext>
                </a:extLst>
              </p:cNvPr>
              <p:cNvCxnSpPr>
                <a:cxnSpLocks/>
              </p:cNvCxnSpPr>
              <p:nvPr/>
            </p:nvCxnSpPr>
            <p:spPr>
              <a:xfrm>
                <a:off x="2796404" y="1066079"/>
                <a:ext cx="11832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9" name="Picture 38">
                <a:extLst>
                  <a:ext uri="{FF2B5EF4-FFF2-40B4-BE49-F238E27FC236}">
                    <a16:creationId xmlns:a16="http://schemas.microsoft.com/office/drawing/2014/main" id="{385A64F6-E6C4-C8AB-B4EE-4B5A6C334AE5}"/>
                  </a:ext>
                </a:extLst>
              </p:cNvPr>
              <p:cNvPicPr>
                <a:picLocks noChangeAspect="1"/>
              </p:cNvPicPr>
              <p:nvPr/>
            </p:nvPicPr>
            <p:blipFill>
              <a:blip r:embed="rId3"/>
              <a:stretch>
                <a:fillRect/>
              </a:stretch>
            </p:blipFill>
            <p:spPr>
              <a:xfrm>
                <a:off x="4044334" y="800148"/>
                <a:ext cx="1918768" cy="780640"/>
              </a:xfrm>
              <a:prstGeom prst="rect">
                <a:avLst/>
              </a:prstGeom>
            </p:spPr>
          </p:pic>
          <p:pic>
            <p:nvPicPr>
              <p:cNvPr id="44" name="Picture 43">
                <a:extLst>
                  <a:ext uri="{FF2B5EF4-FFF2-40B4-BE49-F238E27FC236}">
                    <a16:creationId xmlns:a16="http://schemas.microsoft.com/office/drawing/2014/main" id="{A18B99C8-0DFA-7EA1-5D61-15B07985B79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49414" y="1698711"/>
                <a:ext cx="2203863" cy="1567110"/>
              </a:xfrm>
              <a:prstGeom prst="rect">
                <a:avLst/>
              </a:prstGeom>
              <a:noFill/>
              <a:ln>
                <a:noFill/>
              </a:ln>
            </p:spPr>
          </p:pic>
          <p:sp>
            <p:nvSpPr>
              <p:cNvPr id="47" name="TextBox 46">
                <a:extLst>
                  <a:ext uri="{FF2B5EF4-FFF2-40B4-BE49-F238E27FC236}">
                    <a16:creationId xmlns:a16="http://schemas.microsoft.com/office/drawing/2014/main" id="{D3E5C196-9BA9-2C4B-2229-3331ECD7D4BE}"/>
                  </a:ext>
                </a:extLst>
              </p:cNvPr>
              <p:cNvSpPr txBox="1"/>
              <p:nvPr/>
            </p:nvSpPr>
            <p:spPr>
              <a:xfrm>
                <a:off x="6449414" y="1371673"/>
                <a:ext cx="1691953" cy="338554"/>
              </a:xfrm>
              <a:prstGeom prst="rect">
                <a:avLst/>
              </a:prstGeom>
              <a:noFill/>
            </p:spPr>
            <p:txBody>
              <a:bodyPr wrap="square" rtlCol="0">
                <a:spAutoFit/>
              </a:bodyPr>
              <a:lstStyle/>
              <a:p>
                <a:r>
                  <a:rPr lang="en-US" sz="1600" b="1" dirty="0">
                    <a:effectLst/>
                    <a:latin typeface="Arial" panose="020B0604020202020204" pitchFamily="34" charset="0"/>
                    <a:ea typeface="Calibri" panose="020F0502020204030204" pitchFamily="34" charset="0"/>
                    <a:cs typeface="Arial" panose="020B0604020202020204" pitchFamily="34" charset="0"/>
                  </a:rPr>
                  <a:t>Inlet Flow (1):</a:t>
                </a:r>
                <a:endParaRPr lang="en-US" sz="1600" b="1" dirty="0">
                  <a:latin typeface="Arial" panose="020B0604020202020204" pitchFamily="34" charset="0"/>
                  <a:cs typeface="Arial" panose="020B0604020202020204" pitchFamily="34" charset="0"/>
                </a:endParaRPr>
              </a:p>
            </p:txBody>
          </p:sp>
          <p:pic>
            <p:nvPicPr>
              <p:cNvPr id="48" name="Picture 47">
                <a:extLst>
                  <a:ext uri="{FF2B5EF4-FFF2-40B4-BE49-F238E27FC236}">
                    <a16:creationId xmlns:a16="http://schemas.microsoft.com/office/drawing/2014/main" id="{165EFA45-400B-25BD-F336-715A7A77D14A}"/>
                  </a:ext>
                </a:extLst>
              </p:cNvPr>
              <p:cNvPicPr>
                <a:picLocks noChangeAspect="1"/>
              </p:cNvPicPr>
              <p:nvPr/>
            </p:nvPicPr>
            <p:blipFill>
              <a:blip r:embed="rId5"/>
              <a:stretch>
                <a:fillRect/>
              </a:stretch>
            </p:blipFill>
            <p:spPr>
              <a:xfrm>
                <a:off x="6417329" y="4275743"/>
                <a:ext cx="2711543" cy="982935"/>
              </a:xfrm>
              <a:prstGeom prst="rect">
                <a:avLst/>
              </a:prstGeom>
            </p:spPr>
          </p:pic>
          <p:sp>
            <p:nvSpPr>
              <p:cNvPr id="49" name="Text Box 2">
                <a:extLst>
                  <a:ext uri="{FF2B5EF4-FFF2-40B4-BE49-F238E27FC236}">
                    <a16:creationId xmlns:a16="http://schemas.microsoft.com/office/drawing/2014/main" id="{E6814AF4-F3E2-47F9-AB7F-805B0D8A8CE4}"/>
                  </a:ext>
                </a:extLst>
              </p:cNvPr>
              <p:cNvSpPr txBox="1">
                <a:spLocks noChangeArrowheads="1"/>
              </p:cNvSpPr>
              <p:nvPr/>
            </p:nvSpPr>
            <p:spPr bwMode="auto">
              <a:xfrm rot="10800000" flipH="1" flipV="1">
                <a:off x="6331559" y="3510132"/>
                <a:ext cx="3281327" cy="660816"/>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nSpc>
                    <a:spcPct val="115000"/>
                  </a:lnSpc>
                  <a:spcAft>
                    <a:spcPts val="800"/>
                  </a:spcAft>
                </a:pPr>
                <a:r>
                  <a:rPr lang="en-US" sz="1600" b="1" kern="100" dirty="0">
                    <a:effectLst/>
                    <a:latin typeface="Arial" panose="020B0604020202020204" pitchFamily="34" charset="0"/>
                    <a:ea typeface="Calibri" panose="020F0502020204030204" pitchFamily="34" charset="0"/>
                    <a:cs typeface="Arial" panose="020B0604020202020204" pitchFamily="34" charset="0"/>
                  </a:rPr>
                  <a:t>BC conditions from Outlets ‘3’ to ‘11’</a:t>
                </a:r>
              </a:p>
            </p:txBody>
          </p:sp>
          <p:sp>
            <p:nvSpPr>
              <p:cNvPr id="50" name="Text Box 2">
                <a:extLst>
                  <a:ext uri="{FF2B5EF4-FFF2-40B4-BE49-F238E27FC236}">
                    <a16:creationId xmlns:a16="http://schemas.microsoft.com/office/drawing/2014/main" id="{B3FA2576-D97C-A437-BDAE-A000F8724AF1}"/>
                  </a:ext>
                </a:extLst>
              </p:cNvPr>
              <p:cNvSpPr txBox="1">
                <a:spLocks noChangeArrowheads="1"/>
              </p:cNvSpPr>
              <p:nvPr/>
            </p:nvSpPr>
            <p:spPr bwMode="auto">
              <a:xfrm rot="10800000" flipH="1" flipV="1">
                <a:off x="3269478" y="341777"/>
                <a:ext cx="3675420" cy="423244"/>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nSpc>
                    <a:spcPct val="115000"/>
                  </a:lnSpc>
                  <a:spcAft>
                    <a:spcPts val="800"/>
                  </a:spcAft>
                </a:pPr>
                <a:r>
                  <a:rPr lang="en-US" sz="1600" b="1" kern="100" dirty="0">
                    <a:effectLst/>
                    <a:latin typeface="Arial" panose="020B0604020202020204" pitchFamily="34" charset="0"/>
                    <a:ea typeface="Calibri" panose="020F0502020204030204" pitchFamily="34" charset="0"/>
                    <a:cs typeface="Arial" panose="020B0604020202020204" pitchFamily="34" charset="0"/>
                  </a:rPr>
                  <a:t>BC conditions for Aortic Outlet ‘2’</a:t>
                </a:r>
              </a:p>
            </p:txBody>
          </p:sp>
        </p:grpSp>
        <p:grpSp>
          <p:nvGrpSpPr>
            <p:cNvPr id="64" name="Group 63">
              <a:extLst>
                <a:ext uri="{FF2B5EF4-FFF2-40B4-BE49-F238E27FC236}">
                  <a16:creationId xmlns:a16="http://schemas.microsoft.com/office/drawing/2014/main" id="{10F336E1-486B-293C-C56A-6F753F72F697}"/>
                </a:ext>
              </a:extLst>
            </p:cNvPr>
            <p:cNvGrpSpPr/>
            <p:nvPr/>
          </p:nvGrpSpPr>
          <p:grpSpPr>
            <a:xfrm>
              <a:off x="3481137" y="2632353"/>
              <a:ext cx="2936192" cy="1027865"/>
              <a:chOff x="3481137" y="2632353"/>
              <a:chExt cx="2936192" cy="1027865"/>
            </a:xfrm>
          </p:grpSpPr>
          <p:cxnSp>
            <p:nvCxnSpPr>
              <p:cNvPr id="54" name="Straight Connector 53">
                <a:extLst>
                  <a:ext uri="{FF2B5EF4-FFF2-40B4-BE49-F238E27FC236}">
                    <a16:creationId xmlns:a16="http://schemas.microsoft.com/office/drawing/2014/main" id="{4A1ECB8F-0D76-4138-4EE8-B20AA09BBE25}"/>
                  </a:ext>
                </a:extLst>
              </p:cNvPr>
              <p:cNvCxnSpPr>
                <a:cxnSpLocks/>
              </p:cNvCxnSpPr>
              <p:nvPr/>
            </p:nvCxnSpPr>
            <p:spPr>
              <a:xfrm flipH="1">
                <a:off x="3858125" y="2632353"/>
                <a:ext cx="2559204" cy="1027865"/>
              </a:xfrm>
              <a:prstGeom prst="line">
                <a:avLst/>
              </a:prstGeom>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C7FC092C-E06C-78B0-A9E1-F6656C82BBCC}"/>
                  </a:ext>
                </a:extLst>
              </p:cNvPr>
              <p:cNvCxnSpPr>
                <a:cxnSpLocks/>
              </p:cNvCxnSpPr>
              <p:nvPr/>
            </p:nvCxnSpPr>
            <p:spPr>
              <a:xfrm flipH="1" flipV="1">
                <a:off x="3481137" y="3110021"/>
                <a:ext cx="376988" cy="550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sp>
        <p:nvSpPr>
          <p:cNvPr id="2" name="TextBox 1">
            <a:extLst>
              <a:ext uri="{FF2B5EF4-FFF2-40B4-BE49-F238E27FC236}">
                <a16:creationId xmlns:a16="http://schemas.microsoft.com/office/drawing/2014/main" id="{5B7205EA-191D-B0E2-214B-DC746C73C859}"/>
              </a:ext>
            </a:extLst>
          </p:cNvPr>
          <p:cNvSpPr txBox="1"/>
          <p:nvPr/>
        </p:nvSpPr>
        <p:spPr>
          <a:xfrm>
            <a:off x="181214" y="132854"/>
            <a:ext cx="1098111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Implementing the Windkessel boundary conditions in 3-D Human Coronary Arterial Tree:</a:t>
            </a:r>
          </a:p>
        </p:txBody>
      </p:sp>
    </p:spTree>
    <p:extLst>
      <p:ext uri="{BB962C8B-B14F-4D97-AF65-F5344CB8AC3E}">
        <p14:creationId xmlns:p14="http://schemas.microsoft.com/office/powerpoint/2010/main" val="1614251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0CCA7-C19C-FB65-8099-8E308BD54C93}"/>
              </a:ext>
            </a:extLst>
          </p:cNvPr>
          <p:cNvSpPr>
            <a:spLocks noGrp="1"/>
          </p:cNvSpPr>
          <p:nvPr>
            <p:ph type="title"/>
          </p:nvPr>
        </p:nvSpPr>
        <p:spPr>
          <a:xfrm>
            <a:off x="768532" y="209480"/>
            <a:ext cx="10515600" cy="627651"/>
          </a:xfrm>
        </p:spPr>
        <p:txBody>
          <a:bodyPr>
            <a:noAutofit/>
          </a:bodyPr>
          <a:lstStyle/>
          <a:p>
            <a:r>
              <a:rPr lang="en-US" b="1" dirty="0"/>
              <a:t>Results and Analysis</a:t>
            </a:r>
          </a:p>
        </p:txBody>
      </p:sp>
      <p:sp>
        <p:nvSpPr>
          <p:cNvPr id="3" name="Content Placeholder 2">
            <a:extLst>
              <a:ext uri="{FF2B5EF4-FFF2-40B4-BE49-F238E27FC236}">
                <a16:creationId xmlns:a16="http://schemas.microsoft.com/office/drawing/2014/main" id="{3E6C415F-C883-4BC8-AAE5-E4717DF423D9}"/>
              </a:ext>
            </a:extLst>
          </p:cNvPr>
          <p:cNvSpPr>
            <a:spLocks noGrp="1"/>
          </p:cNvSpPr>
          <p:nvPr>
            <p:ph idx="1"/>
          </p:nvPr>
        </p:nvSpPr>
        <p:spPr>
          <a:xfrm>
            <a:off x="1193074" y="1175657"/>
            <a:ext cx="10091057" cy="5472863"/>
          </a:xfrm>
        </p:spPr>
        <p:txBody>
          <a:bodyPr>
            <a:noAutofit/>
          </a:bodyPr>
          <a:lstStyle/>
          <a:p>
            <a:r>
              <a:rPr lang="en-US" sz="2000" dirty="0">
                <a:latin typeface="Times New Roman" panose="02020603050405020304" pitchFamily="18" charset="0"/>
                <a:cs typeface="Times New Roman" panose="02020603050405020304" pitchFamily="18" charset="0"/>
              </a:rPr>
              <a:t>0-Dimensional Windkessel Models </a:t>
            </a:r>
            <a:r>
              <a:rPr lang="en-US" sz="2000" dirty="0" err="1">
                <a:latin typeface="Times New Roman" panose="02020603050405020304" pitchFamily="18" charset="0"/>
                <a:cs typeface="Times New Roman" panose="02020603050405020304" pitchFamily="18" charset="0"/>
              </a:rPr>
              <a:t>behaviour</a:t>
            </a:r>
            <a:r>
              <a:rPr lang="en-US" sz="2000" dirty="0">
                <a:latin typeface="Times New Roman" panose="02020603050405020304" pitchFamily="18" charset="0"/>
                <a:cs typeface="Times New Roman" panose="02020603050405020304" pitchFamily="18" charset="0"/>
              </a:rPr>
              <a:t> estimated was using MATLAB software.</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lvl="1" algn="just"/>
            <a:r>
              <a:rPr lang="en-US" sz="2000" dirty="0">
                <a:latin typeface="Times New Roman" panose="02020603050405020304" pitchFamily="18" charset="0"/>
                <a:cs typeface="Times New Roman" panose="02020603050405020304" pitchFamily="18" charset="0"/>
              </a:rPr>
              <a:t>In this all the 3 element Windkessel Models were simulated and results were captured.</a:t>
            </a:r>
          </a:p>
          <a:p>
            <a:pPr lvl="1" algn="just"/>
            <a:r>
              <a:rPr lang="en-US" sz="2000" dirty="0">
                <a:latin typeface="Times New Roman" panose="02020603050405020304" pitchFamily="18" charset="0"/>
                <a:cs typeface="Times New Roman" panose="02020603050405020304" pitchFamily="18" charset="0"/>
              </a:rPr>
              <a:t>Performed an uncertainty analysis in the 0-D Windkessel Model using Monte-Carlo Simulation.</a:t>
            </a:r>
          </a:p>
          <a:p>
            <a:pPr lvl="1" algn="just"/>
            <a:r>
              <a:rPr lang="en-US" sz="2000" dirty="0">
                <a:latin typeface="Times New Roman" panose="02020603050405020304" pitchFamily="18" charset="0"/>
                <a:cs typeface="Times New Roman" panose="02020603050405020304" pitchFamily="18" charset="0"/>
              </a:rPr>
              <a:t>Also performed a Sensitivity/Variation Analysis by changing the parameters value by certain percentages.</a:t>
            </a:r>
          </a:p>
          <a:p>
            <a:pPr marL="457200" lvl="1"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3-Dimensional Patient Specific Coronary Arterial tree hemodynamics was studied using SIMVASCULAR software.</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lvl="1" algn="just"/>
            <a:r>
              <a:rPr lang="en-US" sz="2000" dirty="0">
                <a:latin typeface="Times New Roman" panose="02020603050405020304" pitchFamily="18" charset="0"/>
                <a:cs typeface="Times New Roman" panose="02020603050405020304" pitchFamily="18" charset="0"/>
              </a:rPr>
              <a:t>With the help of the software, performed a simulation with realistic boundary conditions.</a:t>
            </a:r>
          </a:p>
          <a:p>
            <a:pPr lvl="1" algn="just"/>
            <a:r>
              <a:rPr lang="en-US" sz="2000" dirty="0">
                <a:latin typeface="Times New Roman" panose="02020603050405020304" pitchFamily="18" charset="0"/>
                <a:cs typeface="Times New Roman" panose="02020603050405020304" pitchFamily="18" charset="0"/>
              </a:rPr>
              <a:t>Used ‘svSolver’ a component of the Simvascular software which performed various equations like Navier-Stokes Equations etc.</a:t>
            </a:r>
          </a:p>
          <a:p>
            <a:pPr lvl="1" algn="just"/>
            <a:r>
              <a:rPr lang="en-US" sz="2000" dirty="0">
                <a:latin typeface="Times New Roman" panose="02020603050405020304" pitchFamily="18" charset="0"/>
                <a:cs typeface="Times New Roman" panose="02020603050405020304" pitchFamily="18" charset="0"/>
              </a:rPr>
              <a:t>Used ‘</a:t>
            </a:r>
            <a:r>
              <a:rPr lang="en-US" sz="2000" dirty="0" err="1">
                <a:latin typeface="Times New Roman" panose="02020603050405020304" pitchFamily="18" charset="0"/>
                <a:cs typeface="Times New Roman" panose="02020603050405020304" pitchFamily="18" charset="0"/>
              </a:rPr>
              <a:t>Paraview</a:t>
            </a:r>
            <a:r>
              <a:rPr lang="en-US" sz="2000" dirty="0">
                <a:latin typeface="Times New Roman" panose="02020603050405020304" pitchFamily="18" charset="0"/>
                <a:cs typeface="Times New Roman" panose="02020603050405020304" pitchFamily="18" charset="0"/>
              </a:rPr>
              <a:t>’ software, for post-processing to view the average pressure, velocity analysis, average speed of blood flow and Wall shear stress.</a:t>
            </a:r>
          </a:p>
        </p:txBody>
      </p:sp>
    </p:spTree>
    <p:extLst>
      <p:ext uri="{BB962C8B-B14F-4D97-AF65-F5344CB8AC3E}">
        <p14:creationId xmlns:p14="http://schemas.microsoft.com/office/powerpoint/2010/main" val="1479641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0A50E-3047-6013-5827-02C4168FF919}"/>
              </a:ext>
            </a:extLst>
          </p:cNvPr>
          <p:cNvSpPr>
            <a:spLocks noGrp="1"/>
          </p:cNvSpPr>
          <p:nvPr>
            <p:ph type="title"/>
          </p:nvPr>
        </p:nvSpPr>
        <p:spPr>
          <a:xfrm>
            <a:off x="109945" y="0"/>
            <a:ext cx="11972109" cy="1019537"/>
          </a:xfrm>
        </p:spPr>
        <p:txBody>
          <a:bodyPr>
            <a:noAutofit/>
          </a:bodyPr>
          <a:lstStyle/>
          <a:p>
            <a:r>
              <a:rPr lang="en-US" sz="3600" b="1" dirty="0">
                <a:latin typeface="Times New Roman" panose="02020603050405020304" pitchFamily="18" charset="0"/>
                <a:cs typeface="Times New Roman" panose="02020603050405020304" pitchFamily="18" charset="0"/>
              </a:rPr>
              <a:t>0-Dimensional Windkessel Models </a:t>
            </a:r>
            <a:r>
              <a:rPr lang="en-US" sz="3600" b="1" dirty="0" err="1">
                <a:latin typeface="Times New Roman" panose="02020603050405020304" pitchFamily="18" charset="0"/>
                <a:cs typeface="Times New Roman" panose="02020603050405020304" pitchFamily="18" charset="0"/>
              </a:rPr>
              <a:t>behaviour</a:t>
            </a:r>
            <a:r>
              <a:rPr lang="en-US" sz="3600" b="1" dirty="0">
                <a:latin typeface="Times New Roman" panose="02020603050405020304" pitchFamily="18" charset="0"/>
                <a:cs typeface="Times New Roman" panose="02020603050405020304" pitchFamily="18" charset="0"/>
              </a:rPr>
              <a:t> estimated using MATLAB</a:t>
            </a:r>
          </a:p>
        </p:txBody>
      </p:sp>
      <p:sp>
        <p:nvSpPr>
          <p:cNvPr id="5" name="TextBox 4">
            <a:extLst>
              <a:ext uri="{FF2B5EF4-FFF2-40B4-BE49-F238E27FC236}">
                <a16:creationId xmlns:a16="http://schemas.microsoft.com/office/drawing/2014/main" id="{EAE6C03E-F0AE-CE59-36B7-76EF21E9A69E}"/>
              </a:ext>
            </a:extLst>
          </p:cNvPr>
          <p:cNvSpPr txBox="1"/>
          <p:nvPr/>
        </p:nvSpPr>
        <p:spPr>
          <a:xfrm>
            <a:off x="461554" y="1332411"/>
            <a:ext cx="10302240" cy="369332"/>
          </a:xfrm>
          <a:prstGeom prst="rect">
            <a:avLst/>
          </a:prstGeom>
          <a:noFill/>
        </p:spPr>
        <p:txBody>
          <a:bodyPr wrap="square" rtlCol="0">
            <a:spAutoFit/>
          </a:bodyPr>
          <a:lstStyle/>
          <a:p>
            <a:r>
              <a:rPr lang="en-US" dirty="0"/>
              <a:t>Different parameter values were considered to check the model </a:t>
            </a:r>
            <a:r>
              <a:rPr lang="en-US" dirty="0" err="1"/>
              <a:t>behaviour</a:t>
            </a:r>
            <a:r>
              <a:rPr lang="en-US" dirty="0"/>
              <a:t> and the results were estimated.  </a:t>
            </a:r>
          </a:p>
        </p:txBody>
      </p:sp>
      <p:graphicFrame>
        <p:nvGraphicFramePr>
          <p:cNvPr id="6" name="Table 5">
            <a:extLst>
              <a:ext uri="{FF2B5EF4-FFF2-40B4-BE49-F238E27FC236}">
                <a16:creationId xmlns:a16="http://schemas.microsoft.com/office/drawing/2014/main" id="{ED1B7638-2E46-B0CB-83FC-B618CC22F0EA}"/>
              </a:ext>
            </a:extLst>
          </p:cNvPr>
          <p:cNvGraphicFramePr>
            <a:graphicFrameLocks noGrp="1"/>
          </p:cNvGraphicFramePr>
          <p:nvPr>
            <p:extLst>
              <p:ext uri="{D42A27DB-BD31-4B8C-83A1-F6EECF244321}">
                <p14:modId xmlns:p14="http://schemas.microsoft.com/office/powerpoint/2010/main" val="755273795"/>
              </p:ext>
            </p:extLst>
          </p:nvPr>
        </p:nvGraphicFramePr>
        <p:xfrm>
          <a:off x="1741715" y="2151018"/>
          <a:ext cx="8090262" cy="3601372"/>
        </p:xfrm>
        <a:graphic>
          <a:graphicData uri="http://schemas.openxmlformats.org/drawingml/2006/table">
            <a:tbl>
              <a:tblPr firstRow="1" bandRow="1">
                <a:tableStyleId>{5940675A-B579-460E-94D1-54222C63F5DA}</a:tableStyleId>
              </a:tblPr>
              <a:tblGrid>
                <a:gridCol w="1182730">
                  <a:extLst>
                    <a:ext uri="{9D8B030D-6E8A-4147-A177-3AD203B41FA5}">
                      <a16:colId xmlns:a16="http://schemas.microsoft.com/office/drawing/2014/main" val="415739195"/>
                    </a:ext>
                  </a:extLst>
                </a:gridCol>
                <a:gridCol w="1760485">
                  <a:extLst>
                    <a:ext uri="{9D8B030D-6E8A-4147-A177-3AD203B41FA5}">
                      <a16:colId xmlns:a16="http://schemas.microsoft.com/office/drawing/2014/main" val="3203063034"/>
                    </a:ext>
                  </a:extLst>
                </a:gridCol>
                <a:gridCol w="1920528">
                  <a:extLst>
                    <a:ext uri="{9D8B030D-6E8A-4147-A177-3AD203B41FA5}">
                      <a16:colId xmlns:a16="http://schemas.microsoft.com/office/drawing/2014/main" val="1105140693"/>
                    </a:ext>
                  </a:extLst>
                </a:gridCol>
                <a:gridCol w="1693811">
                  <a:extLst>
                    <a:ext uri="{9D8B030D-6E8A-4147-A177-3AD203B41FA5}">
                      <a16:colId xmlns:a16="http://schemas.microsoft.com/office/drawing/2014/main" val="940180710"/>
                    </a:ext>
                  </a:extLst>
                </a:gridCol>
                <a:gridCol w="1532708">
                  <a:extLst>
                    <a:ext uri="{9D8B030D-6E8A-4147-A177-3AD203B41FA5}">
                      <a16:colId xmlns:a16="http://schemas.microsoft.com/office/drawing/2014/main" val="2885527264"/>
                    </a:ext>
                  </a:extLst>
                </a:gridCol>
              </a:tblGrid>
              <a:tr h="357051">
                <a:tc gridSpan="5">
                  <a:txBody>
                    <a:bodyPr/>
                    <a:lstStyle/>
                    <a:p>
                      <a:pPr marL="0" marR="0" algn="ctr">
                        <a:lnSpc>
                          <a:spcPct val="115000"/>
                        </a:lnSpc>
                        <a:spcAft>
                          <a:spcPts val="800"/>
                        </a:spcAft>
                        <a:buNone/>
                      </a:pPr>
                      <a:r>
                        <a:rPr lang="en-IN" sz="1400" b="1" kern="100" dirty="0">
                          <a:effectLst/>
                          <a:latin typeface="Times New Roman" panose="02020603050405020304" pitchFamily="18" charset="0"/>
                          <a:cs typeface="Times New Roman" panose="02020603050405020304" pitchFamily="18" charset="0"/>
                        </a:rPr>
                        <a:t>The values of normal parameters of the Windkessel models of a Human Coronary Artery Tree</a:t>
                      </a:r>
                      <a:endPar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95748809"/>
                  </a:ext>
                </a:extLst>
              </a:tr>
              <a:tr h="476659">
                <a:tc>
                  <a:txBody>
                    <a:bodyPr/>
                    <a:lstStyle/>
                    <a:p>
                      <a:pPr algn="l">
                        <a:lnSpc>
                          <a:spcPct val="115000"/>
                        </a:lnSpc>
                      </a:pPr>
                      <a:r>
                        <a:rPr lang="en-US" sz="1400" b="1" kern="100" dirty="0">
                          <a:effectLst/>
                          <a:latin typeface="Times New Roman" panose="02020603050405020304" pitchFamily="18" charset="0"/>
                          <a:cs typeface="Times New Roman" panose="02020603050405020304" pitchFamily="18" charset="0"/>
                        </a:rPr>
                        <a:t>Parameters</a:t>
                      </a:r>
                    </a:p>
                  </a:txBody>
                  <a:tcPr/>
                </a:tc>
                <a:tc>
                  <a:txBody>
                    <a:bodyPr/>
                    <a:lstStyle/>
                    <a:p>
                      <a:pPr marL="0" marR="0" algn="l">
                        <a:lnSpc>
                          <a:spcPct val="115000"/>
                        </a:lnSpc>
                        <a:spcAft>
                          <a:spcPts val="800"/>
                        </a:spcAft>
                        <a:buNone/>
                      </a:pPr>
                      <a:r>
                        <a:rPr lang="en-IN" sz="1400" b="1" kern="100">
                          <a:effectLst/>
                          <a:latin typeface="Times New Roman" panose="02020603050405020304" pitchFamily="18" charset="0"/>
                          <a:cs typeface="Times New Roman" panose="02020603050405020304" pitchFamily="18" charset="0"/>
                        </a:rPr>
                        <a:t>R2 [mmHg.s/ml]</a:t>
                      </a:r>
                      <a:endParaRPr lang="en-US" sz="14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IN" sz="1400" b="1" kern="100">
                          <a:effectLst/>
                          <a:latin typeface="Times New Roman" panose="02020603050405020304" pitchFamily="18" charset="0"/>
                          <a:cs typeface="Times New Roman" panose="02020603050405020304" pitchFamily="18" charset="0"/>
                        </a:rPr>
                        <a:t>C [ml/mmHg] </a:t>
                      </a:r>
                      <a:endParaRPr lang="en-US" sz="14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IN" sz="1400" b="1" kern="100">
                          <a:effectLst/>
                          <a:latin typeface="Times New Roman" panose="02020603050405020304" pitchFamily="18" charset="0"/>
                          <a:cs typeface="Times New Roman" panose="02020603050405020304" pitchFamily="18" charset="0"/>
                        </a:rPr>
                        <a:t>R1 [mmHg.s/ml] </a:t>
                      </a:r>
                      <a:endParaRPr lang="en-US" sz="14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IN" sz="1400" b="1" kern="100" dirty="0">
                          <a:effectLst/>
                          <a:latin typeface="Times New Roman" panose="02020603050405020304" pitchFamily="18" charset="0"/>
                          <a:cs typeface="Times New Roman" panose="02020603050405020304" pitchFamily="18" charset="0"/>
                        </a:rPr>
                        <a:t>L [mmHg.s2/ml] </a:t>
                      </a:r>
                      <a:endPar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131606588"/>
                  </a:ext>
                </a:extLst>
              </a:tr>
              <a:tr h="461277">
                <a:tc>
                  <a:txBody>
                    <a:bodyPr/>
                    <a:lstStyle/>
                    <a:p>
                      <a:pPr marL="0" marR="0" algn="l">
                        <a:lnSpc>
                          <a:spcPct val="115000"/>
                        </a:lnSpc>
                        <a:spcAft>
                          <a:spcPts val="800"/>
                        </a:spcAft>
                        <a:buNone/>
                      </a:pPr>
                      <a:r>
                        <a:rPr lang="en-US" sz="1400" b="1" kern="100" dirty="0">
                          <a:effectLst/>
                          <a:latin typeface="Times New Roman" panose="02020603050405020304" pitchFamily="18" charset="0"/>
                          <a:cs typeface="Times New Roman" panose="02020603050405020304" pitchFamily="18" charset="0"/>
                        </a:rPr>
                        <a:t>2 Element </a:t>
                      </a:r>
                      <a:endPar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dirty="0">
                          <a:effectLst/>
                          <a:latin typeface="Times New Roman" panose="02020603050405020304" pitchFamily="18" charset="0"/>
                          <a:cs typeface="Times New Roman" panose="02020603050405020304" pitchFamily="18" charset="0"/>
                        </a:rPr>
                        <a:t>0.9</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a:effectLst/>
                          <a:latin typeface="Times New Roman" panose="02020603050405020304" pitchFamily="18" charset="0"/>
                          <a:cs typeface="Times New Roman" panose="02020603050405020304" pitchFamily="18" charset="0"/>
                        </a:rPr>
                        <a:t>1.0666</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a:effectLst/>
                          <a:latin typeface="Times New Roman" panose="02020603050405020304" pitchFamily="18" charset="0"/>
                          <a:cs typeface="Times New Roman" panose="02020603050405020304" pitchFamily="18" charset="0"/>
                        </a:rPr>
                        <a:t>_</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a:effectLst/>
                          <a:latin typeface="Times New Roman" panose="02020603050405020304" pitchFamily="18" charset="0"/>
                          <a:cs typeface="Times New Roman" panose="02020603050405020304" pitchFamily="18" charset="0"/>
                        </a:rPr>
                        <a:t>_</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238536815"/>
                  </a:ext>
                </a:extLst>
              </a:tr>
              <a:tr h="461277">
                <a:tc>
                  <a:txBody>
                    <a:bodyPr/>
                    <a:lstStyle/>
                    <a:p>
                      <a:pPr algn="l">
                        <a:lnSpc>
                          <a:spcPct val="115000"/>
                        </a:lnSpc>
                      </a:pPr>
                      <a:endParaRPr lang="en-US" sz="1400" b="1" kern="100" dirty="0">
                        <a:effectLst/>
                        <a:latin typeface="Times New Roman" panose="02020603050405020304" pitchFamily="18"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a:effectLst/>
                          <a:latin typeface="Times New Roman" panose="02020603050405020304" pitchFamily="18" charset="0"/>
                          <a:cs typeface="Times New Roman" panose="02020603050405020304" pitchFamily="18" charset="0"/>
                        </a:rPr>
                        <a:t>0.6632</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dirty="0">
                          <a:effectLst/>
                          <a:latin typeface="Times New Roman" panose="02020603050405020304" pitchFamily="18" charset="0"/>
                          <a:cs typeface="Times New Roman" panose="02020603050405020304" pitchFamily="18" charset="0"/>
                        </a:rPr>
                        <a:t>1.7389</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a:effectLst/>
                          <a:latin typeface="Times New Roman" panose="02020603050405020304" pitchFamily="18" charset="0"/>
                          <a:cs typeface="Times New Roman" panose="02020603050405020304" pitchFamily="18" charset="0"/>
                        </a:rPr>
                        <a:t>_</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a:effectLst/>
                          <a:latin typeface="Times New Roman" panose="02020603050405020304" pitchFamily="18" charset="0"/>
                          <a:cs typeface="Times New Roman" panose="02020603050405020304" pitchFamily="18" charset="0"/>
                        </a:rPr>
                        <a:t>_</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97104309"/>
                  </a:ext>
                </a:extLst>
              </a:tr>
              <a:tr h="461277">
                <a:tc>
                  <a:txBody>
                    <a:bodyPr/>
                    <a:lstStyle/>
                    <a:p>
                      <a:pPr marL="0" marR="0" algn="l">
                        <a:lnSpc>
                          <a:spcPct val="115000"/>
                        </a:lnSpc>
                        <a:spcAft>
                          <a:spcPts val="800"/>
                        </a:spcAft>
                        <a:buNone/>
                      </a:pPr>
                      <a:r>
                        <a:rPr lang="en-US" sz="1400" b="1" kern="100" dirty="0">
                          <a:effectLst/>
                          <a:latin typeface="Times New Roman" panose="02020603050405020304" pitchFamily="18" charset="0"/>
                          <a:cs typeface="Times New Roman" panose="02020603050405020304" pitchFamily="18" charset="0"/>
                        </a:rPr>
                        <a:t>3 Element</a:t>
                      </a:r>
                      <a:endPar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a:effectLst/>
                          <a:latin typeface="Times New Roman" panose="02020603050405020304" pitchFamily="18" charset="0"/>
                          <a:cs typeface="Times New Roman" panose="02020603050405020304" pitchFamily="18" charset="0"/>
                        </a:rPr>
                        <a:t>0.9</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dirty="0">
                          <a:effectLst/>
                          <a:latin typeface="Times New Roman" panose="02020603050405020304" pitchFamily="18" charset="0"/>
                          <a:cs typeface="Times New Roman" panose="02020603050405020304" pitchFamily="18" charset="0"/>
                        </a:rPr>
                        <a:t>1.0666</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dirty="0">
                          <a:effectLst/>
                          <a:latin typeface="Times New Roman" panose="02020603050405020304" pitchFamily="18" charset="0"/>
                          <a:cs typeface="Times New Roman" panose="02020603050405020304" pitchFamily="18" charset="0"/>
                        </a:rPr>
                        <a:t>0.04</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a:effectLst/>
                          <a:latin typeface="Times New Roman" panose="02020603050405020304" pitchFamily="18" charset="0"/>
                          <a:cs typeface="Times New Roman" panose="02020603050405020304" pitchFamily="18" charset="0"/>
                        </a:rPr>
                        <a:t>_</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507121170"/>
                  </a:ext>
                </a:extLst>
              </a:tr>
              <a:tr h="461277">
                <a:tc>
                  <a:txBody>
                    <a:bodyPr/>
                    <a:lstStyle/>
                    <a:p>
                      <a:pPr algn="l">
                        <a:lnSpc>
                          <a:spcPct val="115000"/>
                        </a:lnSpc>
                      </a:pPr>
                      <a:endParaRPr lang="en-US" sz="1400" b="1" kern="100" dirty="0">
                        <a:effectLst/>
                        <a:latin typeface="Times New Roman" panose="02020603050405020304" pitchFamily="18"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a:effectLst/>
                          <a:latin typeface="Times New Roman" panose="02020603050405020304" pitchFamily="18" charset="0"/>
                          <a:cs typeface="Times New Roman" panose="02020603050405020304" pitchFamily="18" charset="0"/>
                        </a:rPr>
                        <a:t>0.6632</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a:effectLst/>
                          <a:latin typeface="Times New Roman" panose="02020603050405020304" pitchFamily="18" charset="0"/>
                          <a:cs typeface="Times New Roman" panose="02020603050405020304" pitchFamily="18" charset="0"/>
                        </a:rPr>
                        <a:t>1.7389</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dirty="0">
                          <a:effectLst/>
                          <a:latin typeface="Times New Roman" panose="02020603050405020304" pitchFamily="18" charset="0"/>
                          <a:cs typeface="Times New Roman" panose="02020603050405020304" pitchFamily="18" charset="0"/>
                        </a:rPr>
                        <a:t>0.0409</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dirty="0">
                          <a:effectLst/>
                          <a:latin typeface="Times New Roman" panose="02020603050405020304" pitchFamily="18" charset="0"/>
                          <a:cs typeface="Times New Roman" panose="02020603050405020304" pitchFamily="18" charset="0"/>
                        </a:rPr>
                        <a:t>_</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263364867"/>
                  </a:ext>
                </a:extLst>
              </a:tr>
              <a:tr h="461277">
                <a:tc>
                  <a:txBody>
                    <a:bodyPr/>
                    <a:lstStyle/>
                    <a:p>
                      <a:pPr marL="0" marR="0" algn="l">
                        <a:lnSpc>
                          <a:spcPct val="115000"/>
                        </a:lnSpc>
                        <a:spcAft>
                          <a:spcPts val="800"/>
                        </a:spcAft>
                        <a:buNone/>
                      </a:pPr>
                      <a:r>
                        <a:rPr lang="en-US" sz="1400" b="1" kern="100" dirty="0">
                          <a:effectLst/>
                          <a:latin typeface="Times New Roman" panose="02020603050405020304" pitchFamily="18" charset="0"/>
                          <a:cs typeface="Times New Roman" panose="02020603050405020304" pitchFamily="18" charset="0"/>
                        </a:rPr>
                        <a:t>4 Element</a:t>
                      </a:r>
                      <a:endPar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a:effectLst/>
                          <a:latin typeface="Times New Roman" panose="02020603050405020304" pitchFamily="18" charset="0"/>
                          <a:cs typeface="Times New Roman" panose="02020603050405020304" pitchFamily="18" charset="0"/>
                        </a:rPr>
                        <a:t>0.9</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a:effectLst/>
                          <a:latin typeface="Times New Roman" panose="02020603050405020304" pitchFamily="18" charset="0"/>
                          <a:cs typeface="Times New Roman" panose="02020603050405020304" pitchFamily="18" charset="0"/>
                        </a:rPr>
                        <a:t>1.0666</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a:effectLst/>
                          <a:latin typeface="Times New Roman" panose="02020603050405020304" pitchFamily="18" charset="0"/>
                          <a:cs typeface="Times New Roman" panose="02020603050405020304" pitchFamily="18" charset="0"/>
                        </a:rPr>
                        <a:t>0.04</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dirty="0">
                          <a:effectLst/>
                          <a:latin typeface="Times New Roman" panose="02020603050405020304" pitchFamily="18" charset="0"/>
                          <a:cs typeface="Times New Roman" panose="02020603050405020304" pitchFamily="18" charset="0"/>
                        </a:rPr>
                        <a:t>0.2</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248216708"/>
                  </a:ext>
                </a:extLst>
              </a:tr>
              <a:tr h="461277">
                <a:tc>
                  <a:txBody>
                    <a:bodyPr/>
                    <a:lstStyle/>
                    <a:p>
                      <a:pPr algn="l">
                        <a:lnSpc>
                          <a:spcPct val="115000"/>
                        </a:lnSpc>
                      </a:pPr>
                      <a:endParaRPr lang="en-US" sz="1400" b="1" kern="100" dirty="0">
                        <a:effectLst/>
                        <a:latin typeface="Times New Roman" panose="02020603050405020304" pitchFamily="18"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a:effectLst/>
                          <a:latin typeface="Times New Roman" panose="02020603050405020304" pitchFamily="18" charset="0"/>
                          <a:cs typeface="Times New Roman" panose="02020603050405020304" pitchFamily="18" charset="0"/>
                        </a:rPr>
                        <a:t>0.6632</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a:effectLst/>
                          <a:latin typeface="Times New Roman" panose="02020603050405020304" pitchFamily="18" charset="0"/>
                          <a:cs typeface="Times New Roman" panose="02020603050405020304" pitchFamily="18" charset="0"/>
                        </a:rPr>
                        <a:t>1.7389</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a:effectLst/>
                          <a:latin typeface="Times New Roman" panose="02020603050405020304" pitchFamily="18" charset="0"/>
                          <a:cs typeface="Times New Roman" panose="02020603050405020304" pitchFamily="18" charset="0"/>
                        </a:rPr>
                        <a:t>0.0409</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algn="l">
                        <a:lnSpc>
                          <a:spcPct val="115000"/>
                        </a:lnSpc>
                        <a:spcAft>
                          <a:spcPts val="800"/>
                        </a:spcAft>
                        <a:buNone/>
                      </a:pPr>
                      <a:r>
                        <a:rPr lang="en-US" sz="1600" kern="100" dirty="0">
                          <a:effectLst/>
                          <a:latin typeface="Times New Roman" panose="02020603050405020304" pitchFamily="18" charset="0"/>
                          <a:cs typeface="Times New Roman" panose="02020603050405020304" pitchFamily="18" charset="0"/>
                        </a:rPr>
                        <a:t>0.3</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861330528"/>
                  </a:ext>
                </a:extLst>
              </a:tr>
            </a:tbl>
          </a:graphicData>
        </a:graphic>
      </p:graphicFrame>
    </p:spTree>
    <p:extLst>
      <p:ext uri="{BB962C8B-B14F-4D97-AF65-F5344CB8AC3E}">
        <p14:creationId xmlns:p14="http://schemas.microsoft.com/office/powerpoint/2010/main" val="295690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E279EB-787D-BE2A-D9BB-4D1E7D1B7146}"/>
              </a:ext>
            </a:extLst>
          </p:cNvPr>
          <p:cNvPicPr>
            <a:picLocks noChangeAspect="1"/>
          </p:cNvPicPr>
          <p:nvPr/>
        </p:nvPicPr>
        <p:blipFill>
          <a:blip r:embed="rId2"/>
          <a:srcRect b="51525"/>
          <a:stretch/>
        </p:blipFill>
        <p:spPr>
          <a:xfrm>
            <a:off x="0" y="2340292"/>
            <a:ext cx="5552902" cy="2413268"/>
          </a:xfrm>
          <a:prstGeom prst="rect">
            <a:avLst/>
          </a:prstGeom>
        </p:spPr>
      </p:pic>
      <p:pic>
        <p:nvPicPr>
          <p:cNvPr id="3" name="Picture 2">
            <a:extLst>
              <a:ext uri="{FF2B5EF4-FFF2-40B4-BE49-F238E27FC236}">
                <a16:creationId xmlns:a16="http://schemas.microsoft.com/office/drawing/2014/main" id="{63BD0B29-DCF2-FF3B-B5B0-EAE7CF5388E4}"/>
              </a:ext>
            </a:extLst>
          </p:cNvPr>
          <p:cNvPicPr>
            <a:picLocks noChangeAspect="1"/>
          </p:cNvPicPr>
          <p:nvPr/>
        </p:nvPicPr>
        <p:blipFill>
          <a:blip r:embed="rId3"/>
          <a:srcRect l="3351" t="51506" r="7082"/>
          <a:stretch/>
        </p:blipFill>
        <p:spPr>
          <a:xfrm>
            <a:off x="7128406" y="4529116"/>
            <a:ext cx="4706147" cy="2314836"/>
          </a:xfrm>
          <a:prstGeom prst="rect">
            <a:avLst/>
          </a:prstGeom>
        </p:spPr>
      </p:pic>
      <p:pic>
        <p:nvPicPr>
          <p:cNvPr id="8" name="Picture 7">
            <a:extLst>
              <a:ext uri="{FF2B5EF4-FFF2-40B4-BE49-F238E27FC236}">
                <a16:creationId xmlns:a16="http://schemas.microsoft.com/office/drawing/2014/main" id="{08BB5786-E59E-B585-0F4F-BD61BE867695}"/>
              </a:ext>
            </a:extLst>
          </p:cNvPr>
          <p:cNvPicPr>
            <a:picLocks noChangeAspect="1"/>
          </p:cNvPicPr>
          <p:nvPr/>
        </p:nvPicPr>
        <p:blipFill>
          <a:blip r:embed="rId4"/>
          <a:srcRect l="3431" t="52000" r="6940" b="1640"/>
          <a:stretch/>
        </p:blipFill>
        <p:spPr>
          <a:xfrm>
            <a:off x="7128406" y="14048"/>
            <a:ext cx="4618708" cy="2413268"/>
          </a:xfrm>
          <a:prstGeom prst="rect">
            <a:avLst/>
          </a:prstGeom>
        </p:spPr>
      </p:pic>
      <p:pic>
        <p:nvPicPr>
          <p:cNvPr id="5" name="Picture 4">
            <a:extLst>
              <a:ext uri="{FF2B5EF4-FFF2-40B4-BE49-F238E27FC236}">
                <a16:creationId xmlns:a16="http://schemas.microsoft.com/office/drawing/2014/main" id="{D419FB91-844A-952A-23E7-47D1810984E3}"/>
              </a:ext>
            </a:extLst>
          </p:cNvPr>
          <p:cNvPicPr>
            <a:picLocks noChangeAspect="1"/>
          </p:cNvPicPr>
          <p:nvPr/>
        </p:nvPicPr>
        <p:blipFill>
          <a:blip r:embed="rId5"/>
          <a:srcRect l="4914" t="53213" r="7393" b="2666"/>
          <a:stretch/>
        </p:blipFill>
        <p:spPr>
          <a:xfrm>
            <a:off x="7485853" y="2328885"/>
            <a:ext cx="4706147" cy="2101800"/>
          </a:xfrm>
          <a:prstGeom prst="rect">
            <a:avLst/>
          </a:prstGeom>
        </p:spPr>
      </p:pic>
      <p:cxnSp>
        <p:nvCxnSpPr>
          <p:cNvPr id="7" name="Straight Arrow Connector 6">
            <a:extLst>
              <a:ext uri="{FF2B5EF4-FFF2-40B4-BE49-F238E27FC236}">
                <a16:creationId xmlns:a16="http://schemas.microsoft.com/office/drawing/2014/main" id="{0D5F009A-E6B9-CB98-3C9D-A2BCF23E82EE}"/>
              </a:ext>
            </a:extLst>
          </p:cNvPr>
          <p:cNvCxnSpPr>
            <a:stCxn id="4" idx="3"/>
            <a:endCxn id="8" idx="1"/>
          </p:cNvCxnSpPr>
          <p:nvPr/>
        </p:nvCxnSpPr>
        <p:spPr>
          <a:xfrm flipV="1">
            <a:off x="5552902" y="1220682"/>
            <a:ext cx="1575504" cy="23262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BB400801-4D75-175C-C459-A62490D256F2}"/>
              </a:ext>
            </a:extLst>
          </p:cNvPr>
          <p:cNvCxnSpPr>
            <a:stCxn id="4" idx="3"/>
            <a:endCxn id="5" idx="1"/>
          </p:cNvCxnSpPr>
          <p:nvPr/>
        </p:nvCxnSpPr>
        <p:spPr>
          <a:xfrm flipV="1">
            <a:off x="5552902" y="3379785"/>
            <a:ext cx="1932951" cy="1671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D8798E85-1792-5D77-68E4-9D2FA8646BAE}"/>
              </a:ext>
            </a:extLst>
          </p:cNvPr>
          <p:cNvCxnSpPr>
            <a:stCxn id="4" idx="3"/>
            <a:endCxn id="3" idx="1"/>
          </p:cNvCxnSpPr>
          <p:nvPr/>
        </p:nvCxnSpPr>
        <p:spPr>
          <a:xfrm>
            <a:off x="5552902" y="3546926"/>
            <a:ext cx="1575504" cy="21396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820AE909-7E43-6E97-C40E-C99C55F048C5}"/>
              </a:ext>
            </a:extLst>
          </p:cNvPr>
          <p:cNvSpPr txBox="1"/>
          <p:nvPr/>
        </p:nvSpPr>
        <p:spPr>
          <a:xfrm>
            <a:off x="1180408" y="4904509"/>
            <a:ext cx="1820488" cy="369332"/>
          </a:xfrm>
          <a:prstGeom prst="rect">
            <a:avLst/>
          </a:prstGeom>
          <a:noFill/>
        </p:spPr>
        <p:txBody>
          <a:bodyPr wrap="square" rtlCol="0">
            <a:spAutoFit/>
          </a:bodyPr>
          <a:lstStyle/>
          <a:p>
            <a:r>
              <a:rPr lang="en-US" dirty="0"/>
              <a:t>Aortic Input Flow </a:t>
            </a:r>
          </a:p>
        </p:txBody>
      </p:sp>
      <p:sp>
        <p:nvSpPr>
          <p:cNvPr id="14" name="TextBox 13">
            <a:extLst>
              <a:ext uri="{FF2B5EF4-FFF2-40B4-BE49-F238E27FC236}">
                <a16:creationId xmlns:a16="http://schemas.microsoft.com/office/drawing/2014/main" id="{20A65486-0D4E-E79A-2C6B-6795C9CE6161}"/>
              </a:ext>
            </a:extLst>
          </p:cNvPr>
          <p:cNvSpPr txBox="1"/>
          <p:nvPr/>
        </p:nvSpPr>
        <p:spPr>
          <a:xfrm>
            <a:off x="109452" y="54604"/>
            <a:ext cx="6440977" cy="646331"/>
          </a:xfrm>
          <a:prstGeom prst="rect">
            <a:avLst/>
          </a:prstGeom>
          <a:noFill/>
        </p:spPr>
        <p:txBody>
          <a:bodyPr wrap="square" rtlCol="0">
            <a:spAutoFit/>
          </a:bodyPr>
          <a:lstStyle/>
          <a:p>
            <a:r>
              <a:rPr lang="en-US" dirty="0"/>
              <a:t>Windkessel Model </a:t>
            </a:r>
            <a:r>
              <a:rPr lang="en-US" dirty="0" err="1"/>
              <a:t>behaviour</a:t>
            </a:r>
            <a:r>
              <a:rPr lang="en-US" dirty="0"/>
              <a:t> against the given inflow for 1 Cardiac Cycle :</a:t>
            </a:r>
          </a:p>
        </p:txBody>
      </p:sp>
    </p:spTree>
    <p:extLst>
      <p:ext uri="{BB962C8B-B14F-4D97-AF65-F5344CB8AC3E}">
        <p14:creationId xmlns:p14="http://schemas.microsoft.com/office/powerpoint/2010/main" val="401313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B0FA2E9-EBFB-76F0-3293-1B56B1ADF28C}"/>
              </a:ext>
            </a:extLst>
          </p:cNvPr>
          <p:cNvPicPr>
            <a:picLocks noChangeAspect="1"/>
          </p:cNvPicPr>
          <p:nvPr/>
        </p:nvPicPr>
        <p:blipFill>
          <a:blip r:embed="rId2"/>
          <a:srcRect l="8278" t="5769" r="8191" b="51178"/>
          <a:stretch/>
        </p:blipFill>
        <p:spPr>
          <a:xfrm>
            <a:off x="102525" y="2560321"/>
            <a:ext cx="4888565" cy="2003366"/>
          </a:xfrm>
          <a:prstGeom prst="rect">
            <a:avLst/>
          </a:prstGeom>
        </p:spPr>
      </p:pic>
      <p:pic>
        <p:nvPicPr>
          <p:cNvPr id="5" name="Picture 4">
            <a:extLst>
              <a:ext uri="{FF2B5EF4-FFF2-40B4-BE49-F238E27FC236}">
                <a16:creationId xmlns:a16="http://schemas.microsoft.com/office/drawing/2014/main" id="{0FFA475E-F498-D8B3-D9B3-FD1474A14B42}"/>
              </a:ext>
            </a:extLst>
          </p:cNvPr>
          <p:cNvPicPr>
            <a:picLocks noChangeAspect="1"/>
          </p:cNvPicPr>
          <p:nvPr/>
        </p:nvPicPr>
        <p:blipFill>
          <a:blip r:embed="rId2"/>
          <a:srcRect l="8210" t="52840" r="8329" b="4426"/>
          <a:stretch/>
        </p:blipFill>
        <p:spPr>
          <a:xfrm>
            <a:off x="6400800" y="1"/>
            <a:ext cx="5791200" cy="2019992"/>
          </a:xfrm>
          <a:prstGeom prst="rect">
            <a:avLst/>
          </a:prstGeom>
        </p:spPr>
      </p:pic>
      <p:pic>
        <p:nvPicPr>
          <p:cNvPr id="6" name="Picture 5">
            <a:extLst>
              <a:ext uri="{FF2B5EF4-FFF2-40B4-BE49-F238E27FC236}">
                <a16:creationId xmlns:a16="http://schemas.microsoft.com/office/drawing/2014/main" id="{D4DF209C-C28A-4778-B53D-A9FABE84E442}"/>
              </a:ext>
            </a:extLst>
          </p:cNvPr>
          <p:cNvPicPr>
            <a:picLocks noChangeAspect="1"/>
          </p:cNvPicPr>
          <p:nvPr/>
        </p:nvPicPr>
        <p:blipFill>
          <a:blip r:embed="rId3"/>
          <a:srcRect l="8243" t="52973" r="8041" b="3681"/>
          <a:stretch/>
        </p:blipFill>
        <p:spPr>
          <a:xfrm>
            <a:off x="6400800" y="2252750"/>
            <a:ext cx="5791200" cy="2236123"/>
          </a:xfrm>
          <a:prstGeom prst="rect">
            <a:avLst/>
          </a:prstGeom>
        </p:spPr>
      </p:pic>
      <p:pic>
        <p:nvPicPr>
          <p:cNvPr id="7" name="Picture 6">
            <a:extLst>
              <a:ext uri="{FF2B5EF4-FFF2-40B4-BE49-F238E27FC236}">
                <a16:creationId xmlns:a16="http://schemas.microsoft.com/office/drawing/2014/main" id="{E149CCE7-2053-B14C-18E5-4777116724D3}"/>
              </a:ext>
            </a:extLst>
          </p:cNvPr>
          <p:cNvPicPr>
            <a:picLocks noChangeAspect="1"/>
          </p:cNvPicPr>
          <p:nvPr/>
        </p:nvPicPr>
        <p:blipFill>
          <a:blip r:embed="rId4"/>
          <a:srcRect l="8311" t="53444" r="8261" b="3569"/>
          <a:stretch/>
        </p:blipFill>
        <p:spPr>
          <a:xfrm>
            <a:off x="6406940" y="4488873"/>
            <a:ext cx="5785060" cy="2236123"/>
          </a:xfrm>
          <a:prstGeom prst="rect">
            <a:avLst/>
          </a:prstGeom>
        </p:spPr>
      </p:pic>
      <p:sp>
        <p:nvSpPr>
          <p:cNvPr id="2" name="TextBox 1">
            <a:extLst>
              <a:ext uri="{FF2B5EF4-FFF2-40B4-BE49-F238E27FC236}">
                <a16:creationId xmlns:a16="http://schemas.microsoft.com/office/drawing/2014/main" id="{45A270D1-F6D7-8BF0-DC1F-1960CB7B21CF}"/>
              </a:ext>
            </a:extLst>
          </p:cNvPr>
          <p:cNvSpPr txBox="1"/>
          <p:nvPr/>
        </p:nvSpPr>
        <p:spPr>
          <a:xfrm>
            <a:off x="8314" y="83128"/>
            <a:ext cx="5782887" cy="646331"/>
          </a:xfrm>
          <a:prstGeom prst="rect">
            <a:avLst/>
          </a:prstGeom>
          <a:noFill/>
        </p:spPr>
        <p:txBody>
          <a:bodyPr wrap="square" rtlCol="0">
            <a:spAutoFit/>
          </a:bodyPr>
          <a:lstStyle/>
          <a:p>
            <a:r>
              <a:rPr lang="en-US" dirty="0"/>
              <a:t>Windkessel Model </a:t>
            </a:r>
            <a:r>
              <a:rPr lang="en-US" dirty="0" err="1"/>
              <a:t>behaviour</a:t>
            </a:r>
            <a:r>
              <a:rPr lang="en-US" dirty="0"/>
              <a:t> against the given inflow for 4 Cardiac Cycle :</a:t>
            </a:r>
          </a:p>
        </p:txBody>
      </p:sp>
      <p:sp>
        <p:nvSpPr>
          <p:cNvPr id="15" name="TextBox 14">
            <a:extLst>
              <a:ext uri="{FF2B5EF4-FFF2-40B4-BE49-F238E27FC236}">
                <a16:creationId xmlns:a16="http://schemas.microsoft.com/office/drawing/2014/main" id="{9039121E-027D-DF75-9448-E370B2C11D46}"/>
              </a:ext>
            </a:extLst>
          </p:cNvPr>
          <p:cNvSpPr txBox="1"/>
          <p:nvPr/>
        </p:nvSpPr>
        <p:spPr>
          <a:xfrm>
            <a:off x="1673631" y="4746719"/>
            <a:ext cx="1820488" cy="369332"/>
          </a:xfrm>
          <a:prstGeom prst="rect">
            <a:avLst/>
          </a:prstGeom>
          <a:noFill/>
        </p:spPr>
        <p:txBody>
          <a:bodyPr wrap="square" rtlCol="0">
            <a:spAutoFit/>
          </a:bodyPr>
          <a:lstStyle/>
          <a:p>
            <a:r>
              <a:rPr lang="en-US" dirty="0"/>
              <a:t>Aortic Input Flow </a:t>
            </a:r>
          </a:p>
        </p:txBody>
      </p:sp>
      <p:cxnSp>
        <p:nvCxnSpPr>
          <p:cNvPr id="8" name="Straight Arrow Connector 7">
            <a:extLst>
              <a:ext uri="{FF2B5EF4-FFF2-40B4-BE49-F238E27FC236}">
                <a16:creationId xmlns:a16="http://schemas.microsoft.com/office/drawing/2014/main" id="{FE5B66C8-D381-53FD-A801-8B7DF4CF39CF}"/>
              </a:ext>
            </a:extLst>
          </p:cNvPr>
          <p:cNvCxnSpPr>
            <a:cxnSpLocks/>
            <a:stCxn id="4" idx="3"/>
            <a:endCxn id="5" idx="1"/>
          </p:cNvCxnSpPr>
          <p:nvPr/>
        </p:nvCxnSpPr>
        <p:spPr>
          <a:xfrm flipV="1">
            <a:off x="4991090" y="1009997"/>
            <a:ext cx="1409710" cy="25520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0079DC6D-F2C2-EBEF-3185-D4C7701F78F2}"/>
              </a:ext>
            </a:extLst>
          </p:cNvPr>
          <p:cNvCxnSpPr>
            <a:cxnSpLocks/>
            <a:stCxn id="4" idx="3"/>
            <a:endCxn id="6" idx="1"/>
          </p:cNvCxnSpPr>
          <p:nvPr/>
        </p:nvCxnSpPr>
        <p:spPr>
          <a:xfrm flipV="1">
            <a:off x="4991090" y="3370812"/>
            <a:ext cx="1409710" cy="1911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9E76914E-1908-C884-E419-BEC9B947ED5E}"/>
              </a:ext>
            </a:extLst>
          </p:cNvPr>
          <p:cNvCxnSpPr>
            <a:cxnSpLocks/>
            <a:stCxn id="4" idx="3"/>
            <a:endCxn id="7" idx="1"/>
          </p:cNvCxnSpPr>
          <p:nvPr/>
        </p:nvCxnSpPr>
        <p:spPr>
          <a:xfrm>
            <a:off x="4991090" y="3562004"/>
            <a:ext cx="1415850" cy="20449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3282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A9FBD15-D221-DFE4-A268-A97D8A481CA2}"/>
              </a:ext>
            </a:extLst>
          </p:cNvPr>
          <p:cNvSpPr txBox="1"/>
          <p:nvPr/>
        </p:nvSpPr>
        <p:spPr>
          <a:xfrm>
            <a:off x="0" y="98854"/>
            <a:ext cx="1219199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 comparative plot of 2 element, 3 element and 4 element Windkessel equation plotted against Aortic inflow function:</a:t>
            </a:r>
          </a:p>
        </p:txBody>
      </p:sp>
      <p:pic>
        <p:nvPicPr>
          <p:cNvPr id="2" name="Picture 1">
            <a:extLst>
              <a:ext uri="{FF2B5EF4-FFF2-40B4-BE49-F238E27FC236}">
                <a16:creationId xmlns:a16="http://schemas.microsoft.com/office/drawing/2014/main" id="{85155429-C10C-F7EC-68C3-67235483FEC1}"/>
              </a:ext>
            </a:extLst>
          </p:cNvPr>
          <p:cNvPicPr>
            <a:picLocks noChangeAspect="1"/>
          </p:cNvPicPr>
          <p:nvPr/>
        </p:nvPicPr>
        <p:blipFill rotWithShape="1">
          <a:blip r:embed="rId2"/>
          <a:srcRect l="4950" t="5146" r="6605" b="2008"/>
          <a:stretch/>
        </p:blipFill>
        <p:spPr bwMode="auto">
          <a:xfrm>
            <a:off x="30478" y="762173"/>
            <a:ext cx="6795329" cy="5006860"/>
          </a:xfrm>
          <a:prstGeom prst="rect">
            <a:avLst/>
          </a:prstGeom>
          <a:ln>
            <a:noFill/>
          </a:ln>
          <a:extLst>
            <a:ext uri="{53640926-AAD7-44D8-BBD7-CCE9431645EC}">
              <a14:shadowObscured xmlns:a14="http://schemas.microsoft.com/office/drawing/2010/main"/>
            </a:ext>
          </a:extLst>
        </p:spPr>
      </p:pic>
      <p:graphicFrame>
        <p:nvGraphicFramePr>
          <p:cNvPr id="5" name="Table 4">
            <a:extLst>
              <a:ext uri="{FF2B5EF4-FFF2-40B4-BE49-F238E27FC236}">
                <a16:creationId xmlns:a16="http://schemas.microsoft.com/office/drawing/2014/main" id="{67754D24-FE89-C855-5C10-83B8C75534EF}"/>
              </a:ext>
            </a:extLst>
          </p:cNvPr>
          <p:cNvGraphicFramePr>
            <a:graphicFrameLocks noGrp="1"/>
          </p:cNvGraphicFramePr>
          <p:nvPr>
            <p:extLst>
              <p:ext uri="{D42A27DB-BD31-4B8C-83A1-F6EECF244321}">
                <p14:modId xmlns:p14="http://schemas.microsoft.com/office/powerpoint/2010/main" val="3781488577"/>
              </p:ext>
            </p:extLst>
          </p:nvPr>
        </p:nvGraphicFramePr>
        <p:xfrm>
          <a:off x="7448202" y="2693468"/>
          <a:ext cx="4713320" cy="2235835"/>
        </p:xfrm>
        <a:graphic>
          <a:graphicData uri="http://schemas.openxmlformats.org/drawingml/2006/table">
            <a:tbl>
              <a:tblPr firstRow="1" bandRow="1">
                <a:tableStyleId>{2D5ABB26-0587-4C30-8999-92F81FD0307C}</a:tableStyleId>
              </a:tblPr>
              <a:tblGrid>
                <a:gridCol w="1178330">
                  <a:extLst>
                    <a:ext uri="{9D8B030D-6E8A-4147-A177-3AD203B41FA5}">
                      <a16:colId xmlns:a16="http://schemas.microsoft.com/office/drawing/2014/main" val="3144220744"/>
                    </a:ext>
                  </a:extLst>
                </a:gridCol>
                <a:gridCol w="1178330">
                  <a:extLst>
                    <a:ext uri="{9D8B030D-6E8A-4147-A177-3AD203B41FA5}">
                      <a16:colId xmlns:a16="http://schemas.microsoft.com/office/drawing/2014/main" val="1185900872"/>
                    </a:ext>
                  </a:extLst>
                </a:gridCol>
                <a:gridCol w="1178330">
                  <a:extLst>
                    <a:ext uri="{9D8B030D-6E8A-4147-A177-3AD203B41FA5}">
                      <a16:colId xmlns:a16="http://schemas.microsoft.com/office/drawing/2014/main" val="3716017480"/>
                    </a:ext>
                  </a:extLst>
                </a:gridCol>
                <a:gridCol w="1178330">
                  <a:extLst>
                    <a:ext uri="{9D8B030D-6E8A-4147-A177-3AD203B41FA5}">
                      <a16:colId xmlns:a16="http://schemas.microsoft.com/office/drawing/2014/main" val="3800289622"/>
                    </a:ext>
                  </a:extLst>
                </a:gridCol>
              </a:tblGrid>
              <a:tr h="303143">
                <a:tc>
                  <a:txBody>
                    <a:bodyPr/>
                    <a:lstStyle/>
                    <a:p>
                      <a:pPr algn="ctr">
                        <a:lnSpc>
                          <a:spcPct val="150000"/>
                        </a:lnSpc>
                      </a:pPr>
                      <a:r>
                        <a:rPr lang="en-IN" sz="1200" dirty="0"/>
                        <a:t>Parameter</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IN" sz="1200" dirty="0"/>
                        <a:t>Symbol</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IN" sz="1200" dirty="0"/>
                        <a:t>Value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IN" sz="1200" dirty="0"/>
                        <a:t>Unit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8841124"/>
                  </a:ext>
                </a:extLst>
              </a:tr>
              <a:tr h="549582">
                <a:tc>
                  <a:txBody>
                    <a:bodyPr/>
                    <a:lstStyle/>
                    <a:p>
                      <a:pPr algn="ctr">
                        <a:lnSpc>
                          <a:spcPct val="150000"/>
                        </a:lnSpc>
                      </a:pPr>
                      <a:r>
                        <a:rPr lang="en-IN" sz="1200" dirty="0"/>
                        <a:t>Peripheral</a:t>
                      </a:r>
                      <a:br>
                        <a:rPr lang="en-IN" sz="1200" dirty="0"/>
                      </a:br>
                      <a:r>
                        <a:rPr lang="en-IN" sz="1200" dirty="0"/>
                        <a:t>Resistance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IN" sz="1200" dirty="0"/>
                        <a:t>R2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IN" sz="1200" dirty="0"/>
                        <a:t>0.6632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IN" sz="1200" dirty="0" err="1"/>
                        <a:t>mmHg·s</a:t>
                      </a:r>
                      <a:r>
                        <a:rPr lang="en-IN" sz="1200" dirty="0"/>
                        <a:t>/mL</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0912277"/>
                  </a:ext>
                </a:extLst>
              </a:tr>
              <a:tr h="303143">
                <a:tc>
                  <a:txBody>
                    <a:bodyPr/>
                    <a:lstStyle/>
                    <a:p>
                      <a:pPr algn="ctr">
                        <a:lnSpc>
                          <a:spcPct val="150000"/>
                        </a:lnSpc>
                      </a:pPr>
                      <a:r>
                        <a:rPr lang="en-US" sz="1200" dirty="0"/>
                        <a:t>Compliance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sz="1200"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IN" sz="1200" dirty="0"/>
                        <a:t>1.7389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IN" sz="1200" dirty="0"/>
                        <a:t>mL/mmHg</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7710319"/>
                  </a:ext>
                </a:extLst>
              </a:tr>
              <a:tr h="303143">
                <a:tc>
                  <a:txBody>
                    <a:bodyPr/>
                    <a:lstStyle/>
                    <a:p>
                      <a:pPr algn="ctr">
                        <a:lnSpc>
                          <a:spcPct val="150000"/>
                        </a:lnSpc>
                      </a:pPr>
                      <a:r>
                        <a:rPr lang="en-US" sz="1200" dirty="0"/>
                        <a:t>Impedance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sz="1200" dirty="0"/>
                        <a:t>R1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IN" sz="1200" dirty="0"/>
                        <a:t>0.04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IN" sz="1200" dirty="0" err="1"/>
                        <a:t>mmHg·s</a:t>
                      </a:r>
                      <a:r>
                        <a:rPr lang="en-IN" sz="1200" dirty="0"/>
                        <a:t>/mL</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3707756"/>
                  </a:ext>
                </a:extLst>
              </a:tr>
              <a:tr h="303143">
                <a:tc>
                  <a:txBody>
                    <a:bodyPr/>
                    <a:lstStyle/>
                    <a:p>
                      <a:pPr algn="ctr">
                        <a:lnSpc>
                          <a:spcPct val="150000"/>
                        </a:lnSpc>
                      </a:pPr>
                      <a:r>
                        <a:rPr lang="en-IN" sz="1200" dirty="0"/>
                        <a:t>Outflow Pressure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sz="1200" dirty="0"/>
                        <a:t>Pout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sz="1200"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US" sz="1200" dirty="0"/>
                        <a:t>mmHg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551177"/>
                  </a:ext>
                </a:extLst>
              </a:tr>
            </a:tbl>
          </a:graphicData>
        </a:graphic>
      </p:graphicFrame>
      <p:sp>
        <p:nvSpPr>
          <p:cNvPr id="6" name="TextBox 5">
            <a:extLst>
              <a:ext uri="{FF2B5EF4-FFF2-40B4-BE49-F238E27FC236}">
                <a16:creationId xmlns:a16="http://schemas.microsoft.com/office/drawing/2014/main" id="{7E29D9A8-595D-B1A3-9365-A83CC34FC27F}"/>
              </a:ext>
            </a:extLst>
          </p:cNvPr>
          <p:cNvSpPr txBox="1"/>
          <p:nvPr/>
        </p:nvSpPr>
        <p:spPr>
          <a:xfrm>
            <a:off x="7448203" y="2005153"/>
            <a:ext cx="2709949" cy="369332"/>
          </a:xfrm>
          <a:prstGeom prst="rect">
            <a:avLst/>
          </a:prstGeom>
          <a:noFill/>
        </p:spPr>
        <p:txBody>
          <a:bodyPr wrap="square" rtlCol="0">
            <a:spAutoFit/>
          </a:bodyPr>
          <a:lstStyle/>
          <a:p>
            <a:r>
              <a:rPr lang="en-US" dirty="0"/>
              <a:t>Parameter used:</a:t>
            </a:r>
          </a:p>
        </p:txBody>
      </p:sp>
    </p:spTree>
    <p:extLst>
      <p:ext uri="{BB962C8B-B14F-4D97-AF65-F5344CB8AC3E}">
        <p14:creationId xmlns:p14="http://schemas.microsoft.com/office/powerpoint/2010/main" val="3751297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49D402-A82C-F157-3E92-BB406F0CB130}"/>
              </a:ext>
            </a:extLst>
          </p:cNvPr>
          <p:cNvSpPr txBox="1"/>
          <p:nvPr/>
        </p:nvSpPr>
        <p:spPr>
          <a:xfrm>
            <a:off x="108066" y="78942"/>
            <a:ext cx="8761615"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Uncertainty Analysis in 0-D Windkessel Model using Monte Carlo Simulation :</a:t>
            </a:r>
          </a:p>
        </p:txBody>
      </p:sp>
      <p:sp>
        <p:nvSpPr>
          <p:cNvPr id="3" name="TextBox 2">
            <a:extLst>
              <a:ext uri="{FF2B5EF4-FFF2-40B4-BE49-F238E27FC236}">
                <a16:creationId xmlns:a16="http://schemas.microsoft.com/office/drawing/2014/main" id="{3BFD5BEA-8744-6A38-56D5-304F93AF5793}"/>
              </a:ext>
            </a:extLst>
          </p:cNvPr>
          <p:cNvSpPr txBox="1"/>
          <p:nvPr/>
        </p:nvSpPr>
        <p:spPr>
          <a:xfrm>
            <a:off x="681644" y="739833"/>
            <a:ext cx="10831483" cy="5783635"/>
          </a:xfrm>
          <a:prstGeom prst="rect">
            <a:avLst/>
          </a:prstGeom>
          <a:noFill/>
        </p:spPr>
        <p:txBody>
          <a:bodyPr wrap="square" rtlCol="0">
            <a:spAutoFit/>
          </a:bodyPr>
          <a:lstStyle/>
          <a:p>
            <a:pPr marL="0" marR="0">
              <a:lnSpc>
                <a:spcPct val="115000"/>
              </a:lnSpc>
              <a:spcAft>
                <a:spcPts val="800"/>
              </a:spcAft>
              <a:buNone/>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Methodology of Monte-Carlo Simulation:</a:t>
            </a:r>
          </a:p>
          <a:p>
            <a:pPr marL="0" marR="0">
              <a:lnSpc>
                <a:spcPct val="115000"/>
              </a:lnSpc>
              <a:spcAft>
                <a:spcPts val="800"/>
              </a:spcAft>
              <a:buNone/>
            </a:pPr>
            <a:endParaRPr lang="en-US" sz="1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Model Setup: The 3-element Windkessel model represents the arterial system by three components: a proximal resistance (R₁), compliance (C), and distal resistance (R₂). The governing differential equation is solved using a numerical ODE solver, incorporating actual measured input flow data provided via a table file.</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Input Flow Data: Flow waveform data (Inflow) is imported. Interpolation techniques are applied to match flow data with the solver time points for continuous simulation.</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Uncertain Parameters: R₁, C, and R₂ are treated as uncertain parameters. Nominal (mean) values are assigned, and uncertainties are introduced using a normal distribution with specified standard deviations i.e. 0%, 3%, 6% and 12%.</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Monte Carlo Simulation: A large number (e.g., 1000 or more) of random samples of R₁, C, and R₂ are generated based on their assumed distributions. For each set of sampled parameters, the 3WK model is simulated to predict the pressure waveform.</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Post-Processing: For each time point, the mean, standard deviation, and confidence intervals (e.g., 95%) of the simulated pressure are calculated across all MC samples. The simulation results are compared against nominal (unperturbed) solutions. </a:t>
            </a:r>
          </a:p>
          <a:p>
            <a:pPr marR="0" lvl="0">
              <a:lnSpc>
                <a:spcPct val="115000"/>
              </a:lnSpc>
              <a:spcAft>
                <a:spcPts val="800"/>
              </a:spcAft>
              <a:buSzPts val="1000"/>
              <a:tabLst>
                <a:tab pos="457200" algn="l"/>
              </a:tabLst>
            </a:pPr>
            <a:endParaRPr lang="en-US" sz="1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buNone/>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The main goal of this work is that the:</a:t>
            </a:r>
          </a:p>
          <a:p>
            <a:pPr>
              <a:buNone/>
            </a:pPr>
            <a:br>
              <a:rPr lang="en-US" sz="1500" dirty="0">
                <a:effectLst/>
                <a:latin typeface="Times New Roman" panose="02020603050405020304" pitchFamily="18" charset="0"/>
                <a:ea typeface="Calibri" panose="020F0502020204030204" pitchFamily="34" charset="0"/>
                <a:cs typeface="Times New Roman" panose="02020603050405020304" pitchFamily="18" charset="0"/>
              </a:rPr>
            </a:b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The uncertainty in model parameters leads to a range (band) of possible pressure predictions. As the parameter uncertainty (standard deviation) increases, the width of the pressure prediction band also increases. Monte Carlo results highlight the model's sensitivity to R₁, C, and R₂ and help identify parameters to prioritize in future calibrations or measurements.</a:t>
            </a: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8975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CE820B-1083-CDD4-234C-A0DCB5C04BC8}"/>
              </a:ext>
            </a:extLst>
          </p:cNvPr>
          <p:cNvSpPr txBox="1"/>
          <p:nvPr/>
        </p:nvSpPr>
        <p:spPr>
          <a:xfrm>
            <a:off x="-1" y="0"/>
            <a:ext cx="9439154" cy="369332"/>
          </a:xfrm>
          <a:prstGeom prst="rect">
            <a:avLst/>
          </a:prstGeom>
          <a:noFill/>
        </p:spPr>
        <p:txBody>
          <a:bodyPr wrap="square">
            <a:spAutoFit/>
          </a:bodyPr>
          <a:lstStyle/>
          <a:p>
            <a:r>
              <a:rPr lang="en-IN" b="1" i="0" dirty="0">
                <a:effectLst/>
                <a:latin typeface="Times New Roman" panose="02020603050405020304" pitchFamily="18" charset="0"/>
                <a:cs typeface="Times New Roman" panose="02020603050405020304" pitchFamily="18" charset="0"/>
              </a:rPr>
              <a:t>Uncertainty Quantification of Pressure Waveform - 3-Element </a:t>
            </a:r>
            <a:r>
              <a:rPr lang="en-IN" b="1" i="0" dirty="0" err="1">
                <a:effectLst/>
                <a:latin typeface="Times New Roman" panose="02020603050405020304" pitchFamily="18" charset="0"/>
                <a:cs typeface="Times New Roman" panose="02020603050405020304" pitchFamily="18" charset="0"/>
              </a:rPr>
              <a:t>Windkessel</a:t>
            </a:r>
            <a:r>
              <a:rPr lang="en-IN" b="1" i="0" dirty="0">
                <a:effectLst/>
                <a:latin typeface="Times New Roman" panose="02020603050405020304" pitchFamily="18" charset="0"/>
                <a:cs typeface="Times New Roman" panose="02020603050405020304" pitchFamily="18" charset="0"/>
              </a:rPr>
              <a:t> Model:</a:t>
            </a:r>
          </a:p>
        </p:txBody>
      </p:sp>
      <p:pic>
        <p:nvPicPr>
          <p:cNvPr id="4" name="Picture 3">
            <a:extLst>
              <a:ext uri="{FF2B5EF4-FFF2-40B4-BE49-F238E27FC236}">
                <a16:creationId xmlns:a16="http://schemas.microsoft.com/office/drawing/2014/main" id="{E28B0715-81FE-FEB2-F231-AEC1A74C3F3B}"/>
              </a:ext>
            </a:extLst>
          </p:cNvPr>
          <p:cNvPicPr>
            <a:picLocks noChangeAspect="1"/>
          </p:cNvPicPr>
          <p:nvPr/>
        </p:nvPicPr>
        <p:blipFill>
          <a:blip r:embed="rId2"/>
          <a:srcRect t="4836" r="5946" b="5983"/>
          <a:stretch/>
        </p:blipFill>
        <p:spPr>
          <a:xfrm>
            <a:off x="0" y="479734"/>
            <a:ext cx="12192000" cy="6378266"/>
          </a:xfrm>
          <a:prstGeom prst="rect">
            <a:avLst/>
          </a:prstGeom>
        </p:spPr>
      </p:pic>
    </p:spTree>
    <p:extLst>
      <p:ext uri="{BB962C8B-B14F-4D97-AF65-F5344CB8AC3E}">
        <p14:creationId xmlns:p14="http://schemas.microsoft.com/office/powerpoint/2010/main" val="3348239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5F21D-6A28-46FF-6D6D-F6695B129FDE}"/>
              </a:ext>
            </a:extLst>
          </p:cNvPr>
          <p:cNvSpPr>
            <a:spLocks noGrp="1"/>
          </p:cNvSpPr>
          <p:nvPr>
            <p:ph type="title"/>
          </p:nvPr>
        </p:nvSpPr>
        <p:spPr>
          <a:xfrm>
            <a:off x="838200" y="240435"/>
            <a:ext cx="10515600" cy="1147792"/>
          </a:xfrm>
        </p:spPr>
        <p:txBody>
          <a:bodyPr/>
          <a:lstStyle/>
          <a:p>
            <a:r>
              <a:rPr lang="en-US" b="1" dirty="0"/>
              <a:t>Parameter Sensitivity Analysis:</a:t>
            </a:r>
          </a:p>
        </p:txBody>
      </p:sp>
      <p:sp>
        <p:nvSpPr>
          <p:cNvPr id="3" name="Content Placeholder 2">
            <a:extLst>
              <a:ext uri="{FF2B5EF4-FFF2-40B4-BE49-F238E27FC236}">
                <a16:creationId xmlns:a16="http://schemas.microsoft.com/office/drawing/2014/main" id="{047AE87E-619F-3DD5-1444-8B0C50FEE549}"/>
              </a:ext>
            </a:extLst>
          </p:cNvPr>
          <p:cNvSpPr>
            <a:spLocks noGrp="1"/>
          </p:cNvSpPr>
          <p:nvPr>
            <p:ph idx="1"/>
          </p:nvPr>
        </p:nvSpPr>
        <p:spPr/>
        <p:txBody>
          <a:bodyPr/>
          <a:lstStyle/>
          <a:p>
            <a:pPr algn="just"/>
            <a:r>
              <a:rPr lang="en-US" sz="2600" dirty="0"/>
              <a:t>The value of R1 and R2 were changed by adding certain percentages.</a:t>
            </a:r>
          </a:p>
          <a:p>
            <a:pPr algn="just"/>
            <a:r>
              <a:rPr lang="en-US" sz="2600" dirty="0"/>
              <a:t>1%, 2%, 4%, 6% and 12% were the added with the original values of R1 and R2 and the changes in the pressure waveforms were recorded.</a:t>
            </a:r>
          </a:p>
          <a:p>
            <a:pPr algn="just"/>
            <a:r>
              <a:rPr lang="en-US" sz="2600" dirty="0"/>
              <a:t>When we changed the value of R1, the value of R2 and C was kept constant.</a:t>
            </a:r>
          </a:p>
          <a:p>
            <a:pPr algn="just"/>
            <a:r>
              <a:rPr lang="en-US" sz="2600" dirty="0"/>
              <a:t>When we changed the value of R2, the value of R1 and C was kept constant.</a:t>
            </a:r>
          </a:p>
          <a:p>
            <a:pPr algn="just"/>
            <a:r>
              <a:rPr lang="en-US" sz="2600" dirty="0"/>
              <a:t>When we changed the value of C, the value of R1 and R2 was kept constant.</a:t>
            </a:r>
          </a:p>
          <a:p>
            <a:endParaRPr lang="en-US" dirty="0"/>
          </a:p>
        </p:txBody>
      </p:sp>
    </p:spTree>
    <p:extLst>
      <p:ext uri="{BB962C8B-B14F-4D97-AF65-F5344CB8AC3E}">
        <p14:creationId xmlns:p14="http://schemas.microsoft.com/office/powerpoint/2010/main" val="2386392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C314A-02F9-0C79-FD67-DA55C11697D3}"/>
              </a:ext>
            </a:extLst>
          </p:cNvPr>
          <p:cNvSpPr>
            <a:spLocks noGrp="1"/>
          </p:cNvSpPr>
          <p:nvPr>
            <p:ph type="title"/>
          </p:nvPr>
        </p:nvSpPr>
        <p:spPr>
          <a:xfrm>
            <a:off x="0" y="0"/>
            <a:ext cx="12192000" cy="475134"/>
          </a:xfrm>
        </p:spPr>
        <p:txBody>
          <a:bodyPr>
            <a:normAutofit fontScale="90000"/>
          </a:bodyPr>
          <a:lstStyle/>
          <a:p>
            <a:r>
              <a:rPr lang="en-US" sz="2400" b="1" dirty="0">
                <a:latin typeface="Times New Roman" panose="02020603050405020304" pitchFamily="18" charset="0"/>
                <a:cs typeface="Times New Roman" panose="02020603050405020304" pitchFamily="18" charset="0"/>
              </a:rPr>
              <a:t>Parameter Sensitivity by changing the values of R1 with certain percentage (keeping R2,C constant):</a:t>
            </a:r>
          </a:p>
        </p:txBody>
      </p:sp>
      <p:pic>
        <p:nvPicPr>
          <p:cNvPr id="7" name="Picture 6">
            <a:extLst>
              <a:ext uri="{FF2B5EF4-FFF2-40B4-BE49-F238E27FC236}">
                <a16:creationId xmlns:a16="http://schemas.microsoft.com/office/drawing/2014/main" id="{2524C6B9-4AF4-FCD5-04FD-ECDE549B409E}"/>
              </a:ext>
            </a:extLst>
          </p:cNvPr>
          <p:cNvPicPr>
            <a:picLocks noChangeAspect="1"/>
          </p:cNvPicPr>
          <p:nvPr/>
        </p:nvPicPr>
        <p:blipFill>
          <a:blip r:embed="rId2"/>
          <a:srcRect l="8649" t="3750" r="8243" b="3207"/>
          <a:stretch/>
        </p:blipFill>
        <p:spPr>
          <a:xfrm>
            <a:off x="551935" y="573534"/>
            <a:ext cx="10832757" cy="6284466"/>
          </a:xfrm>
          <a:prstGeom prst="rect">
            <a:avLst/>
          </a:prstGeom>
        </p:spPr>
      </p:pic>
    </p:spTree>
    <p:extLst>
      <p:ext uri="{BB962C8B-B14F-4D97-AF65-F5344CB8AC3E}">
        <p14:creationId xmlns:p14="http://schemas.microsoft.com/office/powerpoint/2010/main" val="5593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3FB09-653E-BA5C-56C6-4ADCDBF306A3}"/>
              </a:ext>
            </a:extLst>
          </p:cNvPr>
          <p:cNvSpPr>
            <a:spLocks noGrp="1"/>
          </p:cNvSpPr>
          <p:nvPr>
            <p:ph type="title"/>
          </p:nvPr>
        </p:nvSpPr>
        <p:spPr>
          <a:xfrm>
            <a:off x="124372" y="131805"/>
            <a:ext cx="5386647" cy="491650"/>
          </a:xfrm>
        </p:spPr>
        <p:txBody>
          <a:bodyPr>
            <a:noAutofit/>
          </a:bodyPr>
          <a:lstStyle/>
          <a:p>
            <a:r>
              <a:rPr lang="en-US" sz="3200" b="1" dirty="0">
                <a:latin typeface="Times New Roman" panose="02020603050405020304" pitchFamily="18" charset="0"/>
                <a:cs typeface="Times New Roman" panose="02020603050405020304" pitchFamily="18" charset="0"/>
              </a:rPr>
              <a:t>Pressure Difference Bar Plot:</a:t>
            </a:r>
          </a:p>
        </p:txBody>
      </p:sp>
      <p:pic>
        <p:nvPicPr>
          <p:cNvPr id="3" name="Picture 2">
            <a:extLst>
              <a:ext uri="{FF2B5EF4-FFF2-40B4-BE49-F238E27FC236}">
                <a16:creationId xmlns:a16="http://schemas.microsoft.com/office/drawing/2014/main" id="{7DA3AD45-C8DA-DA12-BE5C-96651C0A13B0}"/>
              </a:ext>
            </a:extLst>
          </p:cNvPr>
          <p:cNvPicPr>
            <a:picLocks noChangeAspect="1"/>
          </p:cNvPicPr>
          <p:nvPr/>
        </p:nvPicPr>
        <p:blipFill rotWithShape="1">
          <a:blip r:embed="rId2"/>
          <a:srcRect l="3815" t="1689" r="7068"/>
          <a:stretch/>
        </p:blipFill>
        <p:spPr bwMode="auto">
          <a:xfrm>
            <a:off x="124372" y="1163782"/>
            <a:ext cx="5578159" cy="3940233"/>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1374E41E-167F-4133-E873-28DEA7BD3034}"/>
              </a:ext>
            </a:extLst>
          </p:cNvPr>
          <p:cNvSpPr txBox="1">
            <a:spLocks/>
          </p:cNvSpPr>
          <p:nvPr/>
        </p:nvSpPr>
        <p:spPr>
          <a:xfrm>
            <a:off x="6556611" y="177113"/>
            <a:ext cx="5511017" cy="82041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New Roman" panose="02020603050405020304" pitchFamily="18" charset="0"/>
                <a:cs typeface="Times New Roman" panose="02020603050405020304" pitchFamily="18" charset="0"/>
              </a:rPr>
              <a:t>Pressure Change Summary for R1:</a:t>
            </a:r>
          </a:p>
        </p:txBody>
      </p:sp>
      <p:graphicFrame>
        <p:nvGraphicFramePr>
          <p:cNvPr id="6" name="Table 5">
            <a:extLst>
              <a:ext uri="{FF2B5EF4-FFF2-40B4-BE49-F238E27FC236}">
                <a16:creationId xmlns:a16="http://schemas.microsoft.com/office/drawing/2014/main" id="{5E809935-7470-FA86-1003-46DD69769F5C}"/>
              </a:ext>
            </a:extLst>
          </p:cNvPr>
          <p:cNvGraphicFramePr>
            <a:graphicFrameLocks noGrp="1"/>
          </p:cNvGraphicFramePr>
          <p:nvPr>
            <p:extLst>
              <p:ext uri="{D42A27DB-BD31-4B8C-83A1-F6EECF244321}">
                <p14:modId xmlns:p14="http://schemas.microsoft.com/office/powerpoint/2010/main" val="676717569"/>
              </p:ext>
            </p:extLst>
          </p:nvPr>
        </p:nvGraphicFramePr>
        <p:xfrm>
          <a:off x="6217920" y="2026582"/>
          <a:ext cx="5849708" cy="2253401"/>
        </p:xfrm>
        <a:graphic>
          <a:graphicData uri="http://schemas.openxmlformats.org/drawingml/2006/table">
            <a:tbl>
              <a:tblPr firstRow="1" firstCol="1" bandRow="1">
                <a:tableStyleId>{5C22544A-7EE6-4342-B048-85BDC9FD1C3A}</a:tableStyleId>
              </a:tblPr>
              <a:tblGrid>
                <a:gridCol w="1412683">
                  <a:extLst>
                    <a:ext uri="{9D8B030D-6E8A-4147-A177-3AD203B41FA5}">
                      <a16:colId xmlns:a16="http://schemas.microsoft.com/office/drawing/2014/main" val="3722788493"/>
                    </a:ext>
                  </a:extLst>
                </a:gridCol>
                <a:gridCol w="1467855">
                  <a:extLst>
                    <a:ext uri="{9D8B030D-6E8A-4147-A177-3AD203B41FA5}">
                      <a16:colId xmlns:a16="http://schemas.microsoft.com/office/drawing/2014/main" val="637881008"/>
                    </a:ext>
                  </a:extLst>
                </a:gridCol>
                <a:gridCol w="1497880">
                  <a:extLst>
                    <a:ext uri="{9D8B030D-6E8A-4147-A177-3AD203B41FA5}">
                      <a16:colId xmlns:a16="http://schemas.microsoft.com/office/drawing/2014/main" val="2437605765"/>
                    </a:ext>
                  </a:extLst>
                </a:gridCol>
                <a:gridCol w="1471290">
                  <a:extLst>
                    <a:ext uri="{9D8B030D-6E8A-4147-A177-3AD203B41FA5}">
                      <a16:colId xmlns:a16="http://schemas.microsoft.com/office/drawing/2014/main" val="1139274340"/>
                    </a:ext>
                  </a:extLst>
                </a:gridCol>
              </a:tblGrid>
              <a:tr h="448887">
                <a:tc>
                  <a:txBody>
                    <a:bodyPr/>
                    <a:lstStyle/>
                    <a:p>
                      <a:pPr marL="0" marR="0" algn="ctr">
                        <a:lnSpc>
                          <a:spcPct val="115000"/>
                        </a:lnSpc>
                        <a:spcAft>
                          <a:spcPts val="800"/>
                        </a:spcAft>
                        <a:buNone/>
                        <a:tabLst>
                          <a:tab pos="1346835" algn="r"/>
                        </a:tabLst>
                      </a:pPr>
                      <a:r>
                        <a:rPr lang="en-US" sz="2000" kern="100" dirty="0">
                          <a:effectLst/>
                        </a:rPr>
                        <a:t>R1 Change</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Max ΔP</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Min ΔP</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Mean ΔP</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18841565"/>
                  </a:ext>
                </a:extLst>
              </a:tr>
              <a:tr h="380274">
                <a:tc>
                  <a:txBody>
                    <a:bodyPr/>
                    <a:lstStyle/>
                    <a:p>
                      <a:pPr marL="228600" marR="0" algn="ctr">
                        <a:lnSpc>
                          <a:spcPct val="115000"/>
                        </a:lnSpc>
                        <a:spcAft>
                          <a:spcPts val="800"/>
                        </a:spcAft>
                        <a:buNone/>
                      </a:pPr>
                      <a:r>
                        <a:rPr lang="en-US" sz="2000" kern="100" dirty="0">
                          <a:effectLst/>
                        </a:rPr>
                        <a:t>+1.0%</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dirty="0">
                          <a:effectLst/>
                        </a:rPr>
                        <a:t>0.171</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-0.056</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0.036</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22633155"/>
                  </a:ext>
                </a:extLst>
              </a:tr>
              <a:tr h="357447">
                <a:tc>
                  <a:txBody>
                    <a:bodyPr/>
                    <a:lstStyle/>
                    <a:p>
                      <a:pPr marL="0" marR="0" algn="ctr">
                        <a:lnSpc>
                          <a:spcPct val="115000"/>
                        </a:lnSpc>
                        <a:spcAft>
                          <a:spcPts val="800"/>
                        </a:spcAft>
                        <a:buNone/>
                      </a:pPr>
                      <a:r>
                        <a:rPr lang="en-US" sz="2000" kern="100">
                          <a:effectLst/>
                        </a:rPr>
                        <a:t>+2.0%</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0.342</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-0.112</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0.073</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51214223"/>
                  </a:ext>
                </a:extLst>
              </a:tr>
              <a:tr h="324196">
                <a:tc>
                  <a:txBody>
                    <a:bodyPr/>
                    <a:lstStyle/>
                    <a:p>
                      <a:pPr marL="228600" marR="0" algn="ctr">
                        <a:lnSpc>
                          <a:spcPct val="115000"/>
                        </a:lnSpc>
                        <a:spcAft>
                          <a:spcPts val="800"/>
                        </a:spcAft>
                        <a:buNone/>
                      </a:pPr>
                      <a:r>
                        <a:rPr lang="en-US" sz="2000" kern="100" dirty="0">
                          <a:effectLst/>
                        </a:rPr>
                        <a:t>+4.0%</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0.684</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-0.224</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0.146</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43139424"/>
                  </a:ext>
                </a:extLst>
              </a:tr>
              <a:tr h="290946">
                <a:tc>
                  <a:txBody>
                    <a:bodyPr/>
                    <a:lstStyle/>
                    <a:p>
                      <a:pPr marL="228600" marR="0" algn="ctr">
                        <a:lnSpc>
                          <a:spcPct val="115000"/>
                        </a:lnSpc>
                        <a:spcAft>
                          <a:spcPts val="800"/>
                        </a:spcAft>
                        <a:buNone/>
                      </a:pPr>
                      <a:r>
                        <a:rPr lang="en-US" sz="2000" kern="100" dirty="0">
                          <a:effectLst/>
                        </a:rPr>
                        <a:t>+6.0%</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1.026</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-0.336</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0.219</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6542308"/>
                  </a:ext>
                </a:extLst>
              </a:tr>
              <a:tr h="406901">
                <a:tc>
                  <a:txBody>
                    <a:bodyPr/>
                    <a:lstStyle/>
                    <a:p>
                      <a:pPr marL="0" marR="0" algn="ctr">
                        <a:lnSpc>
                          <a:spcPct val="115000"/>
                        </a:lnSpc>
                        <a:spcAft>
                          <a:spcPts val="800"/>
                        </a:spcAft>
                        <a:buNone/>
                      </a:pPr>
                      <a:r>
                        <a:rPr lang="en-US" sz="2000" kern="100" dirty="0">
                          <a:effectLst/>
                        </a:rPr>
                        <a:t>+12.0%</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2.052</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-0.673</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dirty="0">
                          <a:effectLst/>
                        </a:rPr>
                        <a:t>0.438</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63264531"/>
                  </a:ext>
                </a:extLst>
              </a:tr>
            </a:tbl>
          </a:graphicData>
        </a:graphic>
      </p:graphicFrame>
    </p:spTree>
    <p:extLst>
      <p:ext uri="{BB962C8B-B14F-4D97-AF65-F5344CB8AC3E}">
        <p14:creationId xmlns:p14="http://schemas.microsoft.com/office/powerpoint/2010/main" val="3713913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495DE-9688-EC91-764A-01B2EE1EFB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A5C3FA-F0A4-7C87-6849-25CFBF5072CF}"/>
              </a:ext>
            </a:extLst>
          </p:cNvPr>
          <p:cNvSpPr>
            <a:spLocks noGrp="1"/>
          </p:cNvSpPr>
          <p:nvPr>
            <p:ph type="title"/>
          </p:nvPr>
        </p:nvSpPr>
        <p:spPr>
          <a:xfrm>
            <a:off x="0" y="0"/>
            <a:ext cx="12192000" cy="475134"/>
          </a:xfrm>
        </p:spPr>
        <p:txBody>
          <a:bodyPr>
            <a:normAutofit fontScale="90000"/>
          </a:bodyPr>
          <a:lstStyle/>
          <a:p>
            <a:r>
              <a:rPr lang="en-US" sz="2400" b="1" dirty="0">
                <a:latin typeface="Times New Roman" panose="02020603050405020304" pitchFamily="18" charset="0"/>
                <a:cs typeface="Times New Roman" panose="02020603050405020304" pitchFamily="18" charset="0"/>
              </a:rPr>
              <a:t>Parameter Sensitivity by changing the values of R2 with certain percentage (keeping R1,C constant):</a:t>
            </a:r>
          </a:p>
        </p:txBody>
      </p:sp>
      <p:pic>
        <p:nvPicPr>
          <p:cNvPr id="6" name="Picture 5">
            <a:extLst>
              <a:ext uri="{FF2B5EF4-FFF2-40B4-BE49-F238E27FC236}">
                <a16:creationId xmlns:a16="http://schemas.microsoft.com/office/drawing/2014/main" id="{BC7951AF-560D-122E-37A1-AB93F0BBA968}"/>
              </a:ext>
            </a:extLst>
          </p:cNvPr>
          <p:cNvPicPr>
            <a:picLocks noChangeAspect="1"/>
          </p:cNvPicPr>
          <p:nvPr/>
        </p:nvPicPr>
        <p:blipFill>
          <a:blip r:embed="rId2"/>
          <a:srcRect l="8311" t="4112" r="7703" b="3448"/>
          <a:stretch/>
        </p:blipFill>
        <p:spPr>
          <a:xfrm>
            <a:off x="667264" y="547815"/>
            <a:ext cx="10931611" cy="6310185"/>
          </a:xfrm>
          <a:prstGeom prst="rect">
            <a:avLst/>
          </a:prstGeom>
        </p:spPr>
      </p:pic>
    </p:spTree>
    <p:extLst>
      <p:ext uri="{BB962C8B-B14F-4D97-AF65-F5344CB8AC3E}">
        <p14:creationId xmlns:p14="http://schemas.microsoft.com/office/powerpoint/2010/main" val="260688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BB4C0-4478-FF0B-F326-FF87984D2B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EFB328-30B6-701A-FEBB-563F16C09BA6}"/>
              </a:ext>
            </a:extLst>
          </p:cNvPr>
          <p:cNvSpPr>
            <a:spLocks noGrp="1"/>
          </p:cNvSpPr>
          <p:nvPr>
            <p:ph type="title"/>
          </p:nvPr>
        </p:nvSpPr>
        <p:spPr>
          <a:xfrm>
            <a:off x="1" y="402531"/>
            <a:ext cx="6176356" cy="354227"/>
          </a:xfrm>
        </p:spPr>
        <p:txBody>
          <a:bodyPr>
            <a:noAutofit/>
          </a:bodyPr>
          <a:lstStyle/>
          <a:p>
            <a:r>
              <a:rPr lang="en-US" sz="3200" b="1" dirty="0">
                <a:latin typeface="Times New Roman" panose="02020603050405020304" pitchFamily="18" charset="0"/>
                <a:cs typeface="Times New Roman" panose="02020603050405020304" pitchFamily="18" charset="0"/>
              </a:rPr>
              <a:t>Pressure Difference Bar Plot for R2 variation:</a:t>
            </a:r>
          </a:p>
        </p:txBody>
      </p:sp>
      <p:pic>
        <p:nvPicPr>
          <p:cNvPr id="4" name="Picture 3">
            <a:extLst>
              <a:ext uri="{FF2B5EF4-FFF2-40B4-BE49-F238E27FC236}">
                <a16:creationId xmlns:a16="http://schemas.microsoft.com/office/drawing/2014/main" id="{C4197C95-E3F3-1B32-9DDB-A24C105210FC}"/>
              </a:ext>
            </a:extLst>
          </p:cNvPr>
          <p:cNvPicPr>
            <a:picLocks noChangeAspect="1"/>
          </p:cNvPicPr>
          <p:nvPr/>
        </p:nvPicPr>
        <p:blipFill>
          <a:blip r:embed="rId2"/>
          <a:srcRect l="8455" t="3909" r="8568" b="3785"/>
          <a:stretch/>
        </p:blipFill>
        <p:spPr>
          <a:xfrm>
            <a:off x="0" y="1417321"/>
            <a:ext cx="5899751" cy="4002577"/>
          </a:xfrm>
          <a:prstGeom prst="rect">
            <a:avLst/>
          </a:prstGeom>
        </p:spPr>
      </p:pic>
      <p:sp>
        <p:nvSpPr>
          <p:cNvPr id="3" name="Title 1">
            <a:extLst>
              <a:ext uri="{FF2B5EF4-FFF2-40B4-BE49-F238E27FC236}">
                <a16:creationId xmlns:a16="http://schemas.microsoft.com/office/drawing/2014/main" id="{BFC916D0-B025-5266-A23F-1F3C8D18509F}"/>
              </a:ext>
            </a:extLst>
          </p:cNvPr>
          <p:cNvSpPr txBox="1">
            <a:spLocks/>
          </p:cNvSpPr>
          <p:nvPr/>
        </p:nvSpPr>
        <p:spPr>
          <a:xfrm>
            <a:off x="6556611" y="177113"/>
            <a:ext cx="5511017" cy="82041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New Roman" panose="02020603050405020304" pitchFamily="18" charset="0"/>
                <a:cs typeface="Times New Roman" panose="02020603050405020304" pitchFamily="18" charset="0"/>
              </a:rPr>
              <a:t>Pressure Change Summary for R2:</a:t>
            </a:r>
          </a:p>
        </p:txBody>
      </p:sp>
      <p:graphicFrame>
        <p:nvGraphicFramePr>
          <p:cNvPr id="5" name="Table 4">
            <a:extLst>
              <a:ext uri="{FF2B5EF4-FFF2-40B4-BE49-F238E27FC236}">
                <a16:creationId xmlns:a16="http://schemas.microsoft.com/office/drawing/2014/main" id="{4955C987-11B4-1997-7DD8-3C2ACA95451C}"/>
              </a:ext>
            </a:extLst>
          </p:cNvPr>
          <p:cNvGraphicFramePr>
            <a:graphicFrameLocks noGrp="1"/>
          </p:cNvGraphicFramePr>
          <p:nvPr>
            <p:extLst>
              <p:ext uri="{D42A27DB-BD31-4B8C-83A1-F6EECF244321}">
                <p14:modId xmlns:p14="http://schemas.microsoft.com/office/powerpoint/2010/main" val="3337010086"/>
              </p:ext>
            </p:extLst>
          </p:nvPr>
        </p:nvGraphicFramePr>
        <p:xfrm>
          <a:off x="6556610" y="1907771"/>
          <a:ext cx="5511017" cy="3042458"/>
        </p:xfrm>
        <a:graphic>
          <a:graphicData uri="http://schemas.openxmlformats.org/drawingml/2006/table">
            <a:tbl>
              <a:tblPr firstRow="1" firstCol="1" bandRow="1">
                <a:tableStyleId>{5C22544A-7EE6-4342-B048-85BDC9FD1C3A}</a:tableStyleId>
              </a:tblPr>
              <a:tblGrid>
                <a:gridCol w="1488156">
                  <a:extLst>
                    <a:ext uri="{9D8B030D-6E8A-4147-A177-3AD203B41FA5}">
                      <a16:colId xmlns:a16="http://schemas.microsoft.com/office/drawing/2014/main" val="3722788493"/>
                    </a:ext>
                  </a:extLst>
                </a:gridCol>
                <a:gridCol w="1482107">
                  <a:extLst>
                    <a:ext uri="{9D8B030D-6E8A-4147-A177-3AD203B41FA5}">
                      <a16:colId xmlns:a16="http://schemas.microsoft.com/office/drawing/2014/main" val="637881008"/>
                    </a:ext>
                  </a:extLst>
                </a:gridCol>
                <a:gridCol w="1403465">
                  <a:extLst>
                    <a:ext uri="{9D8B030D-6E8A-4147-A177-3AD203B41FA5}">
                      <a16:colId xmlns:a16="http://schemas.microsoft.com/office/drawing/2014/main" val="2437605765"/>
                    </a:ext>
                  </a:extLst>
                </a:gridCol>
                <a:gridCol w="1137289">
                  <a:extLst>
                    <a:ext uri="{9D8B030D-6E8A-4147-A177-3AD203B41FA5}">
                      <a16:colId xmlns:a16="http://schemas.microsoft.com/office/drawing/2014/main" val="1139274340"/>
                    </a:ext>
                  </a:extLst>
                </a:gridCol>
              </a:tblGrid>
              <a:tr h="584541">
                <a:tc>
                  <a:txBody>
                    <a:bodyPr/>
                    <a:lstStyle/>
                    <a:p>
                      <a:pPr marL="0" marR="0" algn="ctr">
                        <a:lnSpc>
                          <a:spcPct val="115000"/>
                        </a:lnSpc>
                        <a:spcAft>
                          <a:spcPts val="800"/>
                        </a:spcAft>
                        <a:buNone/>
                        <a:tabLst>
                          <a:tab pos="1346835" algn="r"/>
                        </a:tabLst>
                      </a:pPr>
                      <a:r>
                        <a:rPr lang="en-US" sz="2000" kern="100" dirty="0">
                          <a:effectLst/>
                        </a:rPr>
                        <a:t>R2 Change</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dirty="0">
                          <a:effectLst/>
                        </a:rPr>
                        <a:t>Max ΔP</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dirty="0">
                          <a:effectLst/>
                        </a:rPr>
                        <a:t>Min ΔP</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a:effectLst/>
                        </a:rPr>
                        <a:t>Mean ΔP</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18841565"/>
                  </a:ext>
                </a:extLst>
              </a:tr>
              <a:tr h="500595">
                <a:tc>
                  <a:txBody>
                    <a:bodyPr/>
                    <a:lstStyle/>
                    <a:p>
                      <a:pPr marL="228600" marR="0" algn="l">
                        <a:lnSpc>
                          <a:spcPct val="115000"/>
                        </a:lnSpc>
                        <a:spcAft>
                          <a:spcPts val="800"/>
                        </a:spcAft>
                        <a:buNone/>
                      </a:pPr>
                      <a:r>
                        <a:rPr lang="en-US" sz="2000" kern="100" dirty="0">
                          <a:effectLst/>
                        </a:rPr>
                        <a:t>       +1.0%</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dirty="0">
                          <a:effectLst/>
                        </a:rPr>
                        <a:t>0.276</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0.000</a:t>
                      </a:r>
                    </a:p>
                  </a:txBody>
                  <a:tcPr marL="68580" marR="68580" marT="0" marB="0"/>
                </a:tc>
                <a:tc>
                  <a:txBody>
                    <a:bodyPr/>
                    <a:lstStyle/>
                    <a:p>
                      <a:pPr marL="0" marR="0" algn="ctr">
                        <a:lnSpc>
                          <a:spcPct val="115000"/>
                        </a:lnSpc>
                        <a:spcAft>
                          <a:spcPts val="800"/>
                        </a:spcAft>
                        <a:buNone/>
                      </a:pPr>
                      <a:r>
                        <a:rPr lang="en-US" sz="2000" kern="100" dirty="0">
                          <a:effectLst/>
                        </a:rPr>
                        <a:t>0.117</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22633155"/>
                  </a:ext>
                </a:extLst>
              </a:tr>
              <a:tr h="465465">
                <a:tc>
                  <a:txBody>
                    <a:bodyPr/>
                    <a:lstStyle/>
                    <a:p>
                      <a:pPr marL="0" marR="0" algn="ctr">
                        <a:lnSpc>
                          <a:spcPct val="115000"/>
                        </a:lnSpc>
                        <a:spcAft>
                          <a:spcPts val="800"/>
                        </a:spcAft>
                        <a:buNone/>
                      </a:pPr>
                      <a:r>
                        <a:rPr lang="en-US" sz="2000" kern="100">
                          <a:effectLst/>
                        </a:rPr>
                        <a:t>+2.0%</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dirty="0">
                          <a:effectLst/>
                        </a:rPr>
                        <a:t>0.548</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0.000</a:t>
                      </a:r>
                    </a:p>
                  </a:txBody>
                  <a:tcPr marL="68580" marR="68580" marT="0" marB="0"/>
                </a:tc>
                <a:tc>
                  <a:txBody>
                    <a:bodyPr/>
                    <a:lstStyle/>
                    <a:p>
                      <a:pPr marL="0" marR="0" algn="ctr">
                        <a:lnSpc>
                          <a:spcPct val="115000"/>
                        </a:lnSpc>
                        <a:spcAft>
                          <a:spcPts val="800"/>
                        </a:spcAft>
                        <a:buNone/>
                      </a:pPr>
                      <a:r>
                        <a:rPr lang="en-US" sz="2000" kern="100" dirty="0">
                          <a:effectLst/>
                        </a:rPr>
                        <a:t>0.233</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51214223"/>
                  </a:ext>
                </a:extLst>
              </a:tr>
              <a:tr h="565890">
                <a:tc>
                  <a:txBody>
                    <a:bodyPr/>
                    <a:lstStyle/>
                    <a:p>
                      <a:pPr marL="228600" marR="0" algn="l">
                        <a:lnSpc>
                          <a:spcPct val="115000"/>
                        </a:lnSpc>
                        <a:spcAft>
                          <a:spcPts val="800"/>
                        </a:spcAft>
                        <a:buNone/>
                      </a:pPr>
                      <a:r>
                        <a:rPr lang="en-US" sz="2000" kern="100">
                          <a:effectLst/>
                        </a:rPr>
                        <a:t>       +4.0%</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1.081</a:t>
                      </a:r>
                    </a:p>
                  </a:txBody>
                  <a:tcPr marL="68580" marR="68580" marT="0" marB="0"/>
                </a:tc>
                <a:tc>
                  <a:txBody>
                    <a:bodyPr/>
                    <a:lstStyle/>
                    <a:p>
                      <a:pPr marL="0" marR="0" algn="ct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0.000</a:t>
                      </a:r>
                    </a:p>
                  </a:txBody>
                  <a:tcPr marL="68580" marR="68580" marT="0" marB="0"/>
                </a:tc>
                <a:tc>
                  <a:txBody>
                    <a:bodyPr/>
                    <a:lstStyle/>
                    <a:p>
                      <a:pPr marL="0" marR="0" algn="ctr">
                        <a:lnSpc>
                          <a:spcPct val="115000"/>
                        </a:lnSpc>
                        <a:spcAft>
                          <a:spcPts val="800"/>
                        </a:spcAft>
                        <a:buNone/>
                      </a:pPr>
                      <a:r>
                        <a:rPr lang="en-US" sz="2000" kern="100" dirty="0">
                          <a:effectLst/>
                        </a:rPr>
                        <a:t>0.459</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43139424"/>
                  </a:ext>
                </a:extLst>
              </a:tr>
              <a:tr h="447901">
                <a:tc>
                  <a:txBody>
                    <a:bodyPr/>
                    <a:lstStyle/>
                    <a:p>
                      <a:pPr marL="228600" marR="0" algn="l">
                        <a:lnSpc>
                          <a:spcPct val="115000"/>
                        </a:lnSpc>
                        <a:spcAft>
                          <a:spcPts val="800"/>
                        </a:spcAft>
                        <a:buNone/>
                      </a:pPr>
                      <a:r>
                        <a:rPr lang="en-US" sz="2000" kern="100">
                          <a:effectLst/>
                        </a:rPr>
                        <a:t>       +6.0%</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dirty="0">
                          <a:effectLst/>
                        </a:rPr>
                        <a:t>1.600</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0.000</a:t>
                      </a:r>
                    </a:p>
                  </a:txBody>
                  <a:tcPr marL="68580" marR="68580" marT="0" marB="0"/>
                </a:tc>
                <a:tc>
                  <a:txBody>
                    <a:bodyPr/>
                    <a:lstStyle/>
                    <a:p>
                      <a:pPr marL="0" marR="0" algn="ctr">
                        <a:lnSpc>
                          <a:spcPct val="115000"/>
                        </a:lnSpc>
                        <a:spcAft>
                          <a:spcPts val="800"/>
                        </a:spcAft>
                        <a:buNone/>
                      </a:pPr>
                      <a:r>
                        <a:rPr lang="en-US" sz="2000" kern="100" dirty="0">
                          <a:effectLst/>
                        </a:rPr>
                        <a:t>0.677</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6542308"/>
                  </a:ext>
                </a:extLst>
              </a:tr>
              <a:tr h="478066">
                <a:tc>
                  <a:txBody>
                    <a:bodyPr/>
                    <a:lstStyle/>
                    <a:p>
                      <a:pPr marL="0" marR="0" algn="ctr">
                        <a:lnSpc>
                          <a:spcPct val="115000"/>
                        </a:lnSpc>
                        <a:spcAft>
                          <a:spcPts val="800"/>
                        </a:spcAft>
                        <a:buNone/>
                      </a:pPr>
                      <a:r>
                        <a:rPr lang="en-US" sz="2000" kern="100">
                          <a:effectLst/>
                        </a:rPr>
                        <a:t>+12.0%</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3.079</a:t>
                      </a:r>
                    </a:p>
                  </a:txBody>
                  <a:tcPr marL="68580" marR="68580" marT="0" marB="0"/>
                </a:tc>
                <a:tc>
                  <a:txBody>
                    <a:bodyPr/>
                    <a:lstStyle/>
                    <a:p>
                      <a:pPr marL="0" marR="0" algn="ct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0.000</a:t>
                      </a:r>
                    </a:p>
                  </a:txBody>
                  <a:tcPr marL="68580" marR="68580" marT="0" marB="0"/>
                </a:tc>
                <a:tc>
                  <a:txBody>
                    <a:bodyPr/>
                    <a:lstStyle/>
                    <a:p>
                      <a:pPr marL="0" marR="0" algn="ct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1.292</a:t>
                      </a:r>
                    </a:p>
                  </a:txBody>
                  <a:tcPr marL="68580" marR="68580" marT="0" marB="0"/>
                </a:tc>
                <a:extLst>
                  <a:ext uri="{0D108BD9-81ED-4DB2-BD59-A6C34878D82A}">
                    <a16:rowId xmlns:a16="http://schemas.microsoft.com/office/drawing/2014/main" val="2163264531"/>
                  </a:ext>
                </a:extLst>
              </a:tr>
            </a:tbl>
          </a:graphicData>
        </a:graphic>
      </p:graphicFrame>
    </p:spTree>
    <p:extLst>
      <p:ext uri="{BB962C8B-B14F-4D97-AF65-F5344CB8AC3E}">
        <p14:creationId xmlns:p14="http://schemas.microsoft.com/office/powerpoint/2010/main" val="3010880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19E52-F97C-3717-0F1D-2740A3B32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D6A5CE-1879-3623-E611-83787A43268A}"/>
              </a:ext>
            </a:extLst>
          </p:cNvPr>
          <p:cNvSpPr>
            <a:spLocks noGrp="1"/>
          </p:cNvSpPr>
          <p:nvPr>
            <p:ph type="title"/>
          </p:nvPr>
        </p:nvSpPr>
        <p:spPr>
          <a:xfrm>
            <a:off x="0" y="0"/>
            <a:ext cx="12192000" cy="475134"/>
          </a:xfrm>
        </p:spPr>
        <p:txBody>
          <a:bodyPr>
            <a:normAutofit fontScale="90000"/>
          </a:bodyPr>
          <a:lstStyle/>
          <a:p>
            <a:r>
              <a:rPr lang="en-US" sz="2400" b="1" dirty="0">
                <a:latin typeface="Times New Roman" panose="02020603050405020304" pitchFamily="18" charset="0"/>
                <a:cs typeface="Times New Roman" panose="02020603050405020304" pitchFamily="18" charset="0"/>
              </a:rPr>
              <a:t>Parameter Sensitivity by changing the values of C with certain percentage (keeping R1,R2 constant):</a:t>
            </a:r>
          </a:p>
        </p:txBody>
      </p:sp>
      <p:pic>
        <p:nvPicPr>
          <p:cNvPr id="4" name="Picture 3">
            <a:extLst>
              <a:ext uri="{FF2B5EF4-FFF2-40B4-BE49-F238E27FC236}">
                <a16:creationId xmlns:a16="http://schemas.microsoft.com/office/drawing/2014/main" id="{5A428931-87B1-8F0A-803C-065342BE76BC}"/>
              </a:ext>
            </a:extLst>
          </p:cNvPr>
          <p:cNvPicPr>
            <a:picLocks noChangeAspect="1"/>
          </p:cNvPicPr>
          <p:nvPr/>
        </p:nvPicPr>
        <p:blipFill>
          <a:blip r:embed="rId2"/>
          <a:srcRect l="6877" t="3152" r="8007" b="1818"/>
          <a:stretch/>
        </p:blipFill>
        <p:spPr>
          <a:xfrm>
            <a:off x="1180407" y="640080"/>
            <a:ext cx="9551324" cy="6124502"/>
          </a:xfrm>
          <a:prstGeom prst="rect">
            <a:avLst/>
          </a:prstGeom>
        </p:spPr>
      </p:pic>
    </p:spTree>
    <p:extLst>
      <p:ext uri="{BB962C8B-B14F-4D97-AF65-F5344CB8AC3E}">
        <p14:creationId xmlns:p14="http://schemas.microsoft.com/office/powerpoint/2010/main" val="1125617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FC993-E2C7-58CF-136E-F0549A13FD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346C0-C108-79F4-EB45-A6573151B119}"/>
              </a:ext>
            </a:extLst>
          </p:cNvPr>
          <p:cNvSpPr>
            <a:spLocks noGrp="1"/>
          </p:cNvSpPr>
          <p:nvPr>
            <p:ph type="title"/>
          </p:nvPr>
        </p:nvSpPr>
        <p:spPr>
          <a:xfrm>
            <a:off x="1" y="83127"/>
            <a:ext cx="6176356" cy="906724"/>
          </a:xfrm>
        </p:spPr>
        <p:txBody>
          <a:bodyPr>
            <a:noAutofit/>
          </a:bodyPr>
          <a:lstStyle/>
          <a:p>
            <a:r>
              <a:rPr lang="en-US" sz="3200" b="1" dirty="0">
                <a:latin typeface="Times New Roman" panose="02020603050405020304" pitchFamily="18" charset="0"/>
                <a:cs typeface="Times New Roman" panose="02020603050405020304" pitchFamily="18" charset="0"/>
              </a:rPr>
              <a:t>Pressure Difference Bar Plot for C variation:</a:t>
            </a:r>
          </a:p>
        </p:txBody>
      </p:sp>
      <p:sp>
        <p:nvSpPr>
          <p:cNvPr id="3" name="Title 1">
            <a:extLst>
              <a:ext uri="{FF2B5EF4-FFF2-40B4-BE49-F238E27FC236}">
                <a16:creationId xmlns:a16="http://schemas.microsoft.com/office/drawing/2014/main" id="{A499DA3D-939F-16F2-FE7E-E0F426B23B5A}"/>
              </a:ext>
            </a:extLst>
          </p:cNvPr>
          <p:cNvSpPr txBox="1">
            <a:spLocks/>
          </p:cNvSpPr>
          <p:nvPr/>
        </p:nvSpPr>
        <p:spPr>
          <a:xfrm>
            <a:off x="6381378" y="83127"/>
            <a:ext cx="5511017" cy="90672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New Roman" panose="02020603050405020304" pitchFamily="18" charset="0"/>
                <a:cs typeface="Times New Roman" panose="02020603050405020304" pitchFamily="18" charset="0"/>
              </a:rPr>
              <a:t>Pressure Change Summary for C:</a:t>
            </a:r>
          </a:p>
        </p:txBody>
      </p:sp>
      <p:pic>
        <p:nvPicPr>
          <p:cNvPr id="7" name="Picture 6">
            <a:extLst>
              <a:ext uri="{FF2B5EF4-FFF2-40B4-BE49-F238E27FC236}">
                <a16:creationId xmlns:a16="http://schemas.microsoft.com/office/drawing/2014/main" id="{396A431B-504A-F17C-EB13-6E744A82F14A}"/>
              </a:ext>
            </a:extLst>
          </p:cNvPr>
          <p:cNvPicPr>
            <a:picLocks noChangeAspect="1"/>
          </p:cNvPicPr>
          <p:nvPr/>
        </p:nvPicPr>
        <p:blipFill>
          <a:blip r:embed="rId2"/>
          <a:srcRect l="3181" t="2583" r="6744"/>
          <a:stretch/>
        </p:blipFill>
        <p:spPr>
          <a:xfrm>
            <a:off x="58189" y="1159628"/>
            <a:ext cx="5708110" cy="5390802"/>
          </a:xfrm>
          <a:prstGeom prst="rect">
            <a:avLst/>
          </a:prstGeom>
        </p:spPr>
      </p:pic>
      <p:graphicFrame>
        <p:nvGraphicFramePr>
          <p:cNvPr id="8" name="Table 7">
            <a:extLst>
              <a:ext uri="{FF2B5EF4-FFF2-40B4-BE49-F238E27FC236}">
                <a16:creationId xmlns:a16="http://schemas.microsoft.com/office/drawing/2014/main" id="{63178590-0BB2-BEDA-9D5A-5F7900DD37FE}"/>
              </a:ext>
            </a:extLst>
          </p:cNvPr>
          <p:cNvGraphicFramePr>
            <a:graphicFrameLocks noGrp="1"/>
          </p:cNvGraphicFramePr>
          <p:nvPr>
            <p:extLst>
              <p:ext uri="{D42A27DB-BD31-4B8C-83A1-F6EECF244321}">
                <p14:modId xmlns:p14="http://schemas.microsoft.com/office/powerpoint/2010/main" val="557251602"/>
              </p:ext>
            </p:extLst>
          </p:nvPr>
        </p:nvGraphicFramePr>
        <p:xfrm>
          <a:off x="6498421" y="1970199"/>
          <a:ext cx="5511017" cy="2144600"/>
        </p:xfrm>
        <a:graphic>
          <a:graphicData uri="http://schemas.openxmlformats.org/drawingml/2006/table">
            <a:tbl>
              <a:tblPr firstRow="1" firstCol="1" bandRow="1">
                <a:tableStyleId>{5C22544A-7EE6-4342-B048-85BDC9FD1C3A}</a:tableStyleId>
              </a:tblPr>
              <a:tblGrid>
                <a:gridCol w="1439401">
                  <a:extLst>
                    <a:ext uri="{9D8B030D-6E8A-4147-A177-3AD203B41FA5}">
                      <a16:colId xmlns:a16="http://schemas.microsoft.com/office/drawing/2014/main" val="2331654520"/>
                    </a:ext>
                  </a:extLst>
                </a:gridCol>
                <a:gridCol w="1293541">
                  <a:extLst>
                    <a:ext uri="{9D8B030D-6E8A-4147-A177-3AD203B41FA5}">
                      <a16:colId xmlns:a16="http://schemas.microsoft.com/office/drawing/2014/main" val="2712155695"/>
                    </a:ext>
                  </a:extLst>
                </a:gridCol>
                <a:gridCol w="1310904">
                  <a:extLst>
                    <a:ext uri="{9D8B030D-6E8A-4147-A177-3AD203B41FA5}">
                      <a16:colId xmlns:a16="http://schemas.microsoft.com/office/drawing/2014/main" val="1477008941"/>
                    </a:ext>
                  </a:extLst>
                </a:gridCol>
                <a:gridCol w="1467171">
                  <a:extLst>
                    <a:ext uri="{9D8B030D-6E8A-4147-A177-3AD203B41FA5}">
                      <a16:colId xmlns:a16="http://schemas.microsoft.com/office/drawing/2014/main" val="822667643"/>
                    </a:ext>
                  </a:extLst>
                </a:gridCol>
              </a:tblGrid>
              <a:tr h="402613">
                <a:tc>
                  <a:txBody>
                    <a:bodyPr/>
                    <a:lstStyle/>
                    <a:p>
                      <a:pPr marL="0" marR="0" algn="ctr">
                        <a:lnSpc>
                          <a:spcPct val="115000"/>
                        </a:lnSpc>
                        <a:spcAft>
                          <a:spcPts val="800"/>
                        </a:spcAft>
                        <a:buNone/>
                      </a:pPr>
                      <a:r>
                        <a:rPr lang="en-US" sz="1600" kern="0">
                          <a:effectLst/>
                        </a:rPr>
                        <a:t>C Change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a:effectLst/>
                        </a:rPr>
                        <a:t>Max ΔP</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a:effectLst/>
                        </a:rPr>
                        <a:t>Min ΔP</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a:effectLst/>
                        </a:rPr>
                        <a:t>Mean ΔP</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09028207"/>
                  </a:ext>
                </a:extLst>
              </a:tr>
              <a:tr h="328055">
                <a:tc>
                  <a:txBody>
                    <a:bodyPr/>
                    <a:lstStyle/>
                    <a:p>
                      <a:pPr marL="0" marR="0" algn="ctr">
                        <a:lnSpc>
                          <a:spcPct val="115000"/>
                        </a:lnSpc>
                        <a:spcAft>
                          <a:spcPts val="800"/>
                        </a:spcAft>
                        <a:buNone/>
                      </a:pPr>
                      <a:r>
                        <a:rPr lang="en-US" sz="1600" kern="0">
                          <a:effectLst/>
                        </a:rPr>
                        <a:t>+1.0%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a:effectLst/>
                        </a:rPr>
                        <a:t>0.061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a:effectLst/>
                        </a:rPr>
                        <a:t>-0.259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a:effectLst/>
                        </a:rPr>
                        <a:t>-0.101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49804050"/>
                  </a:ext>
                </a:extLst>
              </a:tr>
              <a:tr h="326171">
                <a:tc>
                  <a:txBody>
                    <a:bodyPr/>
                    <a:lstStyle/>
                    <a:p>
                      <a:pPr marL="0" marR="0" algn="ctr">
                        <a:lnSpc>
                          <a:spcPct val="115000"/>
                        </a:lnSpc>
                        <a:spcAft>
                          <a:spcPts val="800"/>
                        </a:spcAft>
                        <a:buNone/>
                      </a:pPr>
                      <a:r>
                        <a:rPr lang="en-US" sz="1600" kern="0">
                          <a:effectLst/>
                        </a:rPr>
                        <a:t>+2.0%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a:effectLst/>
                        </a:rPr>
                        <a:t>0.369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a:effectLst/>
                        </a:rPr>
                        <a:t>-0.516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a:effectLst/>
                        </a:rPr>
                        <a:t>-0.117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57834382"/>
                  </a:ext>
                </a:extLst>
              </a:tr>
              <a:tr h="350815">
                <a:tc>
                  <a:txBody>
                    <a:bodyPr/>
                    <a:lstStyle/>
                    <a:p>
                      <a:pPr marL="0" marR="0" algn="ctr">
                        <a:lnSpc>
                          <a:spcPct val="115000"/>
                        </a:lnSpc>
                        <a:spcAft>
                          <a:spcPts val="800"/>
                        </a:spcAft>
                        <a:buNone/>
                      </a:pPr>
                      <a:r>
                        <a:rPr lang="en-US" sz="1600" kern="0">
                          <a:effectLst/>
                        </a:rPr>
                        <a:t>+4.0%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a:effectLst/>
                        </a:rPr>
                        <a:t>0.355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a:effectLst/>
                        </a:rPr>
                        <a:t>-0.994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a:effectLst/>
                        </a:rPr>
                        <a:t>-0.369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89189300"/>
                  </a:ext>
                </a:extLst>
              </a:tr>
              <a:tr h="339827">
                <a:tc>
                  <a:txBody>
                    <a:bodyPr/>
                    <a:lstStyle/>
                    <a:p>
                      <a:pPr marL="0" marR="0" algn="ctr">
                        <a:lnSpc>
                          <a:spcPct val="115000"/>
                        </a:lnSpc>
                        <a:spcAft>
                          <a:spcPts val="800"/>
                        </a:spcAft>
                        <a:buNone/>
                      </a:pPr>
                      <a:r>
                        <a:rPr lang="en-US" sz="1600" kern="0">
                          <a:effectLst/>
                        </a:rPr>
                        <a:t>+6.0%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a:effectLst/>
                        </a:rPr>
                        <a:t>0.406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a:effectLst/>
                        </a:rPr>
                        <a:t>-1.417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a:effectLst/>
                        </a:rPr>
                        <a:t>-0.552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89183930"/>
                  </a:ext>
                </a:extLst>
              </a:tr>
              <a:tr h="397119">
                <a:tc>
                  <a:txBody>
                    <a:bodyPr/>
                    <a:lstStyle/>
                    <a:p>
                      <a:pPr marL="0" marR="0" algn="ctr">
                        <a:lnSpc>
                          <a:spcPct val="115000"/>
                        </a:lnSpc>
                        <a:spcAft>
                          <a:spcPts val="800"/>
                        </a:spcAft>
                        <a:buNone/>
                      </a:pPr>
                      <a:r>
                        <a:rPr lang="en-US" sz="1600" kern="0">
                          <a:effectLst/>
                        </a:rPr>
                        <a:t>+12.0%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a:effectLst/>
                        </a:rPr>
                        <a:t>2.368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a:effectLst/>
                        </a:rPr>
                        <a:t>-2.464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kern="0" dirty="0">
                          <a:effectLst/>
                        </a:rPr>
                        <a:t>-0.105</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11205365"/>
                  </a:ext>
                </a:extLst>
              </a:tr>
            </a:tbl>
          </a:graphicData>
        </a:graphic>
      </p:graphicFrame>
    </p:spTree>
    <p:extLst>
      <p:ext uri="{BB962C8B-B14F-4D97-AF65-F5344CB8AC3E}">
        <p14:creationId xmlns:p14="http://schemas.microsoft.com/office/powerpoint/2010/main" val="27350251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9B692A7-22DF-E84E-311B-5D9D5DEF6EF2}"/>
              </a:ext>
            </a:extLst>
          </p:cNvPr>
          <p:cNvGrpSpPr/>
          <p:nvPr/>
        </p:nvGrpSpPr>
        <p:grpSpPr>
          <a:xfrm>
            <a:off x="617621" y="1161057"/>
            <a:ext cx="11427521" cy="5280723"/>
            <a:chOff x="617621" y="678919"/>
            <a:chExt cx="11427521" cy="5280723"/>
          </a:xfrm>
        </p:grpSpPr>
        <p:grpSp>
          <p:nvGrpSpPr>
            <p:cNvPr id="7" name="Group 6">
              <a:extLst>
                <a:ext uri="{FF2B5EF4-FFF2-40B4-BE49-F238E27FC236}">
                  <a16:creationId xmlns:a16="http://schemas.microsoft.com/office/drawing/2014/main" id="{907D80D8-F6FE-9745-DCC1-692E2CCA1681}"/>
                </a:ext>
              </a:extLst>
            </p:cNvPr>
            <p:cNvGrpSpPr/>
            <p:nvPr/>
          </p:nvGrpSpPr>
          <p:grpSpPr>
            <a:xfrm>
              <a:off x="617621" y="678919"/>
              <a:ext cx="10833767" cy="5104260"/>
              <a:chOff x="617621" y="678919"/>
              <a:chExt cx="10833767" cy="4839565"/>
            </a:xfrm>
          </p:grpSpPr>
          <p:pic>
            <p:nvPicPr>
              <p:cNvPr id="4" name="Picture 3">
                <a:extLst>
                  <a:ext uri="{FF2B5EF4-FFF2-40B4-BE49-F238E27FC236}">
                    <a16:creationId xmlns:a16="http://schemas.microsoft.com/office/drawing/2014/main" id="{BCFABAA5-90E0-1DD5-C727-147E5E1261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6710" t="7878" r="26273"/>
              <a:stretch/>
            </p:blipFill>
            <p:spPr bwMode="auto">
              <a:xfrm>
                <a:off x="617621" y="678919"/>
                <a:ext cx="4391445" cy="4839565"/>
              </a:xfrm>
              <a:prstGeom prst="rect">
                <a:avLst/>
              </a:prstGeom>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EC700EEF-F73C-20C5-9148-017A8B37594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7418" t="12919" r="11239" b="25338"/>
              <a:stretch/>
            </p:blipFill>
            <p:spPr bwMode="auto">
              <a:xfrm>
                <a:off x="5009066" y="1339516"/>
                <a:ext cx="946150" cy="3277870"/>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04AF9046-A08F-F729-9262-F46E3BB140A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0448" t="5128" r="10790"/>
              <a:stretch/>
            </p:blipFill>
            <p:spPr bwMode="auto">
              <a:xfrm>
                <a:off x="6625389" y="709849"/>
                <a:ext cx="4825999" cy="4439668"/>
              </a:xfrm>
              <a:prstGeom prst="rect">
                <a:avLst/>
              </a:prstGeom>
              <a:ln>
                <a:noFill/>
              </a:ln>
              <a:extLst>
                <a:ext uri="{53640926-AAD7-44D8-BBD7-CCE9431645EC}">
                  <a14:shadowObscured xmlns:a14="http://schemas.microsoft.com/office/drawing/2010/main"/>
                </a:ext>
              </a:extLst>
            </p:spPr>
          </p:pic>
        </p:grpSp>
        <p:sp>
          <p:nvSpPr>
            <p:cNvPr id="8" name="TextBox 7">
              <a:extLst>
                <a:ext uri="{FF2B5EF4-FFF2-40B4-BE49-F238E27FC236}">
                  <a16:creationId xmlns:a16="http://schemas.microsoft.com/office/drawing/2014/main" id="{02288143-17F2-43B8-3BA4-A20273DECD63}"/>
                </a:ext>
              </a:extLst>
            </p:cNvPr>
            <p:cNvSpPr txBox="1"/>
            <p:nvPr/>
          </p:nvSpPr>
          <p:spPr>
            <a:xfrm>
              <a:off x="1222962" y="5590310"/>
              <a:ext cx="4259179" cy="369332"/>
            </a:xfrm>
            <a:prstGeom prst="rect">
              <a:avLst/>
            </a:prstGeom>
            <a:noFill/>
          </p:spPr>
          <p:txBody>
            <a:bodyPr wrap="square" rtlCol="0">
              <a:spAutoFit/>
            </a:bodyPr>
            <a:lstStyle/>
            <a:p>
              <a:r>
                <a:rPr lang="en-US" dirty="0"/>
                <a:t>Average Pressure Analysis at normal inflow </a:t>
              </a:r>
            </a:p>
          </p:txBody>
        </p:sp>
        <p:sp>
          <p:nvSpPr>
            <p:cNvPr id="9" name="TextBox 8">
              <a:extLst>
                <a:ext uri="{FF2B5EF4-FFF2-40B4-BE49-F238E27FC236}">
                  <a16:creationId xmlns:a16="http://schemas.microsoft.com/office/drawing/2014/main" id="{7C2F87B4-D2F3-6FD9-4AAE-9D58691D4979}"/>
                </a:ext>
              </a:extLst>
            </p:cNvPr>
            <p:cNvSpPr txBox="1"/>
            <p:nvPr/>
          </p:nvSpPr>
          <p:spPr>
            <a:xfrm>
              <a:off x="6909972" y="5590310"/>
              <a:ext cx="5135170" cy="369332"/>
            </a:xfrm>
            <a:prstGeom prst="rect">
              <a:avLst/>
            </a:prstGeom>
            <a:noFill/>
          </p:spPr>
          <p:txBody>
            <a:bodyPr wrap="square" rtlCol="0">
              <a:spAutoFit/>
            </a:bodyPr>
            <a:lstStyle/>
            <a:p>
              <a:r>
                <a:rPr lang="en-US" dirty="0"/>
                <a:t>Average Pressure Analysis at 5% change in Inflow file</a:t>
              </a:r>
            </a:p>
          </p:txBody>
        </p:sp>
      </p:grpSp>
      <p:sp>
        <p:nvSpPr>
          <p:cNvPr id="2" name="TextBox 1">
            <a:extLst>
              <a:ext uri="{FF2B5EF4-FFF2-40B4-BE49-F238E27FC236}">
                <a16:creationId xmlns:a16="http://schemas.microsoft.com/office/drawing/2014/main" id="{AD00B9EA-9C63-BAC8-2BFF-FE6BE4FE7264}"/>
              </a:ext>
            </a:extLst>
          </p:cNvPr>
          <p:cNvSpPr txBox="1"/>
          <p:nvPr/>
        </p:nvSpPr>
        <p:spPr>
          <a:xfrm>
            <a:off x="0" y="0"/>
            <a:ext cx="12192000" cy="70788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3-Dimensional Patient Specific Coronary Arterial tree hemodynamics was studied using SIMVASCULAR software</a:t>
            </a:r>
          </a:p>
        </p:txBody>
      </p:sp>
      <p:sp>
        <p:nvSpPr>
          <p:cNvPr id="3" name="TextBox 2">
            <a:extLst>
              <a:ext uri="{FF2B5EF4-FFF2-40B4-BE49-F238E27FC236}">
                <a16:creationId xmlns:a16="http://schemas.microsoft.com/office/drawing/2014/main" id="{9413B315-7A99-EFCC-03E4-81823781ECCB}"/>
              </a:ext>
            </a:extLst>
          </p:cNvPr>
          <p:cNvSpPr txBox="1"/>
          <p:nvPr/>
        </p:nvSpPr>
        <p:spPr>
          <a:xfrm>
            <a:off x="148560" y="702053"/>
            <a:ext cx="2718501" cy="369332"/>
          </a:xfrm>
          <a:prstGeom prst="rect">
            <a:avLst/>
          </a:prstGeom>
          <a:noFill/>
        </p:spPr>
        <p:txBody>
          <a:bodyPr wrap="none" rtlCol="0">
            <a:spAutoFit/>
          </a:bodyPr>
          <a:lstStyle/>
          <a:p>
            <a:r>
              <a:rPr lang="en-US" dirty="0"/>
              <a:t>Average Pressure Analysis: </a:t>
            </a:r>
          </a:p>
        </p:txBody>
      </p:sp>
    </p:spTree>
    <p:extLst>
      <p:ext uri="{BB962C8B-B14F-4D97-AF65-F5344CB8AC3E}">
        <p14:creationId xmlns:p14="http://schemas.microsoft.com/office/powerpoint/2010/main" val="24118450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ECF17-5529-D388-D752-B46E018E0A91}"/>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FE527C83-F540-258F-37B8-AAC43D4E991A}"/>
              </a:ext>
            </a:extLst>
          </p:cNvPr>
          <p:cNvGrpSpPr/>
          <p:nvPr/>
        </p:nvGrpSpPr>
        <p:grpSpPr>
          <a:xfrm>
            <a:off x="606551" y="1055716"/>
            <a:ext cx="10978898" cy="5543038"/>
            <a:chOff x="589646" y="425491"/>
            <a:chExt cx="11012707" cy="5815816"/>
          </a:xfrm>
        </p:grpSpPr>
        <p:pic>
          <p:nvPicPr>
            <p:cNvPr id="10" name="Picture 9">
              <a:extLst>
                <a:ext uri="{FF2B5EF4-FFF2-40B4-BE49-F238E27FC236}">
                  <a16:creationId xmlns:a16="http://schemas.microsoft.com/office/drawing/2014/main" id="{B8641DEA-EC7D-420B-E451-F9E743CE4A52}"/>
                </a:ext>
              </a:extLst>
            </p:cNvPr>
            <p:cNvPicPr>
              <a:picLocks noChangeAspect="1"/>
            </p:cNvPicPr>
            <p:nvPr/>
          </p:nvPicPr>
          <p:blipFill rotWithShape="1">
            <a:blip r:embed="rId2">
              <a:extLst>
                <a:ext uri="{28A0092B-C50C-407E-A947-70E740481C1C}">
                  <a14:useLocalDpi xmlns:a14="http://schemas.microsoft.com/office/drawing/2010/main" val="0"/>
                </a:ext>
              </a:extLst>
            </a:blip>
            <a:srcRect l="31143" t="3978" r="30929" b="7175"/>
            <a:stretch/>
          </p:blipFill>
          <p:spPr bwMode="auto">
            <a:xfrm>
              <a:off x="589646" y="425491"/>
              <a:ext cx="4361395" cy="5398168"/>
            </a:xfrm>
            <a:prstGeom prst="rect">
              <a:avLst/>
            </a:prstGeom>
            <a:ln>
              <a:noFill/>
            </a:ln>
            <a:extLst>
              <a:ext uri="{53640926-AAD7-44D8-BBD7-CCE9431645EC}">
                <a14:shadowObscured xmlns:a14="http://schemas.microsoft.com/office/drawing/2010/main"/>
              </a:ext>
            </a:extLst>
          </p:spPr>
        </p:pic>
        <p:pic>
          <p:nvPicPr>
            <p:cNvPr id="11" name="Picture 10">
              <a:extLst>
                <a:ext uri="{FF2B5EF4-FFF2-40B4-BE49-F238E27FC236}">
                  <a16:creationId xmlns:a16="http://schemas.microsoft.com/office/drawing/2014/main" id="{A2052801-C56C-8F07-4A1F-5DC78CC36AE3}"/>
                </a:ext>
              </a:extLst>
            </p:cNvPr>
            <p:cNvPicPr>
              <a:picLocks noChangeAspect="1"/>
            </p:cNvPicPr>
            <p:nvPr/>
          </p:nvPicPr>
          <p:blipFill rotWithShape="1">
            <a:blip r:embed="rId2">
              <a:extLst>
                <a:ext uri="{28A0092B-C50C-407E-A947-70E740481C1C}">
                  <a14:useLocalDpi xmlns:a14="http://schemas.microsoft.com/office/drawing/2010/main" val="0"/>
                </a:ext>
              </a:extLst>
            </a:blip>
            <a:srcRect l="86401" t="26753" r="4237" b="32168"/>
            <a:stretch/>
          </p:blipFill>
          <p:spPr bwMode="auto">
            <a:xfrm>
              <a:off x="4951042" y="1669790"/>
              <a:ext cx="809625" cy="2909570"/>
            </a:xfrm>
            <a:prstGeom prst="rect">
              <a:avLst/>
            </a:prstGeom>
            <a:ln>
              <a:noFill/>
            </a:ln>
            <a:extLst>
              <a:ext uri="{53640926-AAD7-44D8-BBD7-CCE9431645EC}">
                <a14:shadowObscured xmlns:a14="http://schemas.microsoft.com/office/drawing/2010/main"/>
              </a:ext>
            </a:extLst>
          </p:spPr>
        </p:pic>
        <p:sp>
          <p:nvSpPr>
            <p:cNvPr id="12" name="TextBox 11">
              <a:extLst>
                <a:ext uri="{FF2B5EF4-FFF2-40B4-BE49-F238E27FC236}">
                  <a16:creationId xmlns:a16="http://schemas.microsoft.com/office/drawing/2014/main" id="{BDB9329D-8442-D26C-94F1-F4D493FE7464}"/>
                </a:ext>
              </a:extLst>
            </p:cNvPr>
            <p:cNvSpPr txBox="1"/>
            <p:nvPr/>
          </p:nvSpPr>
          <p:spPr>
            <a:xfrm>
              <a:off x="882315" y="5871975"/>
              <a:ext cx="4259179" cy="369332"/>
            </a:xfrm>
            <a:prstGeom prst="rect">
              <a:avLst/>
            </a:prstGeom>
            <a:noFill/>
          </p:spPr>
          <p:txBody>
            <a:bodyPr wrap="square" rtlCol="0">
              <a:spAutoFit/>
            </a:bodyPr>
            <a:lstStyle/>
            <a:p>
              <a:r>
                <a:rPr lang="en-US" dirty="0"/>
                <a:t>Wall Shear Stress Analysis at normal inflow </a:t>
              </a:r>
            </a:p>
          </p:txBody>
        </p:sp>
        <p:sp>
          <p:nvSpPr>
            <p:cNvPr id="13" name="TextBox 12">
              <a:extLst>
                <a:ext uri="{FF2B5EF4-FFF2-40B4-BE49-F238E27FC236}">
                  <a16:creationId xmlns:a16="http://schemas.microsoft.com/office/drawing/2014/main" id="{B781C8CC-C1CC-A32D-458A-01318BFCF78B}"/>
                </a:ext>
              </a:extLst>
            </p:cNvPr>
            <p:cNvSpPr txBox="1"/>
            <p:nvPr/>
          </p:nvSpPr>
          <p:spPr>
            <a:xfrm>
              <a:off x="6478417" y="5855005"/>
              <a:ext cx="4618053" cy="35521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Wall Shear Stress Analysis at 5% </a:t>
              </a:r>
              <a:r>
                <a:rPr lang="en-US" sz="1600" dirty="0"/>
                <a:t>change in Inflow file</a:t>
              </a:r>
              <a:endParaRPr lang="en-US" sz="1600"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220E96A3-876C-C915-6B4B-13658483F91D}"/>
                </a:ext>
              </a:extLst>
            </p:cNvPr>
            <p:cNvPicPr>
              <a:picLocks noChangeAspect="1"/>
            </p:cNvPicPr>
            <p:nvPr/>
          </p:nvPicPr>
          <p:blipFill>
            <a:blip r:embed="rId3"/>
            <a:srcRect l="30987" t="1053" r="14671" b="6204"/>
            <a:stretch/>
          </p:blipFill>
          <p:spPr>
            <a:xfrm>
              <a:off x="5979214" y="473807"/>
              <a:ext cx="5623139" cy="5398168"/>
            </a:xfrm>
            <a:prstGeom prst="rect">
              <a:avLst/>
            </a:prstGeom>
          </p:spPr>
        </p:pic>
      </p:grpSp>
      <p:sp>
        <p:nvSpPr>
          <p:cNvPr id="2" name="TextBox 1">
            <a:extLst>
              <a:ext uri="{FF2B5EF4-FFF2-40B4-BE49-F238E27FC236}">
                <a16:creationId xmlns:a16="http://schemas.microsoft.com/office/drawing/2014/main" id="{17FF1E41-1DE7-0473-FF04-BD7A233A6799}"/>
              </a:ext>
            </a:extLst>
          </p:cNvPr>
          <p:cNvSpPr txBox="1"/>
          <p:nvPr/>
        </p:nvSpPr>
        <p:spPr>
          <a:xfrm>
            <a:off x="131934" y="239030"/>
            <a:ext cx="2782365"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Wall Shear Stress Analysis: </a:t>
            </a:r>
          </a:p>
        </p:txBody>
      </p:sp>
    </p:spTree>
    <p:extLst>
      <p:ext uri="{BB962C8B-B14F-4D97-AF65-F5344CB8AC3E}">
        <p14:creationId xmlns:p14="http://schemas.microsoft.com/office/powerpoint/2010/main" val="1663846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DD700-F831-C9C9-E9D4-CD612A9CB1DD}"/>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6430DC8C-BC67-5F8D-2239-24F78D60DF9A}"/>
              </a:ext>
            </a:extLst>
          </p:cNvPr>
          <p:cNvGrpSpPr/>
          <p:nvPr/>
        </p:nvGrpSpPr>
        <p:grpSpPr>
          <a:xfrm>
            <a:off x="882315" y="617622"/>
            <a:ext cx="11205411" cy="5667981"/>
            <a:chOff x="882315" y="617622"/>
            <a:chExt cx="11205411" cy="5667981"/>
          </a:xfrm>
        </p:grpSpPr>
        <p:pic>
          <p:nvPicPr>
            <p:cNvPr id="9" name="Picture 8">
              <a:extLst>
                <a:ext uri="{FF2B5EF4-FFF2-40B4-BE49-F238E27FC236}">
                  <a16:creationId xmlns:a16="http://schemas.microsoft.com/office/drawing/2014/main" id="{EF740129-0121-07C3-8F39-F2ECC85B9FA8}"/>
                </a:ext>
              </a:extLst>
            </p:cNvPr>
            <p:cNvPicPr>
              <a:picLocks noChangeAspect="1"/>
            </p:cNvPicPr>
            <p:nvPr/>
          </p:nvPicPr>
          <p:blipFill>
            <a:blip r:embed="rId2"/>
            <a:srcRect l="27566" t="1754" r="13685" b="6082"/>
            <a:stretch/>
          </p:blipFill>
          <p:spPr>
            <a:xfrm>
              <a:off x="6288505" y="617622"/>
              <a:ext cx="5799221" cy="5265820"/>
            </a:xfrm>
            <a:prstGeom prst="rect">
              <a:avLst/>
            </a:prstGeom>
          </p:spPr>
        </p:pic>
        <p:sp>
          <p:nvSpPr>
            <p:cNvPr id="12" name="TextBox 11">
              <a:extLst>
                <a:ext uri="{FF2B5EF4-FFF2-40B4-BE49-F238E27FC236}">
                  <a16:creationId xmlns:a16="http://schemas.microsoft.com/office/drawing/2014/main" id="{3D330EE5-D597-ABAA-A9F9-F7497954BB50}"/>
                </a:ext>
              </a:extLst>
            </p:cNvPr>
            <p:cNvSpPr txBox="1"/>
            <p:nvPr/>
          </p:nvSpPr>
          <p:spPr>
            <a:xfrm>
              <a:off x="882315" y="5871975"/>
              <a:ext cx="4259179" cy="369332"/>
            </a:xfrm>
            <a:prstGeom prst="rect">
              <a:avLst/>
            </a:prstGeom>
            <a:noFill/>
          </p:spPr>
          <p:txBody>
            <a:bodyPr wrap="square" rtlCol="0">
              <a:spAutoFit/>
            </a:bodyPr>
            <a:lstStyle/>
            <a:p>
              <a:r>
                <a:rPr lang="en-US" dirty="0"/>
                <a:t>Velocity Analysis at normal inflow </a:t>
              </a:r>
            </a:p>
          </p:txBody>
        </p:sp>
        <p:sp>
          <p:nvSpPr>
            <p:cNvPr id="13" name="TextBox 12">
              <a:extLst>
                <a:ext uri="{FF2B5EF4-FFF2-40B4-BE49-F238E27FC236}">
                  <a16:creationId xmlns:a16="http://schemas.microsoft.com/office/drawing/2014/main" id="{5405A52C-5278-EBAE-11F5-F5F22305A4FB}"/>
                </a:ext>
              </a:extLst>
            </p:cNvPr>
            <p:cNvSpPr txBox="1"/>
            <p:nvPr/>
          </p:nvSpPr>
          <p:spPr>
            <a:xfrm>
              <a:off x="6681536" y="5916271"/>
              <a:ext cx="4259179" cy="369332"/>
            </a:xfrm>
            <a:prstGeom prst="rect">
              <a:avLst/>
            </a:prstGeom>
            <a:noFill/>
          </p:spPr>
          <p:txBody>
            <a:bodyPr wrap="square" rtlCol="0">
              <a:spAutoFit/>
            </a:bodyPr>
            <a:lstStyle/>
            <a:p>
              <a:r>
                <a:rPr lang="en-US" dirty="0"/>
                <a:t>Velocity Analysis at 5% change in Inflow file</a:t>
              </a:r>
            </a:p>
          </p:txBody>
        </p:sp>
      </p:grpSp>
      <p:pic>
        <p:nvPicPr>
          <p:cNvPr id="2" name="Picture 1">
            <a:extLst>
              <a:ext uri="{FF2B5EF4-FFF2-40B4-BE49-F238E27FC236}">
                <a16:creationId xmlns:a16="http://schemas.microsoft.com/office/drawing/2014/main" id="{0A4D29D3-5511-D6DB-DC13-834BCAB43CE1}"/>
              </a:ext>
            </a:extLst>
          </p:cNvPr>
          <p:cNvPicPr>
            <a:picLocks noChangeAspect="1"/>
          </p:cNvPicPr>
          <p:nvPr/>
        </p:nvPicPr>
        <p:blipFill>
          <a:blip r:embed="rId3" cstate="print">
            <a:extLst>
              <a:ext uri="{28A0092B-C50C-407E-A947-70E740481C1C}">
                <a14:useLocalDpi xmlns:a14="http://schemas.microsoft.com/office/drawing/2010/main" val="0"/>
              </a:ext>
            </a:extLst>
          </a:blip>
          <a:srcRect l="29238" t="3865" r="9564"/>
          <a:stretch/>
        </p:blipFill>
        <p:spPr>
          <a:xfrm>
            <a:off x="415636" y="616693"/>
            <a:ext cx="5487860" cy="5363348"/>
          </a:xfrm>
          <a:prstGeom prst="rect">
            <a:avLst/>
          </a:prstGeom>
        </p:spPr>
      </p:pic>
      <p:sp>
        <p:nvSpPr>
          <p:cNvPr id="3" name="TextBox 2">
            <a:extLst>
              <a:ext uri="{FF2B5EF4-FFF2-40B4-BE49-F238E27FC236}">
                <a16:creationId xmlns:a16="http://schemas.microsoft.com/office/drawing/2014/main" id="{C5008367-1E86-AF35-9966-12B1F1697B8E}"/>
              </a:ext>
            </a:extLst>
          </p:cNvPr>
          <p:cNvSpPr txBox="1"/>
          <p:nvPr/>
        </p:nvSpPr>
        <p:spPr>
          <a:xfrm>
            <a:off x="231687" y="190723"/>
            <a:ext cx="415613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Flow Velocity Analysis: At peak of Systole</a:t>
            </a:r>
          </a:p>
        </p:txBody>
      </p:sp>
    </p:spTree>
    <p:extLst>
      <p:ext uri="{BB962C8B-B14F-4D97-AF65-F5344CB8AC3E}">
        <p14:creationId xmlns:p14="http://schemas.microsoft.com/office/powerpoint/2010/main" val="1298039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3147C2F2-2826-6EF4-BB68-590E4E32DA7E}"/>
              </a:ext>
            </a:extLst>
          </p:cNvPr>
          <p:cNvPicPr>
            <a:picLocks noGrp="1" noChangeAspect="1"/>
          </p:cNvPicPr>
          <p:nvPr>
            <p:ph idx="1"/>
          </p:nvPr>
        </p:nvPicPr>
        <p:blipFill>
          <a:blip r:embed="rId2"/>
          <a:srcRect l="29850" t="2101" r="10081" b="5732"/>
          <a:stretch/>
        </p:blipFill>
        <p:spPr>
          <a:xfrm>
            <a:off x="6176210" y="825227"/>
            <a:ext cx="5653324" cy="5472145"/>
          </a:xfrm>
        </p:spPr>
      </p:pic>
      <p:sp>
        <p:nvSpPr>
          <p:cNvPr id="13" name="TextBox 12">
            <a:extLst>
              <a:ext uri="{FF2B5EF4-FFF2-40B4-BE49-F238E27FC236}">
                <a16:creationId xmlns:a16="http://schemas.microsoft.com/office/drawing/2014/main" id="{C214F812-B92F-4468-2E3A-7A1F110F7480}"/>
              </a:ext>
            </a:extLst>
          </p:cNvPr>
          <p:cNvSpPr txBox="1"/>
          <p:nvPr/>
        </p:nvSpPr>
        <p:spPr>
          <a:xfrm>
            <a:off x="860926" y="6295860"/>
            <a:ext cx="407717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Average speed analysis at normal inflow </a:t>
            </a:r>
          </a:p>
        </p:txBody>
      </p:sp>
      <p:sp>
        <p:nvSpPr>
          <p:cNvPr id="14" name="TextBox 13">
            <a:extLst>
              <a:ext uri="{FF2B5EF4-FFF2-40B4-BE49-F238E27FC236}">
                <a16:creationId xmlns:a16="http://schemas.microsoft.com/office/drawing/2014/main" id="{8CD29704-52AE-DBFA-571F-BE440E4E4CAA}"/>
              </a:ext>
            </a:extLst>
          </p:cNvPr>
          <p:cNvSpPr txBox="1"/>
          <p:nvPr/>
        </p:nvSpPr>
        <p:spPr>
          <a:xfrm>
            <a:off x="6873282" y="6239148"/>
            <a:ext cx="4795014"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Average speed analysis at 5% </a:t>
            </a:r>
            <a:r>
              <a:rPr lang="en-US" sz="1600" dirty="0"/>
              <a:t>change in Inflow file</a:t>
            </a:r>
            <a:endParaRPr lang="en-US" sz="16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973FC95-D72E-5903-499A-5783CCAA395D}"/>
              </a:ext>
            </a:extLst>
          </p:cNvPr>
          <p:cNvPicPr>
            <a:picLocks noChangeAspect="1"/>
          </p:cNvPicPr>
          <p:nvPr/>
        </p:nvPicPr>
        <p:blipFill>
          <a:blip r:embed="rId3" cstate="print">
            <a:extLst>
              <a:ext uri="{28A0092B-C50C-407E-A947-70E740481C1C}">
                <a14:useLocalDpi xmlns:a14="http://schemas.microsoft.com/office/drawing/2010/main" val="0"/>
              </a:ext>
            </a:extLst>
          </a:blip>
          <a:srcRect l="30958" t="4106" r="16950" b="4701"/>
          <a:stretch/>
        </p:blipFill>
        <p:spPr>
          <a:xfrm>
            <a:off x="523704" y="823715"/>
            <a:ext cx="5241026" cy="5472145"/>
          </a:xfrm>
          <a:prstGeom prst="rect">
            <a:avLst/>
          </a:prstGeom>
        </p:spPr>
      </p:pic>
      <p:sp>
        <p:nvSpPr>
          <p:cNvPr id="3" name="TextBox 2">
            <a:extLst>
              <a:ext uri="{FF2B5EF4-FFF2-40B4-BE49-F238E27FC236}">
                <a16:creationId xmlns:a16="http://schemas.microsoft.com/office/drawing/2014/main" id="{E9E406C1-BB17-C325-F048-42E1AB0530FF}"/>
              </a:ext>
            </a:extLst>
          </p:cNvPr>
          <p:cNvSpPr txBox="1"/>
          <p:nvPr/>
        </p:nvSpPr>
        <p:spPr>
          <a:xfrm>
            <a:off x="98684" y="223586"/>
            <a:ext cx="3860929"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Average Speed of blood flow Analysis: </a:t>
            </a:r>
          </a:p>
        </p:txBody>
      </p:sp>
    </p:spTree>
    <p:extLst>
      <p:ext uri="{BB962C8B-B14F-4D97-AF65-F5344CB8AC3E}">
        <p14:creationId xmlns:p14="http://schemas.microsoft.com/office/powerpoint/2010/main" val="4233708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28ABB-D1B0-C8B9-748D-6733EC2C3EC9}"/>
              </a:ext>
            </a:extLst>
          </p:cNvPr>
          <p:cNvSpPr>
            <a:spLocks noGrp="1"/>
          </p:cNvSpPr>
          <p:nvPr>
            <p:ph type="title"/>
          </p:nvPr>
        </p:nvSpPr>
        <p:spPr>
          <a:xfrm>
            <a:off x="81742" y="8313"/>
            <a:ext cx="10515600" cy="449521"/>
          </a:xfrm>
        </p:spPr>
        <p:txBody>
          <a:bodyPr>
            <a:noAutofit/>
          </a:bodyPr>
          <a:lstStyle/>
          <a:p>
            <a:r>
              <a:rPr lang="en-US" sz="3600" b="1" dirty="0"/>
              <a:t>Pressure Plots with normal Inflow file:</a:t>
            </a:r>
          </a:p>
        </p:txBody>
      </p:sp>
      <p:pic>
        <p:nvPicPr>
          <p:cNvPr id="9" name="Content Placeholder 8">
            <a:extLst>
              <a:ext uri="{FF2B5EF4-FFF2-40B4-BE49-F238E27FC236}">
                <a16:creationId xmlns:a16="http://schemas.microsoft.com/office/drawing/2014/main" id="{0B5B6DD5-18CC-3D97-F975-EAD40BF3099F}"/>
              </a:ext>
            </a:extLst>
          </p:cNvPr>
          <p:cNvPicPr>
            <a:picLocks noGrp="1" noChangeAspect="1"/>
          </p:cNvPicPr>
          <p:nvPr>
            <p:ph idx="1"/>
          </p:nvPr>
        </p:nvPicPr>
        <p:blipFill>
          <a:blip r:embed="rId2"/>
          <a:srcRect l="8999" t="3894" r="8321" b="3835"/>
          <a:stretch>
            <a:fillRect/>
          </a:stretch>
        </p:blipFill>
        <p:spPr>
          <a:xfrm>
            <a:off x="954578" y="516339"/>
            <a:ext cx="10282843" cy="6275159"/>
          </a:xfrm>
        </p:spPr>
      </p:pic>
    </p:spTree>
    <p:extLst>
      <p:ext uri="{BB962C8B-B14F-4D97-AF65-F5344CB8AC3E}">
        <p14:creationId xmlns:p14="http://schemas.microsoft.com/office/powerpoint/2010/main" val="2355867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772026B0-A756-5589-B85E-A6260C880891}"/>
              </a:ext>
            </a:extLst>
          </p:cNvPr>
          <p:cNvPicPr>
            <a:picLocks noGrp="1" noChangeAspect="1"/>
          </p:cNvPicPr>
          <p:nvPr>
            <p:ph idx="1"/>
          </p:nvPr>
        </p:nvPicPr>
        <p:blipFill>
          <a:blip r:embed="rId2"/>
          <a:srcRect l="9319" t="3895" r="8214" b="4025"/>
          <a:stretch>
            <a:fillRect/>
          </a:stretch>
        </p:blipFill>
        <p:spPr>
          <a:xfrm>
            <a:off x="556953" y="84857"/>
            <a:ext cx="10698480" cy="6688285"/>
          </a:xfrm>
        </p:spPr>
      </p:pic>
    </p:spTree>
    <p:extLst>
      <p:ext uri="{BB962C8B-B14F-4D97-AF65-F5344CB8AC3E}">
        <p14:creationId xmlns:p14="http://schemas.microsoft.com/office/powerpoint/2010/main" val="30703401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F9A43638-B52A-5020-D709-8C66D2329807}"/>
              </a:ext>
            </a:extLst>
          </p:cNvPr>
          <p:cNvPicPr>
            <a:picLocks noGrp="1" noChangeAspect="1"/>
          </p:cNvPicPr>
          <p:nvPr>
            <p:ph idx="1"/>
          </p:nvPr>
        </p:nvPicPr>
        <p:blipFill>
          <a:blip r:embed="rId2"/>
          <a:srcRect l="9199" t="4085" r="7799" b="4217"/>
          <a:stretch>
            <a:fillRect/>
          </a:stretch>
        </p:blipFill>
        <p:spPr>
          <a:xfrm>
            <a:off x="673400" y="74815"/>
            <a:ext cx="10845200" cy="6708370"/>
          </a:xfrm>
        </p:spPr>
      </p:pic>
    </p:spTree>
    <p:extLst>
      <p:ext uri="{BB962C8B-B14F-4D97-AF65-F5344CB8AC3E}">
        <p14:creationId xmlns:p14="http://schemas.microsoft.com/office/powerpoint/2010/main" val="25309489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06B1377-FABF-D09A-EC33-9160228D1A8D}"/>
              </a:ext>
            </a:extLst>
          </p:cNvPr>
          <p:cNvSpPr>
            <a:spLocks noGrp="1"/>
          </p:cNvSpPr>
          <p:nvPr>
            <p:ph type="title"/>
          </p:nvPr>
        </p:nvSpPr>
        <p:spPr>
          <a:xfrm>
            <a:off x="0" y="0"/>
            <a:ext cx="11871961" cy="598544"/>
          </a:xfrm>
        </p:spPr>
        <p:txBody>
          <a:bodyPr>
            <a:noAutofit/>
          </a:bodyPr>
          <a:lstStyle/>
          <a:p>
            <a:r>
              <a:rPr lang="en-US" sz="3200" b="1" dirty="0"/>
              <a:t>Pressure Plotted by increasing the values in the Inflow file by “5%”:</a:t>
            </a:r>
          </a:p>
        </p:txBody>
      </p:sp>
      <p:pic>
        <p:nvPicPr>
          <p:cNvPr id="11" name="Content Placeholder 10">
            <a:extLst>
              <a:ext uri="{FF2B5EF4-FFF2-40B4-BE49-F238E27FC236}">
                <a16:creationId xmlns:a16="http://schemas.microsoft.com/office/drawing/2014/main" id="{F1DA13E9-5862-6C30-F580-ED60F4BD918A}"/>
              </a:ext>
            </a:extLst>
          </p:cNvPr>
          <p:cNvPicPr>
            <a:picLocks noGrp="1" noChangeAspect="1"/>
          </p:cNvPicPr>
          <p:nvPr>
            <p:ph idx="1"/>
          </p:nvPr>
        </p:nvPicPr>
        <p:blipFill>
          <a:blip r:embed="rId2"/>
          <a:srcRect l="9319" t="3895" r="8107" b="4025"/>
          <a:stretch>
            <a:fillRect/>
          </a:stretch>
        </p:blipFill>
        <p:spPr>
          <a:xfrm>
            <a:off x="980902" y="689954"/>
            <a:ext cx="10033462" cy="6026730"/>
          </a:xfrm>
        </p:spPr>
      </p:pic>
    </p:spTree>
    <p:extLst>
      <p:ext uri="{BB962C8B-B14F-4D97-AF65-F5344CB8AC3E}">
        <p14:creationId xmlns:p14="http://schemas.microsoft.com/office/powerpoint/2010/main" val="16093674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D3047AF0-6BB5-8A1C-4957-17A2F9F246A5}"/>
              </a:ext>
            </a:extLst>
          </p:cNvPr>
          <p:cNvPicPr>
            <a:picLocks noGrp="1" noChangeAspect="1"/>
          </p:cNvPicPr>
          <p:nvPr>
            <p:ph idx="1"/>
          </p:nvPr>
        </p:nvPicPr>
        <p:blipFill>
          <a:blip r:embed="rId2"/>
          <a:srcRect l="9640" t="3703" r="8213" b="4216"/>
          <a:stretch>
            <a:fillRect/>
          </a:stretch>
        </p:blipFill>
        <p:spPr>
          <a:xfrm>
            <a:off x="631766" y="116139"/>
            <a:ext cx="10557164" cy="6625722"/>
          </a:xfrm>
        </p:spPr>
      </p:pic>
    </p:spTree>
    <p:extLst>
      <p:ext uri="{BB962C8B-B14F-4D97-AF65-F5344CB8AC3E}">
        <p14:creationId xmlns:p14="http://schemas.microsoft.com/office/powerpoint/2010/main" val="2392341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22478CF-72C8-9209-CF87-C6DE474BBE9D}"/>
              </a:ext>
            </a:extLst>
          </p:cNvPr>
          <p:cNvPicPr>
            <a:picLocks noGrp="1" noChangeAspect="1"/>
          </p:cNvPicPr>
          <p:nvPr>
            <p:ph idx="1"/>
          </p:nvPr>
        </p:nvPicPr>
        <p:blipFill>
          <a:blip r:embed="rId2"/>
          <a:srcRect l="9640" t="3894" r="8427" b="4217"/>
          <a:stretch>
            <a:fillRect/>
          </a:stretch>
        </p:blipFill>
        <p:spPr>
          <a:xfrm>
            <a:off x="866930" y="145473"/>
            <a:ext cx="10458139" cy="6567054"/>
          </a:xfrm>
        </p:spPr>
      </p:pic>
    </p:spTree>
    <p:extLst>
      <p:ext uri="{BB962C8B-B14F-4D97-AF65-F5344CB8AC3E}">
        <p14:creationId xmlns:p14="http://schemas.microsoft.com/office/powerpoint/2010/main" val="4966057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9F9DB-FA66-3EAF-6A7F-7FB5ABAA2214}"/>
              </a:ext>
            </a:extLst>
          </p:cNvPr>
          <p:cNvSpPr>
            <a:spLocks noGrp="1"/>
          </p:cNvSpPr>
          <p:nvPr>
            <p:ph type="title"/>
          </p:nvPr>
        </p:nvSpPr>
        <p:spPr>
          <a:xfrm>
            <a:off x="0" y="1"/>
            <a:ext cx="12192000" cy="939338"/>
          </a:xfrm>
        </p:spPr>
        <p:txBody>
          <a:bodyPr>
            <a:normAutofit fontScale="90000"/>
          </a:bodyPr>
          <a:lstStyle/>
          <a:p>
            <a:r>
              <a:rPr lang="en-US" sz="3200" b="1" dirty="0"/>
              <a:t>Pressure Comparison of 0-Dimensinal and 3-Dimnesional Windkessel Model in Coronary Hemodynamics</a:t>
            </a:r>
          </a:p>
        </p:txBody>
      </p:sp>
      <p:pic>
        <p:nvPicPr>
          <p:cNvPr id="4" name="Picture 3">
            <a:extLst>
              <a:ext uri="{FF2B5EF4-FFF2-40B4-BE49-F238E27FC236}">
                <a16:creationId xmlns:a16="http://schemas.microsoft.com/office/drawing/2014/main" id="{96E80777-A61C-8683-ABD8-82BB2FB17695}"/>
              </a:ext>
            </a:extLst>
          </p:cNvPr>
          <p:cNvPicPr>
            <a:picLocks noChangeAspect="1"/>
          </p:cNvPicPr>
          <p:nvPr/>
        </p:nvPicPr>
        <p:blipFill rotWithShape="1">
          <a:blip r:embed="rId2">
            <a:extLst>
              <a:ext uri="{28A0092B-C50C-407E-A947-70E740481C1C}">
                <a14:useLocalDpi xmlns:a14="http://schemas.microsoft.com/office/drawing/2010/main" val="0"/>
              </a:ext>
            </a:extLst>
          </a:blip>
          <a:srcRect b="1413"/>
          <a:stretch/>
        </p:blipFill>
        <p:spPr bwMode="auto">
          <a:xfrm>
            <a:off x="6832602" y="789709"/>
            <a:ext cx="4960935" cy="2543372"/>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D6C94419-5A62-C5A5-AB7D-06A5B2B3684E}"/>
              </a:ext>
            </a:extLst>
          </p:cNvPr>
          <p:cNvPicPr>
            <a:picLocks noChangeAspect="1"/>
          </p:cNvPicPr>
          <p:nvPr/>
        </p:nvPicPr>
        <p:blipFill>
          <a:blip r:embed="rId3"/>
          <a:srcRect l="3026" t="54424" r="8211" b="2181"/>
          <a:stretch/>
        </p:blipFill>
        <p:spPr>
          <a:xfrm>
            <a:off x="748677" y="939338"/>
            <a:ext cx="4779817" cy="2520139"/>
          </a:xfrm>
          <a:prstGeom prst="rect">
            <a:avLst/>
          </a:prstGeom>
        </p:spPr>
      </p:pic>
      <p:graphicFrame>
        <p:nvGraphicFramePr>
          <p:cNvPr id="8" name="Table 7">
            <a:extLst>
              <a:ext uri="{FF2B5EF4-FFF2-40B4-BE49-F238E27FC236}">
                <a16:creationId xmlns:a16="http://schemas.microsoft.com/office/drawing/2014/main" id="{ED6CF76E-9662-85F6-1D16-0376E4B173F1}"/>
              </a:ext>
            </a:extLst>
          </p:cNvPr>
          <p:cNvGraphicFramePr>
            <a:graphicFrameLocks noGrp="1"/>
          </p:cNvGraphicFramePr>
          <p:nvPr>
            <p:extLst>
              <p:ext uri="{D42A27DB-BD31-4B8C-83A1-F6EECF244321}">
                <p14:modId xmlns:p14="http://schemas.microsoft.com/office/powerpoint/2010/main" val="736253849"/>
              </p:ext>
            </p:extLst>
          </p:nvPr>
        </p:nvGraphicFramePr>
        <p:xfrm>
          <a:off x="141321" y="3632662"/>
          <a:ext cx="6691281" cy="3108960"/>
        </p:xfrm>
        <a:graphic>
          <a:graphicData uri="http://schemas.openxmlformats.org/drawingml/2006/table">
            <a:tbl>
              <a:tblPr>
                <a:tableStyleId>{5940675A-B579-460E-94D1-54222C63F5DA}</a:tableStyleId>
              </a:tblPr>
              <a:tblGrid>
                <a:gridCol w="1961365">
                  <a:extLst>
                    <a:ext uri="{9D8B030D-6E8A-4147-A177-3AD203B41FA5}">
                      <a16:colId xmlns:a16="http://schemas.microsoft.com/office/drawing/2014/main" val="975498907"/>
                    </a:ext>
                  </a:extLst>
                </a:gridCol>
                <a:gridCol w="2306585">
                  <a:extLst>
                    <a:ext uri="{9D8B030D-6E8A-4147-A177-3AD203B41FA5}">
                      <a16:colId xmlns:a16="http://schemas.microsoft.com/office/drawing/2014/main" val="4191773514"/>
                    </a:ext>
                  </a:extLst>
                </a:gridCol>
                <a:gridCol w="2423331">
                  <a:extLst>
                    <a:ext uri="{9D8B030D-6E8A-4147-A177-3AD203B41FA5}">
                      <a16:colId xmlns:a16="http://schemas.microsoft.com/office/drawing/2014/main" val="3760474338"/>
                    </a:ext>
                  </a:extLst>
                </a:gridCol>
              </a:tblGrid>
              <a:tr h="252202">
                <a:tc>
                  <a:txBody>
                    <a:bodyPr/>
                    <a:lstStyle/>
                    <a:p>
                      <a:r>
                        <a:rPr lang="en-US" sz="1200" b="1" dirty="0"/>
                        <a:t>Feature</a:t>
                      </a:r>
                      <a:endParaRPr lang="en-US" sz="1200" dirty="0"/>
                    </a:p>
                  </a:txBody>
                  <a:tcPr anchor="ctr"/>
                </a:tc>
                <a:tc>
                  <a:txBody>
                    <a:bodyPr/>
                    <a:lstStyle/>
                    <a:p>
                      <a:r>
                        <a:rPr lang="en-US" sz="1200" b="1" dirty="0"/>
                        <a:t>0-D Windkessel Model (MATLAB)</a:t>
                      </a:r>
                      <a:endParaRPr lang="en-US" sz="1200" dirty="0"/>
                    </a:p>
                  </a:txBody>
                  <a:tcPr anchor="ctr"/>
                </a:tc>
                <a:tc>
                  <a:txBody>
                    <a:bodyPr/>
                    <a:lstStyle/>
                    <a:p>
                      <a:r>
                        <a:rPr lang="en-US" sz="1200" b="1"/>
                        <a:t>3-D Windkessel Model (CFD)</a:t>
                      </a:r>
                      <a:endParaRPr lang="en-US" sz="1200"/>
                    </a:p>
                  </a:txBody>
                  <a:tcPr anchor="ctr"/>
                </a:tc>
                <a:extLst>
                  <a:ext uri="{0D108BD9-81ED-4DB2-BD59-A6C34878D82A}">
                    <a16:rowId xmlns:a16="http://schemas.microsoft.com/office/drawing/2014/main" val="1849864526"/>
                  </a:ext>
                </a:extLst>
              </a:tr>
              <a:tr h="403081">
                <a:tc>
                  <a:txBody>
                    <a:bodyPr/>
                    <a:lstStyle/>
                    <a:p>
                      <a:r>
                        <a:rPr lang="en-US" sz="1200" b="1" dirty="0"/>
                        <a:t>Visual Characteristics</a:t>
                      </a:r>
                      <a:endParaRPr lang="en-US" sz="1200" dirty="0"/>
                    </a:p>
                  </a:txBody>
                  <a:tcPr anchor="ctr"/>
                </a:tc>
                <a:tc>
                  <a:txBody>
                    <a:bodyPr/>
                    <a:lstStyle/>
                    <a:p>
                      <a:r>
                        <a:rPr lang="en-US" sz="1200"/>
                        <a:t>Smooth, idealized waveform</a:t>
                      </a:r>
                    </a:p>
                  </a:txBody>
                  <a:tcPr anchor="ctr"/>
                </a:tc>
                <a:tc>
                  <a:txBody>
                    <a:bodyPr/>
                    <a:lstStyle/>
                    <a:p>
                      <a:r>
                        <a:rPr lang="en-US" sz="1200"/>
                        <a:t>More detailed, physiologically accurate</a:t>
                      </a:r>
                    </a:p>
                  </a:txBody>
                  <a:tcPr anchor="ctr"/>
                </a:tc>
                <a:extLst>
                  <a:ext uri="{0D108BD9-81ED-4DB2-BD59-A6C34878D82A}">
                    <a16:rowId xmlns:a16="http://schemas.microsoft.com/office/drawing/2014/main" val="2422848095"/>
                  </a:ext>
                </a:extLst>
              </a:tr>
              <a:tr h="264829">
                <a:tc>
                  <a:txBody>
                    <a:bodyPr/>
                    <a:lstStyle/>
                    <a:p>
                      <a:r>
                        <a:rPr lang="en-US" sz="1200" b="1" dirty="0"/>
                        <a:t>Peak Pressure</a:t>
                      </a:r>
                      <a:endParaRPr lang="en-US" sz="1200" dirty="0"/>
                    </a:p>
                  </a:txBody>
                  <a:tcPr anchor="ctr"/>
                </a:tc>
                <a:tc>
                  <a:txBody>
                    <a:bodyPr/>
                    <a:lstStyle/>
                    <a:p>
                      <a:r>
                        <a:rPr lang="en-US" sz="1200"/>
                        <a:t>~95 mmHg</a:t>
                      </a:r>
                    </a:p>
                  </a:txBody>
                  <a:tcPr anchor="ctr"/>
                </a:tc>
                <a:tc>
                  <a:txBody>
                    <a:bodyPr/>
                    <a:lstStyle/>
                    <a:p>
                      <a:r>
                        <a:rPr lang="en-US" sz="1200"/>
                        <a:t>~67 mmHg</a:t>
                      </a:r>
                    </a:p>
                  </a:txBody>
                  <a:tcPr anchor="ctr"/>
                </a:tc>
                <a:extLst>
                  <a:ext uri="{0D108BD9-81ED-4DB2-BD59-A6C34878D82A}">
                    <a16:rowId xmlns:a16="http://schemas.microsoft.com/office/drawing/2014/main" val="2140547099"/>
                  </a:ext>
                </a:extLst>
              </a:tr>
              <a:tr h="450209">
                <a:tc>
                  <a:txBody>
                    <a:bodyPr/>
                    <a:lstStyle/>
                    <a:p>
                      <a:r>
                        <a:rPr lang="en-US" sz="1200" b="1"/>
                        <a:t>Initial Systolic Rise</a:t>
                      </a:r>
                      <a:endParaRPr lang="en-US" sz="1200"/>
                    </a:p>
                  </a:txBody>
                  <a:tcPr anchor="ctr"/>
                </a:tc>
                <a:tc>
                  <a:txBody>
                    <a:bodyPr/>
                    <a:lstStyle/>
                    <a:p>
                      <a:r>
                        <a:rPr lang="en-US" sz="1200"/>
                        <a:t>Steep and smooth</a:t>
                      </a:r>
                    </a:p>
                  </a:txBody>
                  <a:tcPr anchor="ctr"/>
                </a:tc>
                <a:tc>
                  <a:txBody>
                    <a:bodyPr/>
                    <a:lstStyle/>
                    <a:p>
                      <a:r>
                        <a:rPr lang="en-US" sz="1200" dirty="0"/>
                        <a:t>Slightly delayed due to spatial effects</a:t>
                      </a:r>
                    </a:p>
                  </a:txBody>
                  <a:tcPr anchor="ctr"/>
                </a:tc>
                <a:extLst>
                  <a:ext uri="{0D108BD9-81ED-4DB2-BD59-A6C34878D82A}">
                    <a16:rowId xmlns:a16="http://schemas.microsoft.com/office/drawing/2014/main" val="4157285850"/>
                  </a:ext>
                </a:extLst>
              </a:tr>
              <a:tr h="450209">
                <a:tc>
                  <a:txBody>
                    <a:bodyPr/>
                    <a:lstStyle/>
                    <a:p>
                      <a:r>
                        <a:rPr lang="en-US" sz="1200" b="1"/>
                        <a:t>Dicrotic Notch / Reflections</a:t>
                      </a:r>
                      <a:endParaRPr lang="en-US" sz="1200"/>
                    </a:p>
                  </a:txBody>
                  <a:tcPr anchor="ctr"/>
                </a:tc>
                <a:tc>
                  <a:txBody>
                    <a:bodyPr/>
                    <a:lstStyle/>
                    <a:p>
                      <a:r>
                        <a:rPr lang="en-US" sz="1200"/>
                        <a:t>Small dip at ~0.3 s, but simple</a:t>
                      </a:r>
                    </a:p>
                  </a:txBody>
                  <a:tcPr anchor="ctr"/>
                </a:tc>
                <a:tc>
                  <a:txBody>
                    <a:bodyPr/>
                    <a:lstStyle/>
                    <a:p>
                      <a:r>
                        <a:rPr lang="en-US" sz="1200" dirty="0"/>
                        <a:t>Multiple subtle wave reflections post-systole</a:t>
                      </a:r>
                    </a:p>
                  </a:txBody>
                  <a:tcPr anchor="ctr"/>
                </a:tc>
                <a:extLst>
                  <a:ext uri="{0D108BD9-81ED-4DB2-BD59-A6C34878D82A}">
                    <a16:rowId xmlns:a16="http://schemas.microsoft.com/office/drawing/2014/main" val="591625199"/>
                  </a:ext>
                </a:extLst>
              </a:tr>
              <a:tr h="450209">
                <a:tc>
                  <a:txBody>
                    <a:bodyPr/>
                    <a:lstStyle/>
                    <a:p>
                      <a:r>
                        <a:rPr lang="en-US" sz="1200" b="1"/>
                        <a:t>Diastolic Decay</a:t>
                      </a:r>
                      <a:endParaRPr lang="en-US" sz="1200"/>
                    </a:p>
                  </a:txBody>
                  <a:tcPr anchor="ctr"/>
                </a:tc>
                <a:tc>
                  <a:txBody>
                    <a:bodyPr/>
                    <a:lstStyle/>
                    <a:p>
                      <a:r>
                        <a:rPr lang="en-US" sz="1200"/>
                        <a:t>Exponential, clean slope</a:t>
                      </a:r>
                    </a:p>
                  </a:txBody>
                  <a:tcPr anchor="ctr"/>
                </a:tc>
                <a:tc>
                  <a:txBody>
                    <a:bodyPr/>
                    <a:lstStyle/>
                    <a:p>
                      <a:r>
                        <a:rPr lang="en-US" sz="1200" dirty="0"/>
                        <a:t>More gradual with micro fluctuations</a:t>
                      </a:r>
                    </a:p>
                  </a:txBody>
                  <a:tcPr anchor="ctr"/>
                </a:tc>
                <a:extLst>
                  <a:ext uri="{0D108BD9-81ED-4DB2-BD59-A6C34878D82A}">
                    <a16:rowId xmlns:a16="http://schemas.microsoft.com/office/drawing/2014/main" val="1076665184"/>
                  </a:ext>
                </a:extLst>
              </a:tr>
              <a:tr h="450209">
                <a:tc>
                  <a:txBody>
                    <a:bodyPr/>
                    <a:lstStyle/>
                    <a:p>
                      <a:r>
                        <a:rPr lang="en-US" sz="1200" b="1"/>
                        <a:t>Noise or Ripple</a:t>
                      </a:r>
                      <a:endParaRPr lang="en-US" sz="1200"/>
                    </a:p>
                  </a:txBody>
                  <a:tcPr anchor="ctr"/>
                </a:tc>
                <a:tc>
                  <a:txBody>
                    <a:bodyPr/>
                    <a:lstStyle/>
                    <a:p>
                      <a:r>
                        <a:rPr lang="en-US" sz="1200"/>
                        <a:t>Very little</a:t>
                      </a:r>
                    </a:p>
                  </a:txBody>
                  <a:tcPr anchor="ctr"/>
                </a:tc>
                <a:tc>
                  <a:txBody>
                    <a:bodyPr/>
                    <a:lstStyle/>
                    <a:p>
                      <a:r>
                        <a:rPr lang="en-US" sz="1200"/>
                        <a:t>Some fluctuation from flow interactions</a:t>
                      </a:r>
                    </a:p>
                  </a:txBody>
                  <a:tcPr anchor="ctr"/>
                </a:tc>
                <a:extLst>
                  <a:ext uri="{0D108BD9-81ED-4DB2-BD59-A6C34878D82A}">
                    <a16:rowId xmlns:a16="http://schemas.microsoft.com/office/drawing/2014/main" val="1131362992"/>
                  </a:ext>
                </a:extLst>
              </a:tr>
              <a:tr h="264829">
                <a:tc>
                  <a:txBody>
                    <a:bodyPr/>
                    <a:lstStyle/>
                    <a:p>
                      <a:r>
                        <a:rPr lang="en-US" sz="1200" b="1"/>
                        <a:t>Realism</a:t>
                      </a:r>
                      <a:endParaRPr lang="en-US" sz="1200"/>
                    </a:p>
                  </a:txBody>
                  <a:tcPr anchor="ctr"/>
                </a:tc>
                <a:tc>
                  <a:txBody>
                    <a:bodyPr/>
                    <a:lstStyle/>
                    <a:p>
                      <a:r>
                        <a:rPr lang="en-US" sz="1200"/>
                        <a:t>Good approximation</a:t>
                      </a:r>
                    </a:p>
                  </a:txBody>
                  <a:tcPr anchor="ctr"/>
                </a:tc>
                <a:tc>
                  <a:txBody>
                    <a:bodyPr/>
                    <a:lstStyle/>
                    <a:p>
                      <a:r>
                        <a:rPr lang="en-US" sz="1200" dirty="0"/>
                        <a:t>More anatomically accurate</a:t>
                      </a:r>
                    </a:p>
                  </a:txBody>
                  <a:tcPr anchor="ctr"/>
                </a:tc>
                <a:extLst>
                  <a:ext uri="{0D108BD9-81ED-4DB2-BD59-A6C34878D82A}">
                    <a16:rowId xmlns:a16="http://schemas.microsoft.com/office/drawing/2014/main" val="1730594707"/>
                  </a:ext>
                </a:extLst>
              </a:tr>
            </a:tbl>
          </a:graphicData>
        </a:graphic>
      </p:graphicFrame>
      <p:sp>
        <p:nvSpPr>
          <p:cNvPr id="9" name="TextBox 8">
            <a:extLst>
              <a:ext uri="{FF2B5EF4-FFF2-40B4-BE49-F238E27FC236}">
                <a16:creationId xmlns:a16="http://schemas.microsoft.com/office/drawing/2014/main" id="{D62B5341-8534-3707-EF40-57B9B53FE01B}"/>
              </a:ext>
            </a:extLst>
          </p:cNvPr>
          <p:cNvSpPr txBox="1"/>
          <p:nvPr/>
        </p:nvSpPr>
        <p:spPr>
          <a:xfrm>
            <a:off x="7152794" y="3803070"/>
            <a:ext cx="4784282" cy="289310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3-D Windkessel model</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superior in accuracy</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physiological detail, capturing complex coronary flow and pressure behavior.</a:t>
            </a: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0-D Windkessel model</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useful for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reduced-order analysis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but tends to oversimplify, especially in dynamic coronary systems and help in sighting dichotic notch.</a:t>
            </a: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the goal is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clinical insight or precision modeling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3-D approach is preferred</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parameter studies or large-scale simulations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0-D models are efficient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interpretable.</a:t>
            </a:r>
          </a:p>
        </p:txBody>
      </p:sp>
    </p:spTree>
    <p:extLst>
      <p:ext uri="{BB962C8B-B14F-4D97-AF65-F5344CB8AC3E}">
        <p14:creationId xmlns:p14="http://schemas.microsoft.com/office/powerpoint/2010/main" val="10702521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44068-70F6-3FDA-F0E1-533AB246EE82}"/>
              </a:ext>
            </a:extLst>
          </p:cNvPr>
          <p:cNvSpPr>
            <a:spLocks noGrp="1"/>
          </p:cNvSpPr>
          <p:nvPr>
            <p:ph type="title"/>
          </p:nvPr>
        </p:nvSpPr>
        <p:spPr>
          <a:xfrm>
            <a:off x="838200" y="211050"/>
            <a:ext cx="10515600" cy="939973"/>
          </a:xfrm>
        </p:spPr>
        <p:txBody>
          <a:bodyPr/>
          <a:lstStyle/>
          <a:p>
            <a:r>
              <a:rPr lang="en-US" b="1" dirty="0"/>
              <a:t>Conclusion and Future Works</a:t>
            </a:r>
          </a:p>
        </p:txBody>
      </p:sp>
      <p:sp>
        <p:nvSpPr>
          <p:cNvPr id="4" name="TextBox 3">
            <a:extLst>
              <a:ext uri="{FF2B5EF4-FFF2-40B4-BE49-F238E27FC236}">
                <a16:creationId xmlns:a16="http://schemas.microsoft.com/office/drawing/2014/main" id="{E83FAAC8-D91A-894E-F535-B242FFFF5B20}"/>
              </a:ext>
            </a:extLst>
          </p:cNvPr>
          <p:cNvSpPr txBox="1"/>
          <p:nvPr/>
        </p:nvSpPr>
        <p:spPr>
          <a:xfrm>
            <a:off x="838199" y="1196453"/>
            <a:ext cx="10309167" cy="4247317"/>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project successfully developed a patient-specific coronary artery model by integrating anatomical reconstruction, CFD, and physiologically realistic boundary conditions. Accurate geometry from medical imaging ensured anatomical fidelity, while CFD enabled detailed analysis of wall shear stress, pressure, and flow velocity. The inclusion of the Windkessel model improved physiological relevance by simulating downstream vascular behavior under pulsatile flow. Validation against clinical data and sensitivity analysis confirmed model accuracy and emphasized the importance of parameter tuning. Among the tested models, the 3-element Windkessel model showed superior performance in replicating arterial pressure waveforms. Overall, this work provides a robust framework for simulating coronary hemodynamics and supports future personalized diagnosis and treatment planning in cardiovascular disease.</a:t>
            </a:r>
          </a:p>
          <a:p>
            <a:pPr algn="just"/>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Future work</a:t>
            </a:r>
            <a:r>
              <a:rPr lang="en-US" dirty="0">
                <a:latin typeface="Times New Roman" panose="02020603050405020304" pitchFamily="18" charset="0"/>
                <a:cs typeface="Times New Roman" panose="02020603050405020304" pitchFamily="18" charset="0"/>
              </a:rPr>
              <a:t> may include:</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Integration of vessel wall mechanics (fluid–structure interaction).</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AI-driven parameter estimation for enhanced personalization.</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Real-time or accelerated simulation tools for clinical use.</a:t>
            </a:r>
          </a:p>
        </p:txBody>
      </p:sp>
    </p:spTree>
    <p:extLst>
      <p:ext uri="{BB962C8B-B14F-4D97-AF65-F5344CB8AC3E}">
        <p14:creationId xmlns:p14="http://schemas.microsoft.com/office/powerpoint/2010/main" val="15030563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DD2AC-C04D-6A62-52F5-68CE2BF30EB1}"/>
              </a:ext>
            </a:extLst>
          </p:cNvPr>
          <p:cNvSpPr>
            <a:spLocks noGrp="1"/>
          </p:cNvSpPr>
          <p:nvPr>
            <p:ph type="title"/>
          </p:nvPr>
        </p:nvSpPr>
        <p:spPr>
          <a:xfrm>
            <a:off x="838200" y="365126"/>
            <a:ext cx="10515600" cy="765406"/>
          </a:xfrm>
        </p:spPr>
        <p:txBody>
          <a:bodyPr/>
          <a:lstStyle/>
          <a:p>
            <a:r>
              <a:rPr lang="en-US" b="1" dirty="0"/>
              <a:t>References:</a:t>
            </a:r>
          </a:p>
        </p:txBody>
      </p:sp>
      <p:sp>
        <p:nvSpPr>
          <p:cNvPr id="3" name="Content Placeholder 2">
            <a:extLst>
              <a:ext uri="{FF2B5EF4-FFF2-40B4-BE49-F238E27FC236}">
                <a16:creationId xmlns:a16="http://schemas.microsoft.com/office/drawing/2014/main" id="{E82354AC-B88B-E943-0BD1-1520CF321C4F}"/>
              </a:ext>
            </a:extLst>
          </p:cNvPr>
          <p:cNvSpPr>
            <a:spLocks noGrp="1"/>
          </p:cNvSpPr>
          <p:nvPr>
            <p:ph idx="1"/>
          </p:nvPr>
        </p:nvSpPr>
        <p:spPr>
          <a:xfrm>
            <a:off x="838200" y="1521229"/>
            <a:ext cx="10873047" cy="5095702"/>
          </a:xfrm>
        </p:spPr>
        <p:txBody>
          <a:bodyPr>
            <a:normAutofit fontScale="55000" lnSpcReduction="20000"/>
          </a:bodyPr>
          <a:lstStyle/>
          <a:p>
            <a:pPr algn="just">
              <a:lnSpc>
                <a:spcPct val="120000"/>
              </a:lnSpc>
            </a:pPr>
            <a:r>
              <a:rPr lang="en-IN" sz="2800" dirty="0" err="1">
                <a:effectLst/>
                <a:latin typeface="Times New Roman" panose="02020603050405020304" pitchFamily="18" charset="0"/>
                <a:cs typeface="Times New Roman" panose="02020603050405020304" pitchFamily="18" charset="0"/>
              </a:rPr>
              <a:t>Joaquín</a:t>
            </a:r>
            <a:r>
              <a:rPr lang="en-IN" sz="2800" dirty="0">
                <a:effectLst/>
                <a:latin typeface="Times New Roman" panose="02020603050405020304" pitchFamily="18" charset="0"/>
                <a:cs typeface="Times New Roman" panose="02020603050405020304" pitchFamily="18" charset="0"/>
              </a:rPr>
              <a:t> Flores-Geronimo, Alireza Keramat</a:t>
            </a:r>
            <a:r>
              <a:rPr lang="en-IN" sz="2800" dirty="0">
                <a:solidFill>
                  <a:srgbClr val="0000FF"/>
                </a:solidFill>
                <a:latin typeface="Times New Roman" panose="02020603050405020304" pitchFamily="18" charset="0"/>
                <a:cs typeface="Times New Roman" panose="02020603050405020304" pitchFamily="18" charset="0"/>
              </a:rPr>
              <a:t>, </a:t>
            </a:r>
            <a:r>
              <a:rPr lang="en-IN" sz="2800" dirty="0">
                <a:effectLst/>
                <a:latin typeface="Times New Roman" panose="02020603050405020304" pitchFamily="18" charset="0"/>
                <a:cs typeface="Times New Roman" panose="02020603050405020304" pitchFamily="18" charset="0"/>
              </a:rPr>
              <a:t>Jordi </a:t>
            </a:r>
            <a:r>
              <a:rPr lang="en-IN" sz="2800" dirty="0" err="1">
                <a:effectLst/>
                <a:latin typeface="Times New Roman" panose="02020603050405020304" pitchFamily="18" charset="0"/>
                <a:cs typeface="Times New Roman" panose="02020603050405020304" pitchFamily="18" charset="0"/>
              </a:rPr>
              <a:t>Alastruey</a:t>
            </a:r>
            <a:r>
              <a:rPr lang="en-IN" sz="2800" dirty="0">
                <a:latin typeface="Times New Roman" panose="02020603050405020304" pitchFamily="18" charset="0"/>
                <a:cs typeface="Times New Roman" panose="02020603050405020304" pitchFamily="18" charset="0"/>
              </a:rPr>
              <a:t>, </a:t>
            </a:r>
            <a:r>
              <a:rPr lang="en-IN" sz="2800" dirty="0" err="1">
                <a:effectLst/>
                <a:latin typeface="Times New Roman" panose="02020603050405020304" pitchFamily="18" charset="0"/>
                <a:cs typeface="Times New Roman" panose="02020603050405020304" pitchFamily="18" charset="0"/>
              </a:rPr>
              <a:t>Yuanting</a:t>
            </a:r>
            <a:r>
              <a:rPr lang="en-IN" sz="2800" dirty="0">
                <a:effectLst/>
                <a:latin typeface="Times New Roman" panose="02020603050405020304" pitchFamily="18" charset="0"/>
                <a:cs typeface="Times New Roman" panose="02020603050405020304" pitchFamily="18" charset="0"/>
              </a:rPr>
              <a:t> Zhang, ‘Uncertainty quantification of the pressure waveform using a Windkessel model’. </a:t>
            </a:r>
            <a:endParaRPr lang="en-IN" sz="2800" dirty="0">
              <a:latin typeface="Times New Roman" panose="02020603050405020304" pitchFamily="18" charset="0"/>
              <a:cs typeface="Times New Roman" panose="02020603050405020304" pitchFamily="18" charset="0"/>
            </a:endParaRPr>
          </a:p>
          <a:p>
            <a:pPr algn="just">
              <a:lnSpc>
                <a:spcPct val="120000"/>
              </a:lnSpc>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Daniel R. Kerner, “Solving Windkessel Models with MLAB”.  </a:t>
            </a:r>
          </a:p>
          <a:p>
            <a:pPr algn="just">
              <a:lnSpc>
                <a:spcPct val="120000"/>
              </a:lnSpc>
            </a:pPr>
            <a:r>
              <a:rPr lang="en-US" dirty="0">
                <a:latin typeface="Times New Roman" panose="02020603050405020304" pitchFamily="18" charset="0"/>
                <a:cs typeface="Times New Roman" panose="02020603050405020304" pitchFamily="18" charset="0"/>
              </a:rPr>
              <a:t>S. Sankaran, M. </a:t>
            </a:r>
            <a:r>
              <a:rPr lang="en-US" dirty="0" err="1">
                <a:latin typeface="Times New Roman" panose="02020603050405020304" pitchFamily="18" charset="0"/>
                <a:cs typeface="Times New Roman" panose="02020603050405020304" pitchFamily="18" charset="0"/>
              </a:rPr>
              <a:t>Esmaily</a:t>
            </a:r>
            <a:r>
              <a:rPr lang="en-US" dirty="0">
                <a:latin typeface="Times New Roman" panose="02020603050405020304" pitchFamily="18" charset="0"/>
                <a:cs typeface="Times New Roman" panose="02020603050405020304" pitchFamily="18" charset="0"/>
              </a:rPr>
              <a:t> Moghadam, A.M. Kahn, J. Guccione, E. Tseng and A.L. Marsden, Patient-specific multiscale modeling of blood flow for coronary artery bypass graft surgery. </a:t>
            </a:r>
          </a:p>
          <a:p>
            <a:pPr algn="just">
              <a:lnSpc>
                <a:spcPct val="120000"/>
              </a:lnSpc>
            </a:pPr>
            <a:r>
              <a:rPr lang="en-US" dirty="0">
                <a:latin typeface="Times New Roman" panose="02020603050405020304" pitchFamily="18" charset="0"/>
                <a:cs typeface="Times New Roman" panose="02020603050405020304" pitchFamily="18" charset="0"/>
              </a:rPr>
              <a:t>Y. Zhou, G.S. Kassab, and S. </a:t>
            </a:r>
            <a:r>
              <a:rPr lang="en-US" dirty="0" err="1">
                <a:latin typeface="Times New Roman" panose="02020603050405020304" pitchFamily="18" charset="0"/>
                <a:cs typeface="Times New Roman" panose="02020603050405020304" pitchFamily="18" charset="0"/>
              </a:rPr>
              <a:t>Molloi</a:t>
            </a:r>
            <a:r>
              <a:rPr lang="en-US" dirty="0">
                <a:latin typeface="Times New Roman" panose="02020603050405020304" pitchFamily="18" charset="0"/>
                <a:cs typeface="Times New Roman" panose="02020603050405020304" pitchFamily="18" charset="0"/>
              </a:rPr>
              <a:t>. On the design of the coronary arterial tree: a generalization of Murray’s law. </a:t>
            </a:r>
          </a:p>
          <a:p>
            <a:pPr algn="just">
              <a:lnSpc>
                <a:spcPct val="120000"/>
              </a:lnSpc>
            </a:pPr>
            <a:r>
              <a:rPr lang="en-US" dirty="0">
                <a:latin typeface="Times New Roman" panose="02020603050405020304" pitchFamily="18" charset="0"/>
                <a:cs typeface="Times New Roman" panose="02020603050405020304" pitchFamily="18" charset="0"/>
              </a:rPr>
              <a:t>J.S. Tran, D.E. </a:t>
            </a:r>
            <a:r>
              <a:rPr lang="en-US" dirty="0" err="1">
                <a:latin typeface="Times New Roman" panose="02020603050405020304" pitchFamily="18" charset="0"/>
                <a:cs typeface="Times New Roman" panose="02020603050405020304" pitchFamily="18" charset="0"/>
              </a:rPr>
              <a:t>Schiavazzi</a:t>
            </a:r>
            <a:r>
              <a:rPr lang="en-US" dirty="0">
                <a:latin typeface="Times New Roman" panose="02020603050405020304" pitchFamily="18" charset="0"/>
                <a:cs typeface="Times New Roman" panose="02020603050405020304" pitchFamily="18" charset="0"/>
              </a:rPr>
              <a:t>, A.B. Ramachandra, A.M. Kahn, and A.L. Marsden, Automated Tuning for Parameter Identification and Uncertainty Quantification in Multi-scale Coronary Simulations. </a:t>
            </a:r>
          </a:p>
          <a:p>
            <a:pPr algn="just">
              <a:lnSpc>
                <a:spcPct val="120000"/>
              </a:lnSpc>
            </a:pPr>
            <a:r>
              <a:rPr lang="en-US" dirty="0">
                <a:latin typeface="Times New Roman" panose="02020603050405020304" pitchFamily="18" charset="0"/>
                <a:cs typeface="Times New Roman" panose="02020603050405020304" pitchFamily="18" charset="0"/>
              </a:rPr>
              <a:t>Kim HJ, Vignon-</a:t>
            </a:r>
            <a:r>
              <a:rPr lang="en-US" dirty="0" err="1">
                <a:latin typeface="Times New Roman" panose="02020603050405020304" pitchFamily="18" charset="0"/>
                <a:cs typeface="Times New Roman" panose="02020603050405020304" pitchFamily="18" charset="0"/>
              </a:rPr>
              <a:t>Clementel</a:t>
            </a:r>
            <a:r>
              <a:rPr lang="en-US" dirty="0">
                <a:latin typeface="Times New Roman" panose="02020603050405020304" pitchFamily="18" charset="0"/>
                <a:cs typeface="Times New Roman" panose="02020603050405020304" pitchFamily="18" charset="0"/>
              </a:rPr>
              <a:t> IE, Coogan JS, Figueroa CA, Jansen KE, Taylor CA. Patient-specific modeling of blood flow and pressure in human coronary arteries. </a:t>
            </a:r>
          </a:p>
          <a:p>
            <a:pPr algn="just">
              <a:lnSpc>
                <a:spcPct val="120000"/>
              </a:lnSpc>
            </a:pPr>
            <a:r>
              <a:rPr lang="en-US" dirty="0">
                <a:latin typeface="Times New Roman" panose="02020603050405020304" pitchFamily="18" charset="0"/>
                <a:cs typeface="Times New Roman" panose="02020603050405020304" pitchFamily="18" charset="0"/>
              </a:rPr>
              <a:t>Kit Mills Bransby, Vincenzo Tufaro, Murat Cap, Greg Slabaugh, Christos </a:t>
            </a:r>
            <a:r>
              <a:rPr lang="en-US" dirty="0" err="1">
                <a:latin typeface="Times New Roman" panose="02020603050405020304" pitchFamily="18" charset="0"/>
                <a:cs typeface="Times New Roman" panose="02020603050405020304" pitchFamily="18" charset="0"/>
              </a:rPr>
              <a:t>Bourantas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Qianni</a:t>
            </a:r>
            <a:r>
              <a:rPr lang="en-US" dirty="0">
                <a:latin typeface="Times New Roman" panose="02020603050405020304" pitchFamily="18" charset="0"/>
                <a:cs typeface="Times New Roman" panose="02020603050405020304" pitchFamily="18" charset="0"/>
              </a:rPr>
              <a:t> Zhang. 3D Coronary Vessel Reconstruction from Bi-Plane Angiography using Graph Convolutional Networks.</a:t>
            </a:r>
          </a:p>
          <a:p>
            <a:pPr algn="just">
              <a:lnSpc>
                <a:spcPct val="120000"/>
              </a:lnSpc>
            </a:pPr>
            <a:r>
              <a:rPr lang="en-US" dirty="0"/>
              <a:t>Antonuccio MN, Mariotti A, Fanni BM, Capellini K, Capelli C, Sauvage E, Celi S. Effects of Uncertainty of Outlet Boundary Conditions in a Patient-Specific Case of Aortic Coarctation. </a:t>
            </a:r>
          </a:p>
          <a:p>
            <a:pPr algn="just">
              <a:lnSpc>
                <a:spcPct val="120000"/>
              </a:lnSpc>
            </a:pPr>
            <a:r>
              <a:rPr lang="en-US" dirty="0"/>
              <a:t>Zhong L, Zhang JM, Su B, Tan RS, Allen JC, Kassab GS. Application of Patient-Specific Computational Fluid Dynamics in Coronary and Intra-Cardiac Flow Simulations: Challenges and Opportunities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4294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 /></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B7868CD-96E4-4995-A833-26197F9DEC4C}">
  <we:reference id="wa200006038" version="1.0.0.3" store="en-US" storeType="OMEX"/>
  <we:alternateReferences>
    <we:reference id="WA200006038" version="1.0.0.3" store="" storeType="OMEX"/>
  </we:alternateReferences>
  <we:properties>
    <we:property name="pptx_export_from_biorender" value="false"/>
  </we:properties>
  <we:bindings/>
  <we:snapshot xmlns:r="http://schemas.openxmlformats.org/officeDocument/2006/relationships"/>
  <we:extLst>
    <a:ext xmlns:a="http://schemas.openxmlformats.org/drawingml/2006/main" uri="{0858819E-0033-43BF-8937-05EC82904868}">
      <we:backgroundApp state="1" runtimeId="Taskpane.Url"/>
    </a:ext>
  </we:extLst>
</we:webextension>
</file>

<file path=docProps/app.xml><?xml version="1.0" encoding="utf-8"?>
<Properties xmlns="http://schemas.openxmlformats.org/officeDocument/2006/extended-properties" xmlns:vt="http://schemas.openxmlformats.org/officeDocument/2006/docPropsVTypes">
  <Template/>
  <TotalTime>6459</TotalTime>
  <Words>2522</Words>
  <Application>Microsoft Office PowerPoint</Application>
  <PresentationFormat>Widescreen</PresentationFormat>
  <Paragraphs>370</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Evaluating the Effect of Uncertainty in Pressure Boundary Condition on Patient-Specific Modeling of Coronary Hemodynamics </vt:lpstr>
      <vt:lpstr>WORK FLOW :</vt:lpstr>
      <vt:lpstr>3-Dimensional Coronary Arterial Tree Model</vt:lpstr>
      <vt:lpstr>1. Continuity Equation (Mass Conservation)</vt:lpstr>
      <vt:lpstr>PowerPoint Presentation</vt:lpstr>
      <vt:lpstr>PowerPoint Presentation</vt:lpstr>
      <vt:lpstr>Results and Analysis</vt:lpstr>
      <vt:lpstr>0-Dimensional Windkessel Models behaviour estimated using MATLAB</vt:lpstr>
      <vt:lpstr>PowerPoint Presentation</vt:lpstr>
      <vt:lpstr>PowerPoint Presentation</vt:lpstr>
      <vt:lpstr>PowerPoint Presentation</vt:lpstr>
      <vt:lpstr>PowerPoint Presentation</vt:lpstr>
      <vt:lpstr>PowerPoint Presentation</vt:lpstr>
      <vt:lpstr>Parameter Sensitivity Analysis:</vt:lpstr>
      <vt:lpstr>Parameter Sensitivity by changing the values of R1 with certain percentage (keeping R2,C constant):</vt:lpstr>
      <vt:lpstr>Pressure Difference Bar Plot:</vt:lpstr>
      <vt:lpstr>Parameter Sensitivity by changing the values of R2 with certain percentage (keeping R1,C constant):</vt:lpstr>
      <vt:lpstr>Pressure Difference Bar Plot for R2 variation:</vt:lpstr>
      <vt:lpstr>Parameter Sensitivity by changing the values of C with certain percentage (keeping R1,R2 constant):</vt:lpstr>
      <vt:lpstr>Pressure Difference Bar Plot for C variation:</vt:lpstr>
      <vt:lpstr>PowerPoint Presentation</vt:lpstr>
      <vt:lpstr>PowerPoint Presentation</vt:lpstr>
      <vt:lpstr>PowerPoint Presentation</vt:lpstr>
      <vt:lpstr>PowerPoint Presentation</vt:lpstr>
      <vt:lpstr>Pressure Plots with normal Inflow file:</vt:lpstr>
      <vt:lpstr>PowerPoint Presentation</vt:lpstr>
      <vt:lpstr>PowerPoint Presentation</vt:lpstr>
      <vt:lpstr>Pressure Plotted by increasing the values in the Inflow file by “5%”:</vt:lpstr>
      <vt:lpstr>PowerPoint Presentation</vt:lpstr>
      <vt:lpstr>PowerPoint Presentation</vt:lpstr>
      <vt:lpstr>Pressure Comparison of 0-Dimensinal and 3-Dimnesional Windkessel Model in Coronary Hemodynamics</vt:lpstr>
      <vt:lpstr>Conclusion and Future Works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the Effect of Uncertainty in Pressure Boundary Condition on Patient-Specific Modeling of Coronary Hemodynamics </dc:title>
  <dc:creator>Sukant Sutar</dc:creator>
  <cp:lastModifiedBy>Guest User</cp:lastModifiedBy>
  <cp:revision>47</cp:revision>
  <dcterms:created xsi:type="dcterms:W3CDTF">2025-02-24T11:05:06Z</dcterms:created>
  <dcterms:modified xsi:type="dcterms:W3CDTF">2025-07-27T03:30:53Z</dcterms:modified>
</cp:coreProperties>
</file>